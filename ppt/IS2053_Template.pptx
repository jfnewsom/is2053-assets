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76" r:id="rId6"/>
    <p:sldId id="273" r:id="rId7"/>
    <p:sldId id="274" r:id="rId8"/>
    <p:sldId id="265" r:id="rId9"/>
    <p:sldId id="261" r:id="rId10"/>
    <p:sldId id="260" r:id="rId11"/>
    <p:sldId id="278" r:id="rId12"/>
    <p:sldId id="275" r:id="rId13"/>
    <p:sldId id="262" r:id="rId14"/>
    <p:sldId id="263" r:id="rId15"/>
    <p:sldId id="264" r:id="rId16"/>
    <p:sldId id="277" r:id="rId17"/>
    <p:sldId id="266" r:id="rId18"/>
    <p:sldId id="267" r:id="rId19"/>
    <p:sldId id="268" r:id="rId20"/>
    <p:sldId id="269" r:id="rId21"/>
    <p:sldId id="270" r:id="rId22"/>
    <p:sldId id="271" r:id="rId23"/>
    <p:sldId id="272" r:id="rId24"/>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52" userDrawn="1">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C61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009"/>
    <p:restoredTop sz="94658"/>
  </p:normalViewPr>
  <p:slideViewPr>
    <p:cSldViewPr snapToGrid="0" snapToObjects="1">
      <p:cViewPr varScale="1">
        <p:scale>
          <a:sx n="96" d="100"/>
          <a:sy n="96" d="100"/>
        </p:scale>
        <p:origin x="184" y="592"/>
      </p:cViewPr>
      <p:guideLst>
        <p:guide orient="horz" pos="552"/>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b="1" i="0">
                <a:solidFill>
                  <a:schemeClr val="tx1">
                    <a:tint val="75000"/>
                  </a:schemeClr>
                </a:solidFill>
                <a:latin typeface="Roboto Slab" pitchFamily="2" charset="0"/>
              </a:defRPr>
            </a:lvl1pPr>
          </a:lstStyle>
          <a:p>
            <a:fld id="{5BCAD085-E8A6-8845-BD4E-CB4CCA059FC4}" type="datetimeFigureOut">
              <a:rPr lang="en-US" smtClean="0"/>
              <a:pPr/>
              <a:t>4/9/26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b="1" i="0">
                <a:solidFill>
                  <a:schemeClr val="tx1">
                    <a:tint val="75000"/>
                  </a:schemeClr>
                </a:solidFill>
                <a:latin typeface="Roboto Slab" pitchFamily="2" charset="0"/>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b="1" i="0">
                <a:solidFill>
                  <a:schemeClr val="tx1">
                    <a:tint val="75000"/>
                  </a:schemeClr>
                </a:solidFill>
                <a:latin typeface="Roboto Slab" pitchFamily="2"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b="1" i="0" kern="1200">
          <a:solidFill>
            <a:schemeClr val="tx1"/>
          </a:solidFill>
          <a:latin typeface="Roboto Slab" pitchFamily="2" charset="0"/>
          <a:ea typeface="+mj-ea"/>
          <a:cs typeface="+mj-cs"/>
        </a:defRPr>
      </a:lvl1pPr>
    </p:titleStyle>
    <p:bodyStyle>
      <a:lvl1pPr marL="342900" indent="-342900" algn="l" defTabSz="457200" rtl="0" eaLnBrk="1" latinLnBrk="0" hangingPunct="1">
        <a:spcBef>
          <a:spcPct val="20000"/>
        </a:spcBef>
        <a:buFont typeface="Arial"/>
        <a:buChar char="•"/>
        <a:defRPr sz="3200" b="1" i="0" kern="1200">
          <a:solidFill>
            <a:schemeClr val="tx1"/>
          </a:solidFill>
          <a:latin typeface="Roboto Slab" pitchFamily="2" charset="0"/>
          <a:ea typeface="+mn-ea"/>
          <a:cs typeface="+mn-cs"/>
        </a:defRPr>
      </a:lvl1pPr>
      <a:lvl2pPr marL="742950" indent="-285750" algn="l" defTabSz="457200" rtl="0" eaLnBrk="1" latinLnBrk="0" hangingPunct="1">
        <a:spcBef>
          <a:spcPct val="20000"/>
        </a:spcBef>
        <a:buFont typeface="Arial"/>
        <a:buChar char="–"/>
        <a:defRPr sz="2800" b="1" i="0" kern="1200">
          <a:solidFill>
            <a:schemeClr val="tx1"/>
          </a:solidFill>
          <a:latin typeface="Roboto Slab" pitchFamily="2" charset="0"/>
          <a:ea typeface="+mn-ea"/>
          <a:cs typeface="+mn-cs"/>
        </a:defRPr>
      </a:lvl2pPr>
      <a:lvl3pPr marL="1143000" indent="-228600" algn="l" defTabSz="457200" rtl="0" eaLnBrk="1" latinLnBrk="0" hangingPunct="1">
        <a:spcBef>
          <a:spcPct val="20000"/>
        </a:spcBef>
        <a:buFont typeface="Arial"/>
        <a:buChar char="•"/>
        <a:defRPr sz="2400" b="1" i="0" kern="1200">
          <a:solidFill>
            <a:schemeClr val="tx1"/>
          </a:solidFill>
          <a:latin typeface="Roboto Slab" pitchFamily="2" charset="0"/>
          <a:ea typeface="+mn-ea"/>
          <a:cs typeface="+mn-cs"/>
        </a:defRPr>
      </a:lvl3pPr>
      <a:lvl4pPr marL="1600200" indent="-228600" algn="l" defTabSz="457200" rtl="0" eaLnBrk="1" latinLnBrk="0" hangingPunct="1">
        <a:spcBef>
          <a:spcPct val="20000"/>
        </a:spcBef>
        <a:buFont typeface="Arial"/>
        <a:buChar char="–"/>
        <a:defRPr sz="2000" b="1" i="0" kern="1200">
          <a:solidFill>
            <a:schemeClr val="tx1"/>
          </a:solidFill>
          <a:latin typeface="Roboto Slab" pitchFamily="2" charset="0"/>
          <a:ea typeface="+mn-ea"/>
          <a:cs typeface="+mn-cs"/>
        </a:defRPr>
      </a:lvl4pPr>
      <a:lvl5pPr marL="2057400" indent="-228600" algn="l" defTabSz="457200" rtl="0" eaLnBrk="1" latinLnBrk="0" hangingPunct="1">
        <a:spcBef>
          <a:spcPct val="20000"/>
        </a:spcBef>
        <a:buFont typeface="Arial"/>
        <a:buChar char="»"/>
        <a:defRPr sz="2000" b="1" i="0" kern="1200">
          <a:solidFill>
            <a:schemeClr val="tx1"/>
          </a:solidFill>
          <a:latin typeface="Roboto Slab" pitchFamily="2"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8.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9.jp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83920" y="378495"/>
            <a:ext cx="11640439" cy="59436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p:cNvPicPr>
            <a:picLocks noChangeAspect="1"/>
          </p:cNvPicPr>
          <p:nvPr/>
        </p:nvPicPr>
        <p:blipFill>
          <a:blip r:embed="rId2"/>
          <a:srcRect t="12216" r="778" b="11433"/>
          <a:stretch>
            <a:fillRect/>
          </a:stretch>
        </p:blipFill>
        <p:spPr>
          <a:xfrm>
            <a:off x="383921" y="378495"/>
            <a:ext cx="11549578" cy="5813964"/>
          </a:xfrm>
          <a:prstGeom prst="rect">
            <a:avLst/>
          </a:prstGeom>
          <a:ln w="50800">
            <a:solidFill>
              <a:srgbClr val="000000"/>
            </a:solidFill>
          </a:ln>
        </p:spPr>
      </p:pic>
      <p:sp>
        <p:nvSpPr>
          <p:cNvPr id="5" name="TextBox 4"/>
          <p:cNvSpPr txBox="1"/>
          <p:nvPr/>
        </p:nvSpPr>
        <p:spPr>
          <a:xfrm>
            <a:off x="530352" y="506511"/>
            <a:ext cx="7772400"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DEEP IN THE HEART: A LONE STAR JOURNEY</a:t>
            </a:r>
          </a:p>
        </p:txBody>
      </p:sp>
      <p:sp>
        <p:nvSpPr>
          <p:cNvPr id="6" name="Rectangle 5"/>
          <p:cNvSpPr/>
          <p:nvPr/>
        </p:nvSpPr>
        <p:spPr>
          <a:xfrm>
            <a:off x="530352" y="709801"/>
            <a:ext cx="7132320" cy="36576"/>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7" name="TextBox 6"/>
          <p:cNvSpPr txBox="1"/>
          <p:nvPr/>
        </p:nvSpPr>
        <p:spPr>
          <a:xfrm>
            <a:off x="530351" y="981999"/>
            <a:ext cx="9153543" cy="800219"/>
          </a:xfrm>
          <a:prstGeom prst="rect">
            <a:avLst/>
          </a:prstGeom>
          <a:noFill/>
          <a:effectLst>
            <a:outerShdw blurRad="63500" dist="63500" dir="2700000" algn="tl" rotWithShape="0">
              <a:prstClr val="black">
                <a:alpha val="40000"/>
              </a:prstClr>
            </a:outerShdw>
          </a:effectLst>
        </p:spPr>
        <p:txBody>
          <a:bodyPr wrap="square" lIns="0" tIns="0" rIns="0" bIns="0">
            <a:spAutoFit/>
          </a:bodyPr>
          <a:lstStyle/>
          <a:p>
            <a:pPr algn="l"/>
            <a:r>
              <a:rPr sz="5200" b="1" dirty="0">
                <a:solidFill>
                  <a:srgbClr val="F5F5F5"/>
                </a:solidFill>
                <a:latin typeface="Roboto Slab" pitchFamily="2" charset="0"/>
                <a:ea typeface="Roboto Slab" pitchFamily="2" charset="0"/>
              </a:rPr>
              <a:t>Slide Deck Title Goes Here</a:t>
            </a:r>
          </a:p>
        </p:txBody>
      </p:sp>
      <p:sp>
        <p:nvSpPr>
          <p:cNvPr id="8" name="Rectangle 7"/>
          <p:cNvSpPr/>
          <p:nvPr/>
        </p:nvSpPr>
        <p:spPr>
          <a:xfrm>
            <a:off x="639953" y="4111246"/>
            <a:ext cx="10908792" cy="964537"/>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9" name="TextBox 8"/>
          <p:cNvSpPr txBox="1"/>
          <p:nvPr/>
        </p:nvSpPr>
        <p:spPr>
          <a:xfrm>
            <a:off x="914400" y="4218975"/>
            <a:ext cx="10424160" cy="276999"/>
          </a:xfrm>
          <a:prstGeom prst="rect">
            <a:avLst/>
          </a:prstGeom>
          <a:noFill/>
        </p:spPr>
        <p:txBody>
          <a:bodyPr wrap="square" lIns="0" tIns="0" rIns="0" bIns="0">
            <a:spAutoFit/>
          </a:bodyPr>
          <a:lstStyle/>
          <a:p>
            <a:pPr algn="l"/>
            <a:r>
              <a:rPr sz="1800" b="1" dirty="0">
                <a:solidFill>
                  <a:srgbClr val="B0B8C4"/>
                </a:solidFill>
                <a:latin typeface="Roboto Black" panose="02000000000000000000" pitchFamily="2" charset="0"/>
                <a:ea typeface="Roboto Black" panose="02000000000000000000" pitchFamily="2" charset="0"/>
              </a:rPr>
              <a:t>IS2053 Programming I  •  Module N  •  Unit N</a:t>
            </a:r>
          </a:p>
        </p:txBody>
      </p:sp>
      <p:sp>
        <p:nvSpPr>
          <p:cNvPr id="10" name="TextBox 9"/>
          <p:cNvSpPr txBox="1"/>
          <p:nvPr/>
        </p:nvSpPr>
        <p:spPr>
          <a:xfrm>
            <a:off x="914400" y="4603703"/>
            <a:ext cx="10058400" cy="274320"/>
          </a:xfrm>
          <a:prstGeom prst="rect">
            <a:avLst/>
          </a:prstGeom>
          <a:noFill/>
        </p:spPr>
        <p:txBody>
          <a:bodyPr wrap="square" lIns="0" tIns="0" rIns="0" bIns="0">
            <a:spAutoFit/>
          </a:bodyPr>
          <a:lstStyle/>
          <a:p>
            <a:pPr algn="l"/>
            <a:r>
              <a:rPr sz="1300" b="1" dirty="0">
                <a:solidFill>
                  <a:srgbClr val="FFCC00"/>
                </a:solidFill>
                <a:latin typeface="Roboto Slab" pitchFamily="2" charset="0"/>
              </a:rPr>
              <a:t>BAT CITY COLLECTIVE  •  Spring 2026</a:t>
            </a:r>
          </a:p>
        </p:txBody>
      </p:sp>
      <p:pic>
        <p:nvPicPr>
          <p:cNvPr id="12" name="Picture 11">
            <a:extLst>
              <a:ext uri="{FF2B5EF4-FFF2-40B4-BE49-F238E27FC236}">
                <a16:creationId xmlns:a16="http://schemas.microsoft.com/office/drawing/2014/main" id="{EC005841-16F1-A9E5-59D8-5D76F100D800}"/>
              </a:ext>
            </a:extLst>
          </p:cNvPr>
          <p:cNvPicPr>
            <a:picLocks noChangeAspect="1"/>
          </p:cNvPicPr>
          <p:nvPr/>
        </p:nvPicPr>
        <p:blipFill>
          <a:blip r:embed="rId3"/>
          <a:stretch>
            <a:fillRect/>
          </a:stretch>
        </p:blipFill>
        <p:spPr>
          <a:xfrm>
            <a:off x="9811911" y="378495"/>
            <a:ext cx="1992993" cy="1300447"/>
          </a:xfrm>
          <a:prstGeom prst="rect">
            <a:avLst/>
          </a:prstGeom>
        </p:spPr>
      </p:pic>
      <p:pic>
        <p:nvPicPr>
          <p:cNvPr id="13" name="Picture 12">
            <a:extLst>
              <a:ext uri="{FF2B5EF4-FFF2-40B4-BE49-F238E27FC236}">
                <a16:creationId xmlns:a16="http://schemas.microsoft.com/office/drawing/2014/main" id="{9AC90D84-D9C7-873F-D86D-91196EE8B54D}"/>
              </a:ext>
            </a:extLst>
          </p:cNvPr>
          <p:cNvPicPr>
            <a:picLocks noChangeAspect="1"/>
          </p:cNvPicPr>
          <p:nvPr/>
        </p:nvPicPr>
        <p:blipFill>
          <a:blip r:embed="rId4"/>
          <a:srcRect/>
          <a:stretch/>
        </p:blipFill>
        <p:spPr>
          <a:xfrm>
            <a:off x="4725900" y="6473952"/>
            <a:ext cx="2526839"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Slide Title — Concept</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KEY POINTS</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12" name="Picture 11">
            <a:extLst>
              <a:ext uri="{FF2B5EF4-FFF2-40B4-BE49-F238E27FC236}">
                <a16:creationId xmlns:a16="http://schemas.microsoft.com/office/drawing/2014/main" id="{45254B01-6B57-849D-3451-BCFBA47682B5}"/>
              </a:ext>
            </a:extLst>
          </p:cNvPr>
          <p:cNvPicPr>
            <a:picLocks noChangeAspect="1"/>
          </p:cNvPicPr>
          <p:nvPr/>
        </p:nvPicPr>
        <p:blipFill>
          <a:blip r:embed="rId3"/>
          <a:srcRect/>
          <a:stretch/>
        </p:blipFill>
        <p:spPr>
          <a:xfrm>
            <a:off x="4725900" y="6473952"/>
            <a:ext cx="2526839" cy="365760"/>
          </a:xfrm>
          <a:prstGeom prst="rect">
            <a:avLst/>
          </a:prstGeom>
        </p:spPr>
      </p:pic>
      <p:pic>
        <p:nvPicPr>
          <p:cNvPr id="13" name="Picture 12">
            <a:extLst>
              <a:ext uri="{FF2B5EF4-FFF2-40B4-BE49-F238E27FC236}">
                <a16:creationId xmlns:a16="http://schemas.microsoft.com/office/drawing/2014/main" id="{C4EF4EC8-28CB-467C-C323-737E0C76E502}"/>
              </a:ext>
            </a:extLst>
          </p:cNvPr>
          <p:cNvPicPr>
            <a:picLocks noChangeAspect="1"/>
          </p:cNvPicPr>
          <p:nvPr/>
        </p:nvPicPr>
        <p:blipFill>
          <a:blip r:embed="rId4"/>
          <a:stretch>
            <a:fillRect/>
          </a:stretch>
        </p:blipFill>
        <p:spPr>
          <a:xfrm>
            <a:off x="9811911" y="274320"/>
            <a:ext cx="1992993" cy="1300447"/>
          </a:xfrm>
          <a:prstGeom prst="rect">
            <a:avLst/>
          </a:prstGeom>
        </p:spPr>
      </p:pic>
      <p:sp>
        <p:nvSpPr>
          <p:cNvPr id="4" name="TextBox 3">
            <a:extLst>
              <a:ext uri="{FF2B5EF4-FFF2-40B4-BE49-F238E27FC236}">
                <a16:creationId xmlns:a16="http://schemas.microsoft.com/office/drawing/2014/main" id="{EFE944EC-3E89-2F17-C19C-8CCF10D62407}"/>
              </a:ext>
            </a:extLst>
          </p:cNvPr>
          <p:cNvSpPr txBox="1"/>
          <p:nvPr/>
        </p:nvSpPr>
        <p:spPr>
          <a:xfrm>
            <a:off x="640080" y="2249424"/>
            <a:ext cx="10908792" cy="2227890"/>
          </a:xfrm>
          <a:prstGeom prst="rect">
            <a:avLst/>
          </a:prstGeom>
          <a:noFill/>
        </p:spPr>
        <p:txBody>
          <a:bodyPr wrap="square" lIns="36576" tIns="10972" rIns="36576" bIns="10972">
            <a:spAutoFit/>
          </a:bodyPr>
          <a:lstStyle/>
          <a:p>
            <a:pPr algn="l">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First key point about the concept being introduced</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Second point — what this replaces or improves</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Third point — connect to the Deep in the Heart game</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Fourth point — Think About This: a question for the student</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Fifth point — the takeaway before the demo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Demo: Topic Name</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CODE DEMO</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Rectangle 9"/>
          <p:cNvSpPr/>
          <p:nvPr/>
        </p:nvSpPr>
        <p:spPr>
          <a:xfrm>
            <a:off x="640080" y="2249424"/>
            <a:ext cx="10908792" cy="3675888"/>
          </a:xfrm>
          <a:prstGeom prst="rect">
            <a:avLst/>
          </a:prstGeom>
          <a:solidFill>
            <a:srgbClr val="121212"/>
          </a:solidFill>
          <a:ln w="25400">
            <a:solidFill>
              <a:srgbClr val="39FF1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1" name="TextBox 10"/>
          <p:cNvSpPr txBox="1"/>
          <p:nvPr/>
        </p:nvSpPr>
        <p:spPr>
          <a:xfrm>
            <a:off x="1097280" y="3858768"/>
            <a:ext cx="9994392" cy="329935"/>
          </a:xfrm>
          <a:prstGeom prst="rect">
            <a:avLst/>
          </a:prstGeom>
          <a:noFill/>
        </p:spPr>
        <p:txBody>
          <a:bodyPr wrap="square" lIns="36576" tIns="10972" rIns="36576" bIns="10972">
            <a:spAutoFit/>
          </a:bodyPr>
          <a:lstStyle/>
          <a:p>
            <a:pPr algn="ctr"/>
            <a:r>
              <a:rPr sz="2000" dirty="0">
                <a:solidFill>
                  <a:srgbClr val="39FF14"/>
                </a:solidFill>
                <a:latin typeface="Roboto Mono Medium" pitchFamily="2" charset="0"/>
              </a:rPr>
              <a:t>[ PNG GOES HERE ]</a:t>
            </a:r>
          </a:p>
        </p:txBody>
      </p:sp>
      <p:sp>
        <p:nvSpPr>
          <p:cNvPr id="12" name="TextBox 11"/>
          <p:cNvSpPr txBox="1"/>
          <p:nvPr/>
        </p:nvSpPr>
        <p:spPr>
          <a:xfrm>
            <a:off x="1097280" y="4334256"/>
            <a:ext cx="9994392" cy="191435"/>
          </a:xfrm>
          <a:prstGeom prst="rect">
            <a:avLst/>
          </a:prstGeom>
          <a:noFill/>
        </p:spPr>
        <p:txBody>
          <a:bodyPr wrap="square" lIns="36576" tIns="10972" rIns="36576" bIns="10972">
            <a:spAutoFit/>
          </a:bodyPr>
          <a:lstStyle/>
          <a:p>
            <a:pPr algn="ctr"/>
            <a:r>
              <a:rPr sz="1100" b="1" dirty="0">
                <a:solidFill>
                  <a:srgbClr val="B0B8C4"/>
                </a:solidFill>
                <a:latin typeface="Roboto Slab" pitchFamily="2" charset="0"/>
              </a:rPr>
              <a:t>Place rendered PNG at:  x=0.90"  y=1.90"  w=11.53"  h=4.80"</a:t>
            </a:r>
          </a:p>
        </p:txBody>
      </p:sp>
      <p:pic>
        <p:nvPicPr>
          <p:cNvPr id="14" name="Picture 13">
            <a:extLst>
              <a:ext uri="{FF2B5EF4-FFF2-40B4-BE49-F238E27FC236}">
                <a16:creationId xmlns:a16="http://schemas.microsoft.com/office/drawing/2014/main" id="{9670A968-C5D6-5910-7167-DF926B73632B}"/>
              </a:ext>
            </a:extLst>
          </p:cNvPr>
          <p:cNvPicPr>
            <a:picLocks noChangeAspect="1"/>
          </p:cNvPicPr>
          <p:nvPr/>
        </p:nvPicPr>
        <p:blipFill>
          <a:blip r:embed="rId3"/>
          <a:srcRect/>
          <a:stretch/>
        </p:blipFill>
        <p:spPr>
          <a:xfrm>
            <a:off x="4725900" y="6473952"/>
            <a:ext cx="2526839" cy="365760"/>
          </a:xfrm>
          <a:prstGeom prst="rect">
            <a:avLst/>
          </a:prstGeom>
        </p:spPr>
      </p:pic>
      <p:pic>
        <p:nvPicPr>
          <p:cNvPr id="15" name="Picture 14">
            <a:extLst>
              <a:ext uri="{FF2B5EF4-FFF2-40B4-BE49-F238E27FC236}">
                <a16:creationId xmlns:a16="http://schemas.microsoft.com/office/drawing/2014/main" id="{2CFF1134-9542-5438-2B18-ADE400B38F97}"/>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Output: Topic Name</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EXPECTED OUTPUT</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Rectangle 9"/>
          <p:cNvSpPr/>
          <p:nvPr/>
        </p:nvSpPr>
        <p:spPr>
          <a:xfrm>
            <a:off x="640080" y="2249424"/>
            <a:ext cx="10908792" cy="3675888"/>
          </a:xfrm>
          <a:prstGeom prst="rect">
            <a:avLst/>
          </a:prstGeom>
          <a:solidFill>
            <a:srgbClr val="121212"/>
          </a:solidFill>
          <a:ln w="25400">
            <a:solidFill>
              <a:srgbClr val="FF6B1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1" name="TextBox 10"/>
          <p:cNvSpPr txBox="1"/>
          <p:nvPr/>
        </p:nvSpPr>
        <p:spPr>
          <a:xfrm>
            <a:off x="1097280" y="3858768"/>
            <a:ext cx="9994392" cy="329935"/>
          </a:xfrm>
          <a:prstGeom prst="rect">
            <a:avLst/>
          </a:prstGeom>
          <a:noFill/>
        </p:spPr>
        <p:txBody>
          <a:bodyPr wrap="square" lIns="36576" tIns="10972" rIns="36576" bIns="10972">
            <a:spAutoFit/>
          </a:bodyPr>
          <a:lstStyle/>
          <a:p>
            <a:pPr algn="ctr"/>
            <a:r>
              <a:rPr sz="2000" dirty="0">
                <a:solidFill>
                  <a:srgbClr val="FF6B1A"/>
                </a:solidFill>
                <a:latin typeface="Roboto Mono Medium" pitchFamily="2" charset="0"/>
              </a:rPr>
              <a:t>[ PNG GOES HERE ]</a:t>
            </a:r>
          </a:p>
        </p:txBody>
      </p:sp>
      <p:sp>
        <p:nvSpPr>
          <p:cNvPr id="12" name="TextBox 11"/>
          <p:cNvSpPr txBox="1"/>
          <p:nvPr/>
        </p:nvSpPr>
        <p:spPr>
          <a:xfrm>
            <a:off x="1097280" y="4334256"/>
            <a:ext cx="9994392" cy="191435"/>
          </a:xfrm>
          <a:prstGeom prst="rect">
            <a:avLst/>
          </a:prstGeom>
          <a:noFill/>
        </p:spPr>
        <p:txBody>
          <a:bodyPr wrap="square" lIns="36576" tIns="10972" rIns="36576" bIns="10972">
            <a:spAutoFit/>
          </a:bodyPr>
          <a:lstStyle/>
          <a:p>
            <a:pPr algn="ctr"/>
            <a:r>
              <a:rPr sz="1100" b="1" dirty="0">
                <a:solidFill>
                  <a:srgbClr val="B0B8C4"/>
                </a:solidFill>
                <a:latin typeface="Roboto Slab" pitchFamily="2" charset="0"/>
              </a:rPr>
              <a:t>Place rendered PNG at:  x=0.90"  y=1.90"  w=11.53"  h=4.80"</a:t>
            </a:r>
          </a:p>
        </p:txBody>
      </p:sp>
      <p:pic>
        <p:nvPicPr>
          <p:cNvPr id="14" name="Picture 13">
            <a:extLst>
              <a:ext uri="{FF2B5EF4-FFF2-40B4-BE49-F238E27FC236}">
                <a16:creationId xmlns:a16="http://schemas.microsoft.com/office/drawing/2014/main" id="{F473475B-C8D7-2F5F-C831-2AB6D42FCA05}"/>
              </a:ext>
            </a:extLst>
          </p:cNvPr>
          <p:cNvPicPr>
            <a:picLocks noChangeAspect="1"/>
          </p:cNvPicPr>
          <p:nvPr/>
        </p:nvPicPr>
        <p:blipFill>
          <a:blip r:embed="rId3"/>
          <a:srcRect/>
          <a:stretch/>
        </p:blipFill>
        <p:spPr>
          <a:xfrm>
            <a:off x="4725900" y="6473952"/>
            <a:ext cx="2526839" cy="365760"/>
          </a:xfrm>
          <a:prstGeom prst="rect">
            <a:avLst/>
          </a:prstGeom>
        </p:spPr>
      </p:pic>
      <p:pic>
        <p:nvPicPr>
          <p:cNvPr id="15" name="Picture 14">
            <a:extLst>
              <a:ext uri="{FF2B5EF4-FFF2-40B4-BE49-F238E27FC236}">
                <a16:creationId xmlns:a16="http://schemas.microsoft.com/office/drawing/2014/main" id="{A5B164E8-1435-5D33-05D1-B0549B3350D4}"/>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CB9F5E2-03DC-5B65-A0BD-328EBEBFDCC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EA56F41-9391-8C2D-D49C-44B91AA8E6E5}"/>
              </a:ext>
            </a:extLst>
          </p:cNvPr>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a:extLst>
              <a:ext uri="{FF2B5EF4-FFF2-40B4-BE49-F238E27FC236}">
                <a16:creationId xmlns:a16="http://schemas.microsoft.com/office/drawing/2014/main" id="{236C6360-2AE2-0434-8CAF-59E62161BF01}"/>
              </a:ext>
            </a:extLst>
          </p:cNvPr>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pic>
        <p:nvPicPr>
          <p:cNvPr id="12" name="Picture 11">
            <a:extLst>
              <a:ext uri="{FF2B5EF4-FFF2-40B4-BE49-F238E27FC236}">
                <a16:creationId xmlns:a16="http://schemas.microsoft.com/office/drawing/2014/main" id="{F98E6AB9-731F-598E-50DB-6F27EC1009EA}"/>
              </a:ext>
            </a:extLst>
          </p:cNvPr>
          <p:cNvPicPr>
            <a:picLocks noChangeAspect="1"/>
          </p:cNvPicPr>
          <p:nvPr/>
        </p:nvPicPr>
        <p:blipFill>
          <a:blip r:embed="rId3"/>
          <a:srcRect/>
          <a:stretch/>
        </p:blipFill>
        <p:spPr>
          <a:xfrm>
            <a:off x="4725900" y="6473952"/>
            <a:ext cx="2526839" cy="365760"/>
          </a:xfrm>
          <a:prstGeom prst="rect">
            <a:avLst/>
          </a:prstGeom>
        </p:spPr>
      </p:pic>
      <p:pic>
        <p:nvPicPr>
          <p:cNvPr id="13" name="Picture 12">
            <a:extLst>
              <a:ext uri="{FF2B5EF4-FFF2-40B4-BE49-F238E27FC236}">
                <a16:creationId xmlns:a16="http://schemas.microsoft.com/office/drawing/2014/main" id="{A6537CB7-93C9-C2B3-1909-FA6037EB4D46}"/>
              </a:ext>
            </a:extLst>
          </p:cNvPr>
          <p:cNvPicPr>
            <a:picLocks noChangeAspect="1"/>
          </p:cNvPicPr>
          <p:nvPr/>
        </p:nvPicPr>
        <p:blipFill>
          <a:blip r:embed="rId4"/>
          <a:stretch>
            <a:fillRect/>
          </a:stretch>
        </p:blipFill>
        <p:spPr>
          <a:xfrm>
            <a:off x="9811911" y="274320"/>
            <a:ext cx="1992993" cy="1300447"/>
          </a:xfrm>
          <a:prstGeom prst="rect">
            <a:avLst/>
          </a:prstGeom>
        </p:spPr>
      </p:pic>
      <p:sp>
        <p:nvSpPr>
          <p:cNvPr id="7" name="TextBox 6">
            <a:extLst>
              <a:ext uri="{FF2B5EF4-FFF2-40B4-BE49-F238E27FC236}">
                <a16:creationId xmlns:a16="http://schemas.microsoft.com/office/drawing/2014/main" id="{103A178F-EFD2-8006-A797-1BEA322816B7}"/>
              </a:ext>
            </a:extLst>
          </p:cNvPr>
          <p:cNvSpPr txBox="1"/>
          <p:nvPr/>
        </p:nvSpPr>
        <p:spPr>
          <a:xfrm>
            <a:off x="1713249" y="411480"/>
            <a:ext cx="7970645" cy="677108"/>
          </a:xfrm>
          <a:prstGeom prst="rect">
            <a:avLst/>
          </a:prstGeom>
          <a:noFill/>
        </p:spPr>
        <p:txBody>
          <a:bodyPr wrap="square" lIns="0" tIns="0" rIns="0" bIns="0">
            <a:spAutoFit/>
          </a:bodyPr>
          <a:lstStyle/>
          <a:p>
            <a:pPr algn="l"/>
            <a:r>
              <a:rPr lang="en-US" sz="4400" b="1" dirty="0">
                <a:solidFill>
                  <a:srgbClr val="F5F5F5"/>
                </a:solidFill>
                <a:latin typeface="Roboto Slab" pitchFamily="2" charset="0"/>
              </a:rPr>
              <a:t>Checkpoint Blue</a:t>
            </a:r>
            <a:endParaRPr sz="4400" b="1" dirty="0">
              <a:solidFill>
                <a:srgbClr val="F5F5F5"/>
              </a:solidFill>
              <a:latin typeface="Roboto Slab" pitchFamily="2" charset="0"/>
            </a:endParaRPr>
          </a:p>
        </p:txBody>
      </p:sp>
      <p:sp>
        <p:nvSpPr>
          <p:cNvPr id="10" name="Rectangle 9">
            <a:extLst>
              <a:ext uri="{FF2B5EF4-FFF2-40B4-BE49-F238E27FC236}">
                <a16:creationId xmlns:a16="http://schemas.microsoft.com/office/drawing/2014/main" id="{C6A8F7E9-5C8F-9547-4A96-0B6124952E04}"/>
              </a:ext>
            </a:extLst>
          </p:cNvPr>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1" name="TextBox 10">
            <a:extLst>
              <a:ext uri="{FF2B5EF4-FFF2-40B4-BE49-F238E27FC236}">
                <a16:creationId xmlns:a16="http://schemas.microsoft.com/office/drawing/2014/main" id="{40811868-7E78-8344-C972-DC465C9B6A4B}"/>
              </a:ext>
            </a:extLst>
          </p:cNvPr>
          <p:cNvSpPr txBox="1"/>
          <p:nvPr/>
        </p:nvSpPr>
        <p:spPr>
          <a:xfrm>
            <a:off x="640080" y="1883664"/>
            <a:ext cx="10908792" cy="184666"/>
          </a:xfrm>
          <a:prstGeom prst="rect">
            <a:avLst/>
          </a:prstGeom>
          <a:noFill/>
        </p:spPr>
        <p:txBody>
          <a:bodyPr wrap="square" lIns="0" tIns="0" rIns="0" bIns="0">
            <a:spAutoFit/>
          </a:bodyPr>
          <a:lstStyle/>
          <a:p>
            <a:pPr algn="l"/>
            <a:r>
              <a:rPr lang="en-US" sz="1200" b="1" dirty="0">
                <a:solidFill>
                  <a:srgbClr val="FFCC00"/>
                </a:solidFill>
                <a:latin typeface="Roboto Slab" pitchFamily="2" charset="0"/>
              </a:rPr>
              <a:t>CHECKPOINT HEADER</a:t>
            </a:r>
            <a:endParaRPr sz="1200" b="1" dirty="0">
              <a:solidFill>
                <a:srgbClr val="FFCC00"/>
              </a:solidFill>
              <a:latin typeface="Roboto Slab" pitchFamily="2" charset="0"/>
            </a:endParaRPr>
          </a:p>
        </p:txBody>
      </p:sp>
      <p:sp>
        <p:nvSpPr>
          <p:cNvPr id="14" name="Rectangle 13">
            <a:extLst>
              <a:ext uri="{FF2B5EF4-FFF2-40B4-BE49-F238E27FC236}">
                <a16:creationId xmlns:a16="http://schemas.microsoft.com/office/drawing/2014/main" id="{33CEFCAB-32BE-1185-6C82-4BFB4909868A}"/>
              </a:ext>
            </a:extLst>
          </p:cNvPr>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grpSp>
        <p:nvGrpSpPr>
          <p:cNvPr id="15" name="Group 14">
            <a:extLst>
              <a:ext uri="{FF2B5EF4-FFF2-40B4-BE49-F238E27FC236}">
                <a16:creationId xmlns:a16="http://schemas.microsoft.com/office/drawing/2014/main" id="{2BBC3278-EAA6-9442-8006-E57FF43B2D60}"/>
              </a:ext>
            </a:extLst>
          </p:cNvPr>
          <p:cNvGrpSpPr/>
          <p:nvPr/>
        </p:nvGrpSpPr>
        <p:grpSpPr>
          <a:xfrm>
            <a:off x="512180" y="340201"/>
            <a:ext cx="1024476" cy="1155825"/>
            <a:chOff x="8042313" y="340201"/>
            <a:chExt cx="1024476" cy="1155825"/>
          </a:xfrm>
        </p:grpSpPr>
        <p:sp>
          <p:nvSpPr>
            <p:cNvPr id="16" name="Rectangle">
              <a:extLst>
                <a:ext uri="{FF2B5EF4-FFF2-40B4-BE49-F238E27FC236}">
                  <a16:creationId xmlns:a16="http://schemas.microsoft.com/office/drawing/2014/main" id="{4481159B-F055-F3D1-B6D1-11A204CE9F81}"/>
                </a:ext>
              </a:extLst>
            </p:cNvPr>
            <p:cNvSpPr/>
            <p:nvPr/>
          </p:nvSpPr>
          <p:spPr>
            <a:xfrm>
              <a:off x="8042313" y="353850"/>
              <a:ext cx="1024476" cy="1142176"/>
            </a:xfrm>
            <a:prstGeom prst="rect">
              <a:avLst/>
            </a:prstGeom>
            <a:solidFill>
              <a:srgbClr val="0B0E16"/>
            </a:solidFill>
            <a:ln w="50800" cap="flat">
              <a:solidFill>
                <a:srgbClr val="0A0E17"/>
              </a:solidFill>
              <a:prstDash val="solid"/>
              <a:miter lim="400000"/>
            </a:ln>
            <a:effectLst>
              <a:outerShdw blurRad="63500" dist="63500" dir="2697698" rotWithShape="0">
                <a:srgbClr val="000000"/>
              </a:outerShdw>
            </a:effectLst>
          </p:spPr>
          <p:txBody>
            <a:bodyPr wrap="square" lIns="50800" tIns="50800" rIns="50800" bIns="50800" numCol="1" anchor="ctr">
              <a:noAutofit/>
            </a:bodyPr>
            <a:lstStyle/>
            <a:p>
              <a:pPr marL="0" marR="0" algn="ctr" defTabSz="825500">
                <a:defRPr sz="5000" spc="-349">
                  <a:ln>
                    <a:noFill/>
                  </a:ln>
                  <a:effectLst/>
                  <a:latin typeface="Roboto Regular Black"/>
                  <a:ea typeface="Roboto Regular Black"/>
                  <a:cs typeface="Roboto Regular Black"/>
                  <a:sym typeface="Roboto Regular Black"/>
                </a:defRPr>
              </a:pPr>
              <a:endParaRPr/>
            </a:p>
          </p:txBody>
        </p:sp>
        <p:sp>
          <p:nvSpPr>
            <p:cNvPr id="17" name="1">
              <a:extLst>
                <a:ext uri="{FF2B5EF4-FFF2-40B4-BE49-F238E27FC236}">
                  <a16:creationId xmlns:a16="http://schemas.microsoft.com/office/drawing/2014/main" id="{39D380EA-848B-EB58-9C3C-2DA4DAF5B35C}"/>
                </a:ext>
              </a:extLst>
            </p:cNvPr>
            <p:cNvSpPr/>
            <p:nvPr/>
          </p:nvSpPr>
          <p:spPr>
            <a:xfrm>
              <a:off x="8054199" y="643063"/>
              <a:ext cx="1000704" cy="840752"/>
            </a:xfrm>
            <a:prstGeom prst="rect">
              <a:avLst/>
            </a:prstGeom>
            <a:solidFill>
              <a:srgbClr val="0B0E16"/>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7500" spc="-524">
                  <a:latin typeface="Roboto Regular Black"/>
                  <a:ea typeface="Roboto Regular Black"/>
                  <a:cs typeface="Roboto Regular Black"/>
                  <a:sym typeface="Roboto Regular Black"/>
                </a:defRPr>
              </a:lvl1pPr>
            </a:lstStyle>
            <a:p>
              <a:pPr>
                <a:defRPr>
                  <a:ln>
                    <a:noFill/>
                  </a:ln>
                  <a:effectLst/>
                </a:defRPr>
              </a:pPr>
              <a:r>
                <a:rPr sz="4800" dirty="0">
                  <a:solidFill>
                    <a:schemeClr val="bg1"/>
                  </a:solidFill>
                </a:rPr>
                <a:t>1</a:t>
              </a:r>
            </a:p>
          </p:txBody>
        </p:sp>
        <p:sp>
          <p:nvSpPr>
            <p:cNvPr id="18" name="CHECKPOINT">
              <a:extLst>
                <a:ext uri="{FF2B5EF4-FFF2-40B4-BE49-F238E27FC236}">
                  <a16:creationId xmlns:a16="http://schemas.microsoft.com/office/drawing/2014/main" id="{99D632EC-6E6B-A99C-C479-FCECAA783899}"/>
                </a:ext>
              </a:extLst>
            </p:cNvPr>
            <p:cNvSpPr/>
            <p:nvPr/>
          </p:nvSpPr>
          <p:spPr>
            <a:xfrm>
              <a:off x="8054199" y="340201"/>
              <a:ext cx="1000704" cy="287819"/>
            </a:xfrm>
            <a:prstGeom prst="rect">
              <a:avLst/>
            </a:prstGeom>
            <a:solidFill>
              <a:srgbClr val="F5C849"/>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1500" spc="134">
                  <a:solidFill>
                    <a:srgbClr val="0A0E17"/>
                  </a:solidFill>
                  <a:latin typeface="Roboto Regular SemiBold"/>
                  <a:ea typeface="Roboto Regular SemiBold"/>
                  <a:cs typeface="Roboto Regular SemiBold"/>
                  <a:sym typeface="Roboto Regular SemiBold"/>
                </a:defRPr>
              </a:lvl1pPr>
            </a:lstStyle>
            <a:p>
              <a:pPr>
                <a:defRPr>
                  <a:ln>
                    <a:noFill/>
                  </a:ln>
                  <a:effectLst/>
                </a:defRPr>
              </a:pPr>
              <a:r>
                <a:rPr sz="900" dirty="0"/>
                <a:t>CHECKPOINT</a:t>
              </a:r>
            </a:p>
          </p:txBody>
        </p:sp>
      </p:grpSp>
      <p:sp>
        <p:nvSpPr>
          <p:cNvPr id="19" name="TextBox 18">
            <a:extLst>
              <a:ext uri="{FF2B5EF4-FFF2-40B4-BE49-F238E27FC236}">
                <a16:creationId xmlns:a16="http://schemas.microsoft.com/office/drawing/2014/main" id="{8DE05739-DA8F-E128-6338-2C69BF62F5A2}"/>
              </a:ext>
            </a:extLst>
          </p:cNvPr>
          <p:cNvSpPr txBox="1"/>
          <p:nvPr/>
        </p:nvSpPr>
        <p:spPr>
          <a:xfrm>
            <a:off x="640080" y="2249424"/>
            <a:ext cx="10908792" cy="2227890"/>
          </a:xfrm>
          <a:prstGeom prst="rect">
            <a:avLst/>
          </a:prstGeom>
          <a:noFill/>
        </p:spPr>
        <p:txBody>
          <a:bodyPr wrap="square" lIns="36576" tIns="10972" rIns="36576" bIns="10972">
            <a:spAutoFit/>
          </a:bodyPr>
          <a:lstStyle/>
          <a:p>
            <a:pPr algn="l">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First key point about the concept being introduced</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Second point — what this replaces or improves</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Third point — connect to the Deep in the Heart game</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Fourth point — Think About This: a question for the student</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Fifth point — the takeaway before the demo</a:t>
            </a:r>
          </a:p>
        </p:txBody>
      </p:sp>
    </p:spTree>
    <p:extLst>
      <p:ext uri="{BB962C8B-B14F-4D97-AF65-F5344CB8AC3E}">
        <p14:creationId xmlns:p14="http://schemas.microsoft.com/office/powerpoint/2010/main" val="29050796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31C0F97-B8D0-AD30-6D26-D1EB6EC8AE9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86E9E415-F618-DB40-7589-BDE9EBC2F784}"/>
              </a:ext>
            </a:extLst>
          </p:cNvPr>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a:extLst>
              <a:ext uri="{FF2B5EF4-FFF2-40B4-BE49-F238E27FC236}">
                <a16:creationId xmlns:a16="http://schemas.microsoft.com/office/drawing/2014/main" id="{74B048C6-0355-CD43-9394-16CF47D4B730}"/>
              </a:ext>
            </a:extLst>
          </p:cNvPr>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a:extLst>
              <a:ext uri="{FF2B5EF4-FFF2-40B4-BE49-F238E27FC236}">
                <a16:creationId xmlns:a16="http://schemas.microsoft.com/office/drawing/2014/main" id="{93248C9C-486F-0C88-C5CC-B4EC4800430D}"/>
              </a:ext>
            </a:extLst>
          </p:cNvPr>
          <p:cNvSpPr txBox="1"/>
          <p:nvPr/>
        </p:nvSpPr>
        <p:spPr>
          <a:xfrm>
            <a:off x="1713249" y="411480"/>
            <a:ext cx="7970645" cy="677108"/>
          </a:xfrm>
          <a:prstGeom prst="rect">
            <a:avLst/>
          </a:prstGeom>
          <a:noFill/>
        </p:spPr>
        <p:txBody>
          <a:bodyPr wrap="square" lIns="0" tIns="0" rIns="0" bIns="0">
            <a:spAutoFit/>
          </a:bodyPr>
          <a:lstStyle/>
          <a:p>
            <a:pPr algn="l"/>
            <a:r>
              <a:rPr lang="en-US" sz="4400" b="1" dirty="0">
                <a:solidFill>
                  <a:srgbClr val="F5F5F5"/>
                </a:solidFill>
                <a:latin typeface="Roboto Slab" pitchFamily="2" charset="0"/>
              </a:rPr>
              <a:t>Checkpoint Green</a:t>
            </a:r>
            <a:endParaRPr sz="4400" b="1" dirty="0">
              <a:solidFill>
                <a:srgbClr val="F5F5F5"/>
              </a:solidFill>
              <a:latin typeface="Roboto Slab" pitchFamily="2" charset="0"/>
            </a:endParaRPr>
          </a:p>
        </p:txBody>
      </p:sp>
      <p:sp>
        <p:nvSpPr>
          <p:cNvPr id="6" name="Rectangle 5">
            <a:extLst>
              <a:ext uri="{FF2B5EF4-FFF2-40B4-BE49-F238E27FC236}">
                <a16:creationId xmlns:a16="http://schemas.microsoft.com/office/drawing/2014/main" id="{8106249F-C625-76B2-F5CC-1DD4020DA7B8}"/>
              </a:ext>
            </a:extLst>
          </p:cNvPr>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a:extLst>
              <a:ext uri="{FF2B5EF4-FFF2-40B4-BE49-F238E27FC236}">
                <a16:creationId xmlns:a16="http://schemas.microsoft.com/office/drawing/2014/main" id="{0A9C8F39-B8F5-0653-386D-4EB1C6BAB526}"/>
              </a:ext>
            </a:extLst>
          </p:cNvPr>
          <p:cNvSpPr txBox="1"/>
          <p:nvPr/>
        </p:nvSpPr>
        <p:spPr>
          <a:xfrm>
            <a:off x="640080" y="1883664"/>
            <a:ext cx="10908792" cy="184666"/>
          </a:xfrm>
          <a:prstGeom prst="rect">
            <a:avLst/>
          </a:prstGeom>
          <a:noFill/>
        </p:spPr>
        <p:txBody>
          <a:bodyPr wrap="square" lIns="0" tIns="0" rIns="0" bIns="0">
            <a:spAutoFit/>
          </a:bodyPr>
          <a:lstStyle/>
          <a:p>
            <a:pPr algn="l"/>
            <a:r>
              <a:rPr lang="en-US" sz="1200" b="1" dirty="0">
                <a:solidFill>
                  <a:srgbClr val="FFCC00"/>
                </a:solidFill>
                <a:latin typeface="Roboto Slab" pitchFamily="2" charset="0"/>
              </a:rPr>
              <a:t>CHECKPOINT HEADER</a:t>
            </a:r>
            <a:endParaRPr sz="1200" b="1" dirty="0">
              <a:solidFill>
                <a:srgbClr val="FFCC00"/>
              </a:solidFill>
              <a:latin typeface="Roboto Slab" pitchFamily="2" charset="0"/>
            </a:endParaRPr>
          </a:p>
        </p:txBody>
      </p:sp>
      <p:sp>
        <p:nvSpPr>
          <p:cNvPr id="9" name="Rectangle 8">
            <a:extLst>
              <a:ext uri="{FF2B5EF4-FFF2-40B4-BE49-F238E27FC236}">
                <a16:creationId xmlns:a16="http://schemas.microsoft.com/office/drawing/2014/main" id="{306C11F8-9C2C-4C66-1D33-24DFFEF69DA6}"/>
              </a:ext>
            </a:extLst>
          </p:cNvPr>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14" name="Picture 13">
            <a:extLst>
              <a:ext uri="{FF2B5EF4-FFF2-40B4-BE49-F238E27FC236}">
                <a16:creationId xmlns:a16="http://schemas.microsoft.com/office/drawing/2014/main" id="{3C2BA515-E985-85B3-EE1E-C1CEFB9BD2F2}"/>
              </a:ext>
            </a:extLst>
          </p:cNvPr>
          <p:cNvPicPr>
            <a:picLocks noChangeAspect="1"/>
          </p:cNvPicPr>
          <p:nvPr/>
        </p:nvPicPr>
        <p:blipFill>
          <a:blip r:embed="rId3"/>
          <a:srcRect/>
          <a:stretch/>
        </p:blipFill>
        <p:spPr>
          <a:xfrm>
            <a:off x="4725900" y="6473952"/>
            <a:ext cx="2526839" cy="365760"/>
          </a:xfrm>
          <a:prstGeom prst="rect">
            <a:avLst/>
          </a:prstGeom>
        </p:spPr>
      </p:pic>
      <p:pic>
        <p:nvPicPr>
          <p:cNvPr id="15" name="Picture 14">
            <a:extLst>
              <a:ext uri="{FF2B5EF4-FFF2-40B4-BE49-F238E27FC236}">
                <a16:creationId xmlns:a16="http://schemas.microsoft.com/office/drawing/2014/main" id="{1D7A586F-57FE-1478-45C6-F65E92AEF918}"/>
              </a:ext>
            </a:extLst>
          </p:cNvPr>
          <p:cNvPicPr>
            <a:picLocks noChangeAspect="1"/>
          </p:cNvPicPr>
          <p:nvPr/>
        </p:nvPicPr>
        <p:blipFill>
          <a:blip r:embed="rId4"/>
          <a:stretch>
            <a:fillRect/>
          </a:stretch>
        </p:blipFill>
        <p:spPr>
          <a:xfrm>
            <a:off x="9811911" y="274320"/>
            <a:ext cx="1992993" cy="1300447"/>
          </a:xfrm>
          <a:prstGeom prst="rect">
            <a:avLst/>
          </a:prstGeom>
        </p:spPr>
      </p:pic>
      <p:grpSp>
        <p:nvGrpSpPr>
          <p:cNvPr id="30" name="Group 29">
            <a:extLst>
              <a:ext uri="{FF2B5EF4-FFF2-40B4-BE49-F238E27FC236}">
                <a16:creationId xmlns:a16="http://schemas.microsoft.com/office/drawing/2014/main" id="{67C1579A-1471-B54A-6D1D-736F8C9C121E}"/>
              </a:ext>
            </a:extLst>
          </p:cNvPr>
          <p:cNvGrpSpPr/>
          <p:nvPr/>
        </p:nvGrpSpPr>
        <p:grpSpPr>
          <a:xfrm>
            <a:off x="512180" y="340201"/>
            <a:ext cx="1024476" cy="1155825"/>
            <a:chOff x="8042313" y="340201"/>
            <a:chExt cx="1024476" cy="1155825"/>
          </a:xfrm>
        </p:grpSpPr>
        <p:sp>
          <p:nvSpPr>
            <p:cNvPr id="27" name="Rectangle">
              <a:extLst>
                <a:ext uri="{FF2B5EF4-FFF2-40B4-BE49-F238E27FC236}">
                  <a16:creationId xmlns:a16="http://schemas.microsoft.com/office/drawing/2014/main" id="{46C1F821-125B-4C5B-4BE4-71147B8B46F0}"/>
                </a:ext>
              </a:extLst>
            </p:cNvPr>
            <p:cNvSpPr/>
            <p:nvPr/>
          </p:nvSpPr>
          <p:spPr>
            <a:xfrm>
              <a:off x="8042313" y="353850"/>
              <a:ext cx="1024476" cy="1142176"/>
            </a:xfrm>
            <a:prstGeom prst="rect">
              <a:avLst/>
            </a:prstGeom>
            <a:solidFill>
              <a:srgbClr val="0B0E16"/>
            </a:solidFill>
            <a:ln w="50800" cap="flat">
              <a:solidFill>
                <a:srgbClr val="0A0E17"/>
              </a:solidFill>
              <a:prstDash val="solid"/>
              <a:miter lim="400000"/>
            </a:ln>
            <a:effectLst>
              <a:outerShdw blurRad="63500" dist="63500" dir="2697698" rotWithShape="0">
                <a:srgbClr val="000000"/>
              </a:outerShdw>
            </a:effectLst>
          </p:spPr>
          <p:txBody>
            <a:bodyPr wrap="square" lIns="50800" tIns="50800" rIns="50800" bIns="50800" numCol="1" anchor="ctr">
              <a:noAutofit/>
            </a:bodyPr>
            <a:lstStyle/>
            <a:p>
              <a:pPr marL="0" marR="0" algn="ctr" defTabSz="825500">
                <a:defRPr sz="5000" spc="-349">
                  <a:ln>
                    <a:noFill/>
                  </a:ln>
                  <a:effectLst/>
                  <a:latin typeface="Roboto Regular Black"/>
                  <a:ea typeface="Roboto Regular Black"/>
                  <a:cs typeface="Roboto Regular Black"/>
                  <a:sym typeface="Roboto Regular Black"/>
                </a:defRPr>
              </a:pPr>
              <a:endParaRPr/>
            </a:p>
          </p:txBody>
        </p:sp>
        <p:sp>
          <p:nvSpPr>
            <p:cNvPr id="28" name="1">
              <a:extLst>
                <a:ext uri="{FF2B5EF4-FFF2-40B4-BE49-F238E27FC236}">
                  <a16:creationId xmlns:a16="http://schemas.microsoft.com/office/drawing/2014/main" id="{B3BAE116-E36A-1980-1527-FA2AD93F6733}"/>
                </a:ext>
              </a:extLst>
            </p:cNvPr>
            <p:cNvSpPr/>
            <p:nvPr/>
          </p:nvSpPr>
          <p:spPr>
            <a:xfrm>
              <a:off x="8054199" y="643063"/>
              <a:ext cx="1000704" cy="840752"/>
            </a:xfrm>
            <a:prstGeom prst="rect">
              <a:avLst/>
            </a:prstGeom>
            <a:solidFill>
              <a:srgbClr val="0B0E16"/>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7500" spc="-524">
                  <a:latin typeface="Roboto Regular Black"/>
                  <a:ea typeface="Roboto Regular Black"/>
                  <a:cs typeface="Roboto Regular Black"/>
                  <a:sym typeface="Roboto Regular Black"/>
                </a:defRPr>
              </a:lvl1pPr>
            </a:lstStyle>
            <a:p>
              <a:pPr>
                <a:defRPr>
                  <a:ln>
                    <a:noFill/>
                  </a:ln>
                  <a:effectLst/>
                </a:defRPr>
              </a:pPr>
              <a:r>
                <a:rPr sz="4800" dirty="0">
                  <a:solidFill>
                    <a:schemeClr val="bg1"/>
                  </a:solidFill>
                </a:rPr>
                <a:t>1</a:t>
              </a:r>
            </a:p>
          </p:txBody>
        </p:sp>
        <p:sp>
          <p:nvSpPr>
            <p:cNvPr id="29" name="CHECKPOINT">
              <a:extLst>
                <a:ext uri="{FF2B5EF4-FFF2-40B4-BE49-F238E27FC236}">
                  <a16:creationId xmlns:a16="http://schemas.microsoft.com/office/drawing/2014/main" id="{E1F09595-7C52-0797-2F03-3D8C425047EC}"/>
                </a:ext>
              </a:extLst>
            </p:cNvPr>
            <p:cNvSpPr/>
            <p:nvPr/>
          </p:nvSpPr>
          <p:spPr>
            <a:xfrm>
              <a:off x="8054199" y="340201"/>
              <a:ext cx="1000704" cy="287819"/>
            </a:xfrm>
            <a:prstGeom prst="rect">
              <a:avLst/>
            </a:prstGeom>
            <a:solidFill>
              <a:srgbClr val="F5C849"/>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1500" spc="134">
                  <a:solidFill>
                    <a:srgbClr val="0A0E17"/>
                  </a:solidFill>
                  <a:latin typeface="Roboto Regular SemiBold"/>
                  <a:ea typeface="Roboto Regular SemiBold"/>
                  <a:cs typeface="Roboto Regular SemiBold"/>
                  <a:sym typeface="Roboto Regular SemiBold"/>
                </a:defRPr>
              </a:lvl1pPr>
            </a:lstStyle>
            <a:p>
              <a:pPr>
                <a:defRPr>
                  <a:ln>
                    <a:noFill/>
                  </a:ln>
                  <a:effectLst/>
                </a:defRPr>
              </a:pPr>
              <a:r>
                <a:rPr sz="900" dirty="0"/>
                <a:t>CHECKPOINT</a:t>
              </a:r>
            </a:p>
          </p:txBody>
        </p:sp>
      </p:grpSp>
      <p:sp>
        <p:nvSpPr>
          <p:cNvPr id="31" name="TextBox 30">
            <a:extLst>
              <a:ext uri="{FF2B5EF4-FFF2-40B4-BE49-F238E27FC236}">
                <a16:creationId xmlns:a16="http://schemas.microsoft.com/office/drawing/2014/main" id="{EB9F7F9A-6E70-A381-0622-892D2BD94851}"/>
              </a:ext>
            </a:extLst>
          </p:cNvPr>
          <p:cNvSpPr txBox="1"/>
          <p:nvPr/>
        </p:nvSpPr>
        <p:spPr>
          <a:xfrm>
            <a:off x="640080" y="2249424"/>
            <a:ext cx="10908792" cy="2227890"/>
          </a:xfrm>
          <a:prstGeom prst="rect">
            <a:avLst/>
          </a:prstGeom>
          <a:noFill/>
        </p:spPr>
        <p:txBody>
          <a:bodyPr wrap="square" lIns="36576" tIns="10972" rIns="36576" bIns="10972">
            <a:spAutoFit/>
          </a:bodyPr>
          <a:lstStyle/>
          <a:p>
            <a:pPr algn="l">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First key point about the concept being introduced</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Second point — what this replaces or improves</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Third point — connect to the Deep in the Heart game</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Fourth point — Think About This: a question for the student</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Fifth point — the takeaway before the demo</a:t>
            </a:r>
          </a:p>
        </p:txBody>
      </p:sp>
    </p:spTree>
    <p:extLst>
      <p:ext uri="{BB962C8B-B14F-4D97-AF65-F5344CB8AC3E}">
        <p14:creationId xmlns:p14="http://schemas.microsoft.com/office/powerpoint/2010/main" val="19232269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F8962B8-E6BB-E28B-4CB7-EB0864C1AE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F8D9778-FE98-963E-C823-C8672EBB5B42}"/>
              </a:ext>
            </a:extLst>
          </p:cNvPr>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a:extLst>
              <a:ext uri="{FF2B5EF4-FFF2-40B4-BE49-F238E27FC236}">
                <a16:creationId xmlns:a16="http://schemas.microsoft.com/office/drawing/2014/main" id="{39F9228A-11C9-6BBB-F25E-E13482C62343}"/>
              </a:ext>
            </a:extLst>
          </p:cNvPr>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6" name="Rectangle 5">
            <a:extLst>
              <a:ext uri="{FF2B5EF4-FFF2-40B4-BE49-F238E27FC236}">
                <a16:creationId xmlns:a16="http://schemas.microsoft.com/office/drawing/2014/main" id="{320A9DFA-D648-06FE-F9B6-2EEE1B7191F6}"/>
              </a:ext>
            </a:extLst>
          </p:cNvPr>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a:extLst>
              <a:ext uri="{FF2B5EF4-FFF2-40B4-BE49-F238E27FC236}">
                <a16:creationId xmlns:a16="http://schemas.microsoft.com/office/drawing/2014/main" id="{2F530F43-542D-D2A3-F862-3D0D5FEBB479}"/>
              </a:ext>
            </a:extLst>
          </p:cNvPr>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EXPECTED OUTPUT</a:t>
            </a:r>
          </a:p>
        </p:txBody>
      </p:sp>
      <p:sp>
        <p:nvSpPr>
          <p:cNvPr id="9" name="Rectangle 8">
            <a:extLst>
              <a:ext uri="{FF2B5EF4-FFF2-40B4-BE49-F238E27FC236}">
                <a16:creationId xmlns:a16="http://schemas.microsoft.com/office/drawing/2014/main" id="{82A36694-816F-DC92-886D-4FFC379CE154}"/>
              </a:ext>
            </a:extLst>
          </p:cNvPr>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14" name="Picture 13">
            <a:extLst>
              <a:ext uri="{FF2B5EF4-FFF2-40B4-BE49-F238E27FC236}">
                <a16:creationId xmlns:a16="http://schemas.microsoft.com/office/drawing/2014/main" id="{CE4B4AE0-6007-172C-988F-6B0F17AC86E1}"/>
              </a:ext>
            </a:extLst>
          </p:cNvPr>
          <p:cNvPicPr>
            <a:picLocks noChangeAspect="1"/>
          </p:cNvPicPr>
          <p:nvPr/>
        </p:nvPicPr>
        <p:blipFill>
          <a:blip r:embed="rId3"/>
          <a:srcRect/>
          <a:stretch/>
        </p:blipFill>
        <p:spPr>
          <a:xfrm>
            <a:off x="4725900" y="6473952"/>
            <a:ext cx="2526839" cy="365760"/>
          </a:xfrm>
          <a:prstGeom prst="rect">
            <a:avLst/>
          </a:prstGeom>
        </p:spPr>
      </p:pic>
      <p:pic>
        <p:nvPicPr>
          <p:cNvPr id="15" name="Picture 14">
            <a:extLst>
              <a:ext uri="{FF2B5EF4-FFF2-40B4-BE49-F238E27FC236}">
                <a16:creationId xmlns:a16="http://schemas.microsoft.com/office/drawing/2014/main" id="{D64266FA-AAC8-FC09-0BF7-CB5B11E1FA9F}"/>
              </a:ext>
            </a:extLst>
          </p:cNvPr>
          <p:cNvPicPr>
            <a:picLocks noChangeAspect="1"/>
          </p:cNvPicPr>
          <p:nvPr/>
        </p:nvPicPr>
        <p:blipFill>
          <a:blip r:embed="rId4"/>
          <a:stretch>
            <a:fillRect/>
          </a:stretch>
        </p:blipFill>
        <p:spPr>
          <a:xfrm>
            <a:off x="9811911" y="274320"/>
            <a:ext cx="1992993" cy="1300447"/>
          </a:xfrm>
          <a:prstGeom prst="rect">
            <a:avLst/>
          </a:prstGeom>
        </p:spPr>
      </p:pic>
      <p:sp>
        <p:nvSpPr>
          <p:cNvPr id="4" name="TextBox 3">
            <a:extLst>
              <a:ext uri="{FF2B5EF4-FFF2-40B4-BE49-F238E27FC236}">
                <a16:creationId xmlns:a16="http://schemas.microsoft.com/office/drawing/2014/main" id="{8AF8C962-1762-C5A3-684E-73975AE31528}"/>
              </a:ext>
            </a:extLst>
          </p:cNvPr>
          <p:cNvSpPr txBox="1"/>
          <p:nvPr/>
        </p:nvSpPr>
        <p:spPr>
          <a:xfrm>
            <a:off x="1713249" y="411480"/>
            <a:ext cx="7970645" cy="677108"/>
          </a:xfrm>
          <a:prstGeom prst="rect">
            <a:avLst/>
          </a:prstGeom>
          <a:noFill/>
        </p:spPr>
        <p:txBody>
          <a:bodyPr wrap="square" lIns="0" tIns="0" rIns="0" bIns="0">
            <a:spAutoFit/>
          </a:bodyPr>
          <a:lstStyle/>
          <a:p>
            <a:pPr algn="l"/>
            <a:r>
              <a:rPr lang="en-US" sz="4400" b="1" dirty="0">
                <a:solidFill>
                  <a:srgbClr val="F5F5F5"/>
                </a:solidFill>
                <a:latin typeface="Roboto Slab" pitchFamily="2" charset="0"/>
              </a:rPr>
              <a:t>Checkpoint Orange</a:t>
            </a:r>
            <a:endParaRPr sz="4400" b="1" dirty="0">
              <a:solidFill>
                <a:srgbClr val="F5F5F5"/>
              </a:solidFill>
              <a:latin typeface="Roboto Slab" pitchFamily="2" charset="0"/>
            </a:endParaRPr>
          </a:p>
        </p:txBody>
      </p:sp>
      <p:sp>
        <p:nvSpPr>
          <p:cNvPr id="7" name="Rectangle 6">
            <a:extLst>
              <a:ext uri="{FF2B5EF4-FFF2-40B4-BE49-F238E27FC236}">
                <a16:creationId xmlns:a16="http://schemas.microsoft.com/office/drawing/2014/main" id="{C4282387-9CAF-5BE8-9091-27D9B2F01C3D}"/>
              </a:ext>
            </a:extLst>
          </p:cNvPr>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3" name="TextBox 12">
            <a:extLst>
              <a:ext uri="{FF2B5EF4-FFF2-40B4-BE49-F238E27FC236}">
                <a16:creationId xmlns:a16="http://schemas.microsoft.com/office/drawing/2014/main" id="{97204730-AC80-4026-DCEB-C01C65CC5FE2}"/>
              </a:ext>
            </a:extLst>
          </p:cNvPr>
          <p:cNvSpPr txBox="1"/>
          <p:nvPr/>
        </p:nvSpPr>
        <p:spPr>
          <a:xfrm>
            <a:off x="640080" y="1883664"/>
            <a:ext cx="10908792" cy="184666"/>
          </a:xfrm>
          <a:prstGeom prst="rect">
            <a:avLst/>
          </a:prstGeom>
          <a:noFill/>
        </p:spPr>
        <p:txBody>
          <a:bodyPr wrap="square" lIns="0" tIns="0" rIns="0" bIns="0">
            <a:spAutoFit/>
          </a:bodyPr>
          <a:lstStyle/>
          <a:p>
            <a:pPr algn="l"/>
            <a:r>
              <a:rPr lang="en-US" sz="1200" b="1" dirty="0">
                <a:solidFill>
                  <a:srgbClr val="FFCC00"/>
                </a:solidFill>
                <a:latin typeface="Roboto Slab" pitchFamily="2" charset="0"/>
              </a:rPr>
              <a:t>CHECKPOINT HEADER</a:t>
            </a:r>
            <a:endParaRPr sz="1200" b="1" dirty="0">
              <a:solidFill>
                <a:srgbClr val="FFCC00"/>
              </a:solidFill>
              <a:latin typeface="Roboto Slab" pitchFamily="2" charset="0"/>
            </a:endParaRPr>
          </a:p>
        </p:txBody>
      </p:sp>
      <p:sp>
        <p:nvSpPr>
          <p:cNvPr id="16" name="Rectangle 15">
            <a:extLst>
              <a:ext uri="{FF2B5EF4-FFF2-40B4-BE49-F238E27FC236}">
                <a16:creationId xmlns:a16="http://schemas.microsoft.com/office/drawing/2014/main" id="{FBA80299-DFBF-D183-2DF1-1A25D947B23D}"/>
              </a:ext>
            </a:extLst>
          </p:cNvPr>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grpSp>
        <p:nvGrpSpPr>
          <p:cNvPr id="17" name="Group 16">
            <a:extLst>
              <a:ext uri="{FF2B5EF4-FFF2-40B4-BE49-F238E27FC236}">
                <a16:creationId xmlns:a16="http://schemas.microsoft.com/office/drawing/2014/main" id="{8F5E6737-9E25-A735-E2F6-F5C997214C44}"/>
              </a:ext>
            </a:extLst>
          </p:cNvPr>
          <p:cNvGrpSpPr/>
          <p:nvPr/>
        </p:nvGrpSpPr>
        <p:grpSpPr>
          <a:xfrm>
            <a:off x="512180" y="340201"/>
            <a:ext cx="1024476" cy="1155825"/>
            <a:chOff x="8042313" y="340201"/>
            <a:chExt cx="1024476" cy="1155825"/>
          </a:xfrm>
        </p:grpSpPr>
        <p:sp>
          <p:nvSpPr>
            <p:cNvPr id="18" name="Rectangle">
              <a:extLst>
                <a:ext uri="{FF2B5EF4-FFF2-40B4-BE49-F238E27FC236}">
                  <a16:creationId xmlns:a16="http://schemas.microsoft.com/office/drawing/2014/main" id="{87B06F19-93BA-6A5B-ACC2-6B6876501FF9}"/>
                </a:ext>
              </a:extLst>
            </p:cNvPr>
            <p:cNvSpPr/>
            <p:nvPr/>
          </p:nvSpPr>
          <p:spPr>
            <a:xfrm>
              <a:off x="8042313" y="353850"/>
              <a:ext cx="1024476" cy="1142176"/>
            </a:xfrm>
            <a:prstGeom prst="rect">
              <a:avLst/>
            </a:prstGeom>
            <a:solidFill>
              <a:srgbClr val="0B0E16"/>
            </a:solidFill>
            <a:ln w="50800" cap="flat">
              <a:solidFill>
                <a:srgbClr val="0A0E17"/>
              </a:solidFill>
              <a:prstDash val="solid"/>
              <a:miter lim="400000"/>
            </a:ln>
            <a:effectLst>
              <a:outerShdw blurRad="63500" dist="63500" dir="2697698" rotWithShape="0">
                <a:srgbClr val="000000"/>
              </a:outerShdw>
            </a:effectLst>
          </p:spPr>
          <p:txBody>
            <a:bodyPr wrap="square" lIns="50800" tIns="50800" rIns="50800" bIns="50800" numCol="1" anchor="ctr">
              <a:noAutofit/>
            </a:bodyPr>
            <a:lstStyle/>
            <a:p>
              <a:pPr marL="0" marR="0" algn="ctr" defTabSz="825500">
                <a:defRPr sz="5000" spc="-349">
                  <a:ln>
                    <a:noFill/>
                  </a:ln>
                  <a:effectLst/>
                  <a:latin typeface="Roboto Regular Black"/>
                  <a:ea typeface="Roboto Regular Black"/>
                  <a:cs typeface="Roboto Regular Black"/>
                  <a:sym typeface="Roboto Regular Black"/>
                </a:defRPr>
              </a:pPr>
              <a:endParaRPr/>
            </a:p>
          </p:txBody>
        </p:sp>
        <p:sp>
          <p:nvSpPr>
            <p:cNvPr id="19" name="1">
              <a:extLst>
                <a:ext uri="{FF2B5EF4-FFF2-40B4-BE49-F238E27FC236}">
                  <a16:creationId xmlns:a16="http://schemas.microsoft.com/office/drawing/2014/main" id="{D949313B-A2E8-AA5D-AEA6-ED933DB6D73A}"/>
                </a:ext>
              </a:extLst>
            </p:cNvPr>
            <p:cNvSpPr/>
            <p:nvPr/>
          </p:nvSpPr>
          <p:spPr>
            <a:xfrm>
              <a:off x="8054199" y="643063"/>
              <a:ext cx="1000704" cy="840752"/>
            </a:xfrm>
            <a:prstGeom prst="rect">
              <a:avLst/>
            </a:prstGeom>
            <a:solidFill>
              <a:srgbClr val="0B0E16"/>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7500" spc="-524">
                  <a:latin typeface="Roboto Regular Black"/>
                  <a:ea typeface="Roboto Regular Black"/>
                  <a:cs typeface="Roboto Regular Black"/>
                  <a:sym typeface="Roboto Regular Black"/>
                </a:defRPr>
              </a:lvl1pPr>
            </a:lstStyle>
            <a:p>
              <a:pPr>
                <a:defRPr>
                  <a:ln>
                    <a:noFill/>
                  </a:ln>
                  <a:effectLst/>
                </a:defRPr>
              </a:pPr>
              <a:r>
                <a:rPr sz="4800" dirty="0">
                  <a:solidFill>
                    <a:schemeClr val="bg1"/>
                  </a:solidFill>
                </a:rPr>
                <a:t>1</a:t>
              </a:r>
            </a:p>
          </p:txBody>
        </p:sp>
        <p:sp>
          <p:nvSpPr>
            <p:cNvPr id="20" name="CHECKPOINT">
              <a:extLst>
                <a:ext uri="{FF2B5EF4-FFF2-40B4-BE49-F238E27FC236}">
                  <a16:creationId xmlns:a16="http://schemas.microsoft.com/office/drawing/2014/main" id="{C26117D7-E264-5797-7C1C-26719CC16151}"/>
                </a:ext>
              </a:extLst>
            </p:cNvPr>
            <p:cNvSpPr/>
            <p:nvPr/>
          </p:nvSpPr>
          <p:spPr>
            <a:xfrm>
              <a:off x="8054199" y="340201"/>
              <a:ext cx="1000704" cy="287819"/>
            </a:xfrm>
            <a:prstGeom prst="rect">
              <a:avLst/>
            </a:prstGeom>
            <a:solidFill>
              <a:srgbClr val="F5C849"/>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1500" spc="134">
                  <a:solidFill>
                    <a:srgbClr val="0A0E17"/>
                  </a:solidFill>
                  <a:latin typeface="Roboto Regular SemiBold"/>
                  <a:ea typeface="Roboto Regular SemiBold"/>
                  <a:cs typeface="Roboto Regular SemiBold"/>
                  <a:sym typeface="Roboto Regular SemiBold"/>
                </a:defRPr>
              </a:lvl1pPr>
            </a:lstStyle>
            <a:p>
              <a:pPr>
                <a:defRPr>
                  <a:ln>
                    <a:noFill/>
                  </a:ln>
                  <a:effectLst/>
                </a:defRPr>
              </a:pPr>
              <a:r>
                <a:rPr sz="900" dirty="0"/>
                <a:t>CHECKPOINT</a:t>
              </a:r>
            </a:p>
          </p:txBody>
        </p:sp>
      </p:grpSp>
      <p:sp>
        <p:nvSpPr>
          <p:cNvPr id="21" name="TextBox 20">
            <a:extLst>
              <a:ext uri="{FF2B5EF4-FFF2-40B4-BE49-F238E27FC236}">
                <a16:creationId xmlns:a16="http://schemas.microsoft.com/office/drawing/2014/main" id="{BD7FFC8D-9EF1-7914-6EE3-93656393D672}"/>
              </a:ext>
            </a:extLst>
          </p:cNvPr>
          <p:cNvSpPr txBox="1"/>
          <p:nvPr/>
        </p:nvSpPr>
        <p:spPr>
          <a:xfrm>
            <a:off x="640080" y="2249424"/>
            <a:ext cx="10908792" cy="2227890"/>
          </a:xfrm>
          <a:prstGeom prst="rect">
            <a:avLst/>
          </a:prstGeom>
          <a:noFill/>
        </p:spPr>
        <p:txBody>
          <a:bodyPr wrap="square" lIns="36576" tIns="10972" rIns="36576" bIns="10972">
            <a:spAutoFit/>
          </a:bodyPr>
          <a:lstStyle/>
          <a:p>
            <a:pPr algn="l">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First key point about the concept being introduced</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Second point — what this replaces or improves</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Third point — connect to the Deep in the Heart game</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Fourth point — Think About This: a question for the student</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Fifth point — the takeaway before the demo</a:t>
            </a:r>
          </a:p>
        </p:txBody>
      </p:sp>
    </p:spTree>
    <p:extLst>
      <p:ext uri="{BB962C8B-B14F-4D97-AF65-F5344CB8AC3E}">
        <p14:creationId xmlns:p14="http://schemas.microsoft.com/office/powerpoint/2010/main" val="30979514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pic>
        <p:nvPicPr>
          <p:cNvPr id="16" name="Picture 15">
            <a:extLst>
              <a:ext uri="{FF2B5EF4-FFF2-40B4-BE49-F238E27FC236}">
                <a16:creationId xmlns:a16="http://schemas.microsoft.com/office/drawing/2014/main" id="{ABB5CCA9-6722-FB19-541E-48194E5A7F82}"/>
              </a:ext>
            </a:extLst>
          </p:cNvPr>
          <p:cNvPicPr>
            <a:picLocks noChangeAspect="1"/>
          </p:cNvPicPr>
          <p:nvPr/>
        </p:nvPicPr>
        <p:blipFill>
          <a:blip r:embed="rId3"/>
          <a:srcRect/>
          <a:stretch/>
        </p:blipFill>
        <p:spPr>
          <a:xfrm>
            <a:off x="4725900" y="6473952"/>
            <a:ext cx="2526839" cy="365760"/>
          </a:xfrm>
          <a:prstGeom prst="rect">
            <a:avLst/>
          </a:prstGeom>
        </p:spPr>
      </p:pic>
      <p:pic>
        <p:nvPicPr>
          <p:cNvPr id="17" name="Picture 16">
            <a:extLst>
              <a:ext uri="{FF2B5EF4-FFF2-40B4-BE49-F238E27FC236}">
                <a16:creationId xmlns:a16="http://schemas.microsoft.com/office/drawing/2014/main" id="{05DD9908-F3A7-8691-3C94-A1FB3D7023CD}"/>
              </a:ext>
            </a:extLst>
          </p:cNvPr>
          <p:cNvPicPr>
            <a:picLocks noChangeAspect="1"/>
          </p:cNvPicPr>
          <p:nvPr/>
        </p:nvPicPr>
        <p:blipFill>
          <a:blip r:embed="rId4"/>
          <a:stretch>
            <a:fillRect/>
          </a:stretch>
        </p:blipFill>
        <p:spPr>
          <a:xfrm>
            <a:off x="9811911" y="274320"/>
            <a:ext cx="1992993" cy="1300447"/>
          </a:xfrm>
          <a:prstGeom prst="rect">
            <a:avLst/>
          </a:prstGeom>
        </p:spPr>
      </p:pic>
      <p:sp>
        <p:nvSpPr>
          <p:cNvPr id="4" name="TextBox 3">
            <a:extLst>
              <a:ext uri="{FF2B5EF4-FFF2-40B4-BE49-F238E27FC236}">
                <a16:creationId xmlns:a16="http://schemas.microsoft.com/office/drawing/2014/main" id="{F5EBC635-E048-1CE2-6504-47528AF0B46D}"/>
              </a:ext>
            </a:extLst>
          </p:cNvPr>
          <p:cNvSpPr txBox="1"/>
          <p:nvPr/>
        </p:nvSpPr>
        <p:spPr>
          <a:xfrm>
            <a:off x="1713249" y="411480"/>
            <a:ext cx="7970645" cy="677108"/>
          </a:xfrm>
          <a:prstGeom prst="rect">
            <a:avLst/>
          </a:prstGeom>
          <a:noFill/>
        </p:spPr>
        <p:txBody>
          <a:bodyPr wrap="square" lIns="0" tIns="0" rIns="0" bIns="0">
            <a:spAutoFit/>
          </a:bodyPr>
          <a:lstStyle/>
          <a:p>
            <a:pPr algn="l"/>
            <a:r>
              <a:rPr lang="en-US" sz="4400" b="1" dirty="0">
                <a:solidFill>
                  <a:srgbClr val="F5F5F5"/>
                </a:solidFill>
                <a:latin typeface="Roboto Slab" pitchFamily="2" charset="0"/>
              </a:rPr>
              <a:t>Checkpoint Purple</a:t>
            </a:r>
            <a:endParaRPr sz="4400" b="1" dirty="0">
              <a:solidFill>
                <a:srgbClr val="F5F5F5"/>
              </a:solidFill>
              <a:latin typeface="Roboto Slab" pitchFamily="2" charset="0"/>
            </a:endParaRPr>
          </a:p>
        </p:txBody>
      </p:sp>
      <p:sp>
        <p:nvSpPr>
          <p:cNvPr id="7" name="Rectangle 6">
            <a:extLst>
              <a:ext uri="{FF2B5EF4-FFF2-40B4-BE49-F238E27FC236}">
                <a16:creationId xmlns:a16="http://schemas.microsoft.com/office/drawing/2014/main" id="{7FAC7F4B-301B-226F-C5B1-1EE883776200}"/>
              </a:ext>
            </a:extLst>
          </p:cNvPr>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5" name="TextBox 14">
            <a:extLst>
              <a:ext uri="{FF2B5EF4-FFF2-40B4-BE49-F238E27FC236}">
                <a16:creationId xmlns:a16="http://schemas.microsoft.com/office/drawing/2014/main" id="{30A1D38E-6CA5-039C-9ECF-87516618A51C}"/>
              </a:ext>
            </a:extLst>
          </p:cNvPr>
          <p:cNvSpPr txBox="1"/>
          <p:nvPr/>
        </p:nvSpPr>
        <p:spPr>
          <a:xfrm>
            <a:off x="640080" y="1883664"/>
            <a:ext cx="10908792" cy="184666"/>
          </a:xfrm>
          <a:prstGeom prst="rect">
            <a:avLst/>
          </a:prstGeom>
          <a:noFill/>
        </p:spPr>
        <p:txBody>
          <a:bodyPr wrap="square" lIns="0" tIns="0" rIns="0" bIns="0">
            <a:spAutoFit/>
          </a:bodyPr>
          <a:lstStyle/>
          <a:p>
            <a:pPr algn="l"/>
            <a:r>
              <a:rPr lang="en-US" sz="1200" b="1" dirty="0">
                <a:solidFill>
                  <a:srgbClr val="FFCC00"/>
                </a:solidFill>
                <a:latin typeface="Roboto Slab" pitchFamily="2" charset="0"/>
              </a:rPr>
              <a:t>CHECKPOINT HEADER</a:t>
            </a:r>
            <a:endParaRPr sz="1200" b="1" dirty="0">
              <a:solidFill>
                <a:srgbClr val="FFCC00"/>
              </a:solidFill>
              <a:latin typeface="Roboto Slab" pitchFamily="2" charset="0"/>
            </a:endParaRPr>
          </a:p>
        </p:txBody>
      </p:sp>
      <p:sp>
        <p:nvSpPr>
          <p:cNvPr id="18" name="Rectangle 17">
            <a:extLst>
              <a:ext uri="{FF2B5EF4-FFF2-40B4-BE49-F238E27FC236}">
                <a16:creationId xmlns:a16="http://schemas.microsoft.com/office/drawing/2014/main" id="{81B67BE0-6047-904F-CA42-62DDDF217CA7}"/>
              </a:ext>
            </a:extLst>
          </p:cNvPr>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grpSp>
        <p:nvGrpSpPr>
          <p:cNvPr id="19" name="Group 18">
            <a:extLst>
              <a:ext uri="{FF2B5EF4-FFF2-40B4-BE49-F238E27FC236}">
                <a16:creationId xmlns:a16="http://schemas.microsoft.com/office/drawing/2014/main" id="{3EA5853E-27CF-E34C-DAB2-EE20C33A960C}"/>
              </a:ext>
            </a:extLst>
          </p:cNvPr>
          <p:cNvGrpSpPr/>
          <p:nvPr/>
        </p:nvGrpSpPr>
        <p:grpSpPr>
          <a:xfrm>
            <a:off x="512180" y="340201"/>
            <a:ext cx="1024476" cy="1155825"/>
            <a:chOff x="8042313" y="340201"/>
            <a:chExt cx="1024476" cy="1155825"/>
          </a:xfrm>
        </p:grpSpPr>
        <p:sp>
          <p:nvSpPr>
            <p:cNvPr id="20" name="Rectangle">
              <a:extLst>
                <a:ext uri="{FF2B5EF4-FFF2-40B4-BE49-F238E27FC236}">
                  <a16:creationId xmlns:a16="http://schemas.microsoft.com/office/drawing/2014/main" id="{801148F0-B874-E0C7-CF5F-134CE0FCBF20}"/>
                </a:ext>
              </a:extLst>
            </p:cNvPr>
            <p:cNvSpPr/>
            <p:nvPr/>
          </p:nvSpPr>
          <p:spPr>
            <a:xfrm>
              <a:off x="8042313" y="353850"/>
              <a:ext cx="1024476" cy="1142176"/>
            </a:xfrm>
            <a:prstGeom prst="rect">
              <a:avLst/>
            </a:prstGeom>
            <a:solidFill>
              <a:srgbClr val="0B0E16"/>
            </a:solidFill>
            <a:ln w="50800" cap="flat">
              <a:solidFill>
                <a:srgbClr val="0A0E17"/>
              </a:solidFill>
              <a:prstDash val="solid"/>
              <a:miter lim="400000"/>
            </a:ln>
            <a:effectLst>
              <a:outerShdw blurRad="63500" dist="63500" dir="2697698" rotWithShape="0">
                <a:srgbClr val="000000"/>
              </a:outerShdw>
            </a:effectLst>
          </p:spPr>
          <p:txBody>
            <a:bodyPr wrap="square" lIns="50800" tIns="50800" rIns="50800" bIns="50800" numCol="1" anchor="ctr">
              <a:noAutofit/>
            </a:bodyPr>
            <a:lstStyle/>
            <a:p>
              <a:pPr marL="0" marR="0" algn="ctr" defTabSz="825500">
                <a:defRPr sz="5000" spc="-349">
                  <a:ln>
                    <a:noFill/>
                  </a:ln>
                  <a:effectLst/>
                  <a:latin typeface="Roboto Regular Black"/>
                  <a:ea typeface="Roboto Regular Black"/>
                  <a:cs typeface="Roboto Regular Black"/>
                  <a:sym typeface="Roboto Regular Black"/>
                </a:defRPr>
              </a:pPr>
              <a:endParaRPr/>
            </a:p>
          </p:txBody>
        </p:sp>
        <p:sp>
          <p:nvSpPr>
            <p:cNvPr id="21" name="1">
              <a:extLst>
                <a:ext uri="{FF2B5EF4-FFF2-40B4-BE49-F238E27FC236}">
                  <a16:creationId xmlns:a16="http://schemas.microsoft.com/office/drawing/2014/main" id="{DDE22147-958C-182D-8C87-12EF5CF82594}"/>
                </a:ext>
              </a:extLst>
            </p:cNvPr>
            <p:cNvSpPr/>
            <p:nvPr/>
          </p:nvSpPr>
          <p:spPr>
            <a:xfrm>
              <a:off x="8054199" y="643063"/>
              <a:ext cx="1000704" cy="840752"/>
            </a:xfrm>
            <a:prstGeom prst="rect">
              <a:avLst/>
            </a:prstGeom>
            <a:solidFill>
              <a:srgbClr val="0B0E16"/>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7500" spc="-524">
                  <a:latin typeface="Roboto Regular Black"/>
                  <a:ea typeface="Roboto Regular Black"/>
                  <a:cs typeface="Roboto Regular Black"/>
                  <a:sym typeface="Roboto Regular Black"/>
                </a:defRPr>
              </a:lvl1pPr>
            </a:lstStyle>
            <a:p>
              <a:pPr>
                <a:defRPr>
                  <a:ln>
                    <a:noFill/>
                  </a:ln>
                  <a:effectLst/>
                </a:defRPr>
              </a:pPr>
              <a:r>
                <a:rPr sz="4800" dirty="0">
                  <a:solidFill>
                    <a:schemeClr val="bg1"/>
                  </a:solidFill>
                </a:rPr>
                <a:t>1</a:t>
              </a:r>
            </a:p>
          </p:txBody>
        </p:sp>
        <p:sp>
          <p:nvSpPr>
            <p:cNvPr id="22" name="CHECKPOINT">
              <a:extLst>
                <a:ext uri="{FF2B5EF4-FFF2-40B4-BE49-F238E27FC236}">
                  <a16:creationId xmlns:a16="http://schemas.microsoft.com/office/drawing/2014/main" id="{E819924C-4796-A177-8111-C459A176203B}"/>
                </a:ext>
              </a:extLst>
            </p:cNvPr>
            <p:cNvSpPr/>
            <p:nvPr/>
          </p:nvSpPr>
          <p:spPr>
            <a:xfrm>
              <a:off x="8054199" y="340201"/>
              <a:ext cx="1000704" cy="287819"/>
            </a:xfrm>
            <a:prstGeom prst="rect">
              <a:avLst/>
            </a:prstGeom>
            <a:solidFill>
              <a:srgbClr val="F5C849"/>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1500" spc="134">
                  <a:solidFill>
                    <a:srgbClr val="0A0E17"/>
                  </a:solidFill>
                  <a:latin typeface="Roboto Regular SemiBold"/>
                  <a:ea typeface="Roboto Regular SemiBold"/>
                  <a:cs typeface="Roboto Regular SemiBold"/>
                  <a:sym typeface="Roboto Regular SemiBold"/>
                </a:defRPr>
              </a:lvl1pPr>
            </a:lstStyle>
            <a:p>
              <a:pPr>
                <a:defRPr>
                  <a:ln>
                    <a:noFill/>
                  </a:ln>
                  <a:effectLst/>
                </a:defRPr>
              </a:pPr>
              <a:r>
                <a:rPr sz="900" dirty="0"/>
                <a:t>CHECKPOINT</a:t>
              </a:r>
            </a:p>
          </p:txBody>
        </p:sp>
      </p:grpSp>
      <p:sp>
        <p:nvSpPr>
          <p:cNvPr id="23" name="TextBox 22">
            <a:extLst>
              <a:ext uri="{FF2B5EF4-FFF2-40B4-BE49-F238E27FC236}">
                <a16:creationId xmlns:a16="http://schemas.microsoft.com/office/drawing/2014/main" id="{6663E368-64E0-C4EF-1361-1DD91675273A}"/>
              </a:ext>
            </a:extLst>
          </p:cNvPr>
          <p:cNvSpPr txBox="1"/>
          <p:nvPr/>
        </p:nvSpPr>
        <p:spPr>
          <a:xfrm>
            <a:off x="640080" y="2249424"/>
            <a:ext cx="10908792" cy="2227890"/>
          </a:xfrm>
          <a:prstGeom prst="rect">
            <a:avLst/>
          </a:prstGeom>
          <a:noFill/>
        </p:spPr>
        <p:txBody>
          <a:bodyPr wrap="square" lIns="36576" tIns="10972" rIns="36576" bIns="10972">
            <a:spAutoFit/>
          </a:bodyPr>
          <a:lstStyle/>
          <a:p>
            <a:pPr algn="l">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First key point about the concept being introduced</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Second point — what this replaces or improves</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Third point — connect to the Deep in the Heart game</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Fourth point — Think About This: a question for the student</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Fifth point — the takeaway before the demo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pic>
        <p:nvPicPr>
          <p:cNvPr id="25" name="Picture 24">
            <a:extLst>
              <a:ext uri="{FF2B5EF4-FFF2-40B4-BE49-F238E27FC236}">
                <a16:creationId xmlns:a16="http://schemas.microsoft.com/office/drawing/2014/main" id="{1579F150-E42B-B825-14E7-24B27A3A0FDE}"/>
              </a:ext>
            </a:extLst>
          </p:cNvPr>
          <p:cNvPicPr>
            <a:picLocks noChangeAspect="1"/>
          </p:cNvPicPr>
          <p:nvPr/>
        </p:nvPicPr>
        <p:blipFill>
          <a:blip r:embed="rId3"/>
          <a:srcRect/>
          <a:stretch/>
        </p:blipFill>
        <p:spPr>
          <a:xfrm>
            <a:off x="4725900" y="6473952"/>
            <a:ext cx="2526839" cy="365760"/>
          </a:xfrm>
          <a:prstGeom prst="rect">
            <a:avLst/>
          </a:prstGeom>
        </p:spPr>
      </p:pic>
      <p:pic>
        <p:nvPicPr>
          <p:cNvPr id="26" name="Picture 25">
            <a:extLst>
              <a:ext uri="{FF2B5EF4-FFF2-40B4-BE49-F238E27FC236}">
                <a16:creationId xmlns:a16="http://schemas.microsoft.com/office/drawing/2014/main" id="{F1A2C8C4-6996-2E4A-7A2E-41474E8B622C}"/>
              </a:ext>
            </a:extLst>
          </p:cNvPr>
          <p:cNvPicPr>
            <a:picLocks noChangeAspect="1"/>
          </p:cNvPicPr>
          <p:nvPr/>
        </p:nvPicPr>
        <p:blipFill>
          <a:blip r:embed="rId4"/>
          <a:stretch>
            <a:fillRect/>
          </a:stretch>
        </p:blipFill>
        <p:spPr>
          <a:xfrm>
            <a:off x="9811911" y="274320"/>
            <a:ext cx="1992993" cy="1300447"/>
          </a:xfrm>
          <a:prstGeom prst="rect">
            <a:avLst/>
          </a:prstGeom>
        </p:spPr>
      </p:pic>
      <p:sp>
        <p:nvSpPr>
          <p:cNvPr id="4" name="TextBox 3">
            <a:extLst>
              <a:ext uri="{FF2B5EF4-FFF2-40B4-BE49-F238E27FC236}">
                <a16:creationId xmlns:a16="http://schemas.microsoft.com/office/drawing/2014/main" id="{14589C0E-A302-2A7A-958D-933D82A76200}"/>
              </a:ext>
            </a:extLst>
          </p:cNvPr>
          <p:cNvSpPr txBox="1"/>
          <p:nvPr/>
        </p:nvSpPr>
        <p:spPr>
          <a:xfrm>
            <a:off x="1713249" y="411480"/>
            <a:ext cx="7970645" cy="677108"/>
          </a:xfrm>
          <a:prstGeom prst="rect">
            <a:avLst/>
          </a:prstGeom>
          <a:noFill/>
        </p:spPr>
        <p:txBody>
          <a:bodyPr wrap="square" lIns="0" tIns="0" rIns="0" bIns="0">
            <a:spAutoFit/>
          </a:bodyPr>
          <a:lstStyle/>
          <a:p>
            <a:pPr algn="l"/>
            <a:r>
              <a:rPr lang="en-US" sz="4400" b="1" dirty="0">
                <a:solidFill>
                  <a:srgbClr val="F5F5F5"/>
                </a:solidFill>
                <a:latin typeface="Roboto Slab" pitchFamily="2" charset="0"/>
              </a:rPr>
              <a:t>Checkpoint Red</a:t>
            </a:r>
            <a:endParaRPr sz="4400" b="1" dirty="0">
              <a:solidFill>
                <a:srgbClr val="F5F5F5"/>
              </a:solidFill>
              <a:latin typeface="Roboto Slab" pitchFamily="2" charset="0"/>
            </a:endParaRPr>
          </a:p>
        </p:txBody>
      </p:sp>
      <p:sp>
        <p:nvSpPr>
          <p:cNvPr id="7" name="Rectangle 6">
            <a:extLst>
              <a:ext uri="{FF2B5EF4-FFF2-40B4-BE49-F238E27FC236}">
                <a16:creationId xmlns:a16="http://schemas.microsoft.com/office/drawing/2014/main" id="{1E0A7035-D6E1-C031-FD22-191C95C973EB}"/>
              </a:ext>
            </a:extLst>
          </p:cNvPr>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24" name="TextBox 23">
            <a:extLst>
              <a:ext uri="{FF2B5EF4-FFF2-40B4-BE49-F238E27FC236}">
                <a16:creationId xmlns:a16="http://schemas.microsoft.com/office/drawing/2014/main" id="{7E84BB98-D915-0DEF-7053-E23A87AA6E0F}"/>
              </a:ext>
            </a:extLst>
          </p:cNvPr>
          <p:cNvSpPr txBox="1"/>
          <p:nvPr/>
        </p:nvSpPr>
        <p:spPr>
          <a:xfrm>
            <a:off x="640080" y="1883664"/>
            <a:ext cx="10908792" cy="184666"/>
          </a:xfrm>
          <a:prstGeom prst="rect">
            <a:avLst/>
          </a:prstGeom>
          <a:noFill/>
        </p:spPr>
        <p:txBody>
          <a:bodyPr wrap="square" lIns="0" tIns="0" rIns="0" bIns="0">
            <a:spAutoFit/>
          </a:bodyPr>
          <a:lstStyle/>
          <a:p>
            <a:pPr algn="l"/>
            <a:r>
              <a:rPr lang="en-US" sz="1200" b="1" dirty="0">
                <a:solidFill>
                  <a:srgbClr val="FFCC00"/>
                </a:solidFill>
                <a:latin typeface="Roboto Slab" pitchFamily="2" charset="0"/>
              </a:rPr>
              <a:t>CHECKPOINT HEADER</a:t>
            </a:r>
            <a:endParaRPr sz="1200" b="1" dirty="0">
              <a:solidFill>
                <a:srgbClr val="FFCC00"/>
              </a:solidFill>
              <a:latin typeface="Roboto Slab" pitchFamily="2" charset="0"/>
            </a:endParaRPr>
          </a:p>
        </p:txBody>
      </p:sp>
      <p:sp>
        <p:nvSpPr>
          <p:cNvPr id="27" name="Rectangle 26">
            <a:extLst>
              <a:ext uri="{FF2B5EF4-FFF2-40B4-BE49-F238E27FC236}">
                <a16:creationId xmlns:a16="http://schemas.microsoft.com/office/drawing/2014/main" id="{416C1832-94C9-3EE4-8EB7-AC9DF5B36DD8}"/>
              </a:ext>
            </a:extLst>
          </p:cNvPr>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grpSp>
        <p:nvGrpSpPr>
          <p:cNvPr id="28" name="Group 27">
            <a:extLst>
              <a:ext uri="{FF2B5EF4-FFF2-40B4-BE49-F238E27FC236}">
                <a16:creationId xmlns:a16="http://schemas.microsoft.com/office/drawing/2014/main" id="{2B599C6F-45CE-5EFD-DD0B-06795C422755}"/>
              </a:ext>
            </a:extLst>
          </p:cNvPr>
          <p:cNvGrpSpPr/>
          <p:nvPr/>
        </p:nvGrpSpPr>
        <p:grpSpPr>
          <a:xfrm>
            <a:off x="512180" y="340201"/>
            <a:ext cx="1024476" cy="1155825"/>
            <a:chOff x="8042313" y="340201"/>
            <a:chExt cx="1024476" cy="1155825"/>
          </a:xfrm>
        </p:grpSpPr>
        <p:sp>
          <p:nvSpPr>
            <p:cNvPr id="29" name="Rectangle">
              <a:extLst>
                <a:ext uri="{FF2B5EF4-FFF2-40B4-BE49-F238E27FC236}">
                  <a16:creationId xmlns:a16="http://schemas.microsoft.com/office/drawing/2014/main" id="{D0615833-27AC-ECD1-AEB6-76C0ADD132A4}"/>
                </a:ext>
              </a:extLst>
            </p:cNvPr>
            <p:cNvSpPr/>
            <p:nvPr/>
          </p:nvSpPr>
          <p:spPr>
            <a:xfrm>
              <a:off x="8042313" y="353850"/>
              <a:ext cx="1024476" cy="1142176"/>
            </a:xfrm>
            <a:prstGeom prst="rect">
              <a:avLst/>
            </a:prstGeom>
            <a:solidFill>
              <a:srgbClr val="0B0E16"/>
            </a:solidFill>
            <a:ln w="50800" cap="flat">
              <a:solidFill>
                <a:srgbClr val="0A0E17"/>
              </a:solidFill>
              <a:prstDash val="solid"/>
              <a:miter lim="400000"/>
            </a:ln>
            <a:effectLst>
              <a:outerShdw blurRad="63500" dist="63500" dir="2697698" rotWithShape="0">
                <a:srgbClr val="000000"/>
              </a:outerShdw>
            </a:effectLst>
          </p:spPr>
          <p:txBody>
            <a:bodyPr wrap="square" lIns="50800" tIns="50800" rIns="50800" bIns="50800" numCol="1" anchor="ctr">
              <a:noAutofit/>
            </a:bodyPr>
            <a:lstStyle/>
            <a:p>
              <a:pPr marL="0" marR="0" algn="ctr" defTabSz="825500">
                <a:defRPr sz="5000" spc="-349">
                  <a:ln>
                    <a:noFill/>
                  </a:ln>
                  <a:effectLst/>
                  <a:latin typeface="Roboto Regular Black"/>
                  <a:ea typeface="Roboto Regular Black"/>
                  <a:cs typeface="Roboto Regular Black"/>
                  <a:sym typeface="Roboto Regular Black"/>
                </a:defRPr>
              </a:pPr>
              <a:endParaRPr/>
            </a:p>
          </p:txBody>
        </p:sp>
        <p:sp>
          <p:nvSpPr>
            <p:cNvPr id="30" name="1">
              <a:extLst>
                <a:ext uri="{FF2B5EF4-FFF2-40B4-BE49-F238E27FC236}">
                  <a16:creationId xmlns:a16="http://schemas.microsoft.com/office/drawing/2014/main" id="{C0FA14FD-288B-6A95-6696-98FB39C92FEF}"/>
                </a:ext>
              </a:extLst>
            </p:cNvPr>
            <p:cNvSpPr/>
            <p:nvPr/>
          </p:nvSpPr>
          <p:spPr>
            <a:xfrm>
              <a:off x="8054199" y="643063"/>
              <a:ext cx="1000704" cy="840752"/>
            </a:xfrm>
            <a:prstGeom prst="rect">
              <a:avLst/>
            </a:prstGeom>
            <a:solidFill>
              <a:srgbClr val="0B0E16"/>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7500" spc="-524">
                  <a:latin typeface="Roboto Regular Black"/>
                  <a:ea typeface="Roboto Regular Black"/>
                  <a:cs typeface="Roboto Regular Black"/>
                  <a:sym typeface="Roboto Regular Black"/>
                </a:defRPr>
              </a:lvl1pPr>
            </a:lstStyle>
            <a:p>
              <a:pPr>
                <a:defRPr>
                  <a:ln>
                    <a:noFill/>
                  </a:ln>
                  <a:effectLst/>
                </a:defRPr>
              </a:pPr>
              <a:r>
                <a:rPr sz="4800" dirty="0">
                  <a:solidFill>
                    <a:schemeClr val="bg1"/>
                  </a:solidFill>
                </a:rPr>
                <a:t>1</a:t>
              </a:r>
            </a:p>
          </p:txBody>
        </p:sp>
        <p:sp>
          <p:nvSpPr>
            <p:cNvPr id="31" name="CHECKPOINT">
              <a:extLst>
                <a:ext uri="{FF2B5EF4-FFF2-40B4-BE49-F238E27FC236}">
                  <a16:creationId xmlns:a16="http://schemas.microsoft.com/office/drawing/2014/main" id="{943C21B0-0669-751A-D622-AAD01103F22E}"/>
                </a:ext>
              </a:extLst>
            </p:cNvPr>
            <p:cNvSpPr/>
            <p:nvPr/>
          </p:nvSpPr>
          <p:spPr>
            <a:xfrm>
              <a:off x="8054199" y="340201"/>
              <a:ext cx="1000704" cy="287819"/>
            </a:xfrm>
            <a:prstGeom prst="rect">
              <a:avLst/>
            </a:prstGeom>
            <a:solidFill>
              <a:srgbClr val="F5C849"/>
            </a:solidFill>
            <a:ln w="50800" cap="flat">
              <a:solidFill>
                <a:srgbClr val="F5C849"/>
              </a:solidFill>
              <a:prstDash val="solid"/>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50800" tIns="50800" rIns="50800" bIns="50800" numCol="1" anchor="ctr">
              <a:noAutofit/>
            </a:bodyPr>
            <a:lstStyle>
              <a:lvl1pPr marL="0" marR="0" algn="ctr" defTabSz="825500">
                <a:defRPr sz="1500" spc="134">
                  <a:solidFill>
                    <a:srgbClr val="0A0E17"/>
                  </a:solidFill>
                  <a:latin typeface="Roboto Regular SemiBold"/>
                  <a:ea typeface="Roboto Regular SemiBold"/>
                  <a:cs typeface="Roboto Regular SemiBold"/>
                  <a:sym typeface="Roboto Regular SemiBold"/>
                </a:defRPr>
              </a:lvl1pPr>
            </a:lstStyle>
            <a:p>
              <a:pPr>
                <a:defRPr>
                  <a:ln>
                    <a:noFill/>
                  </a:ln>
                  <a:effectLst/>
                </a:defRPr>
              </a:pPr>
              <a:r>
                <a:rPr sz="900" dirty="0"/>
                <a:t>CHECKPOINT</a:t>
              </a:r>
            </a:p>
          </p:txBody>
        </p:sp>
      </p:grpSp>
      <p:sp>
        <p:nvSpPr>
          <p:cNvPr id="32" name="TextBox 31">
            <a:extLst>
              <a:ext uri="{FF2B5EF4-FFF2-40B4-BE49-F238E27FC236}">
                <a16:creationId xmlns:a16="http://schemas.microsoft.com/office/drawing/2014/main" id="{817D767D-3E31-6FFC-30DD-5FA9F886A32D}"/>
              </a:ext>
            </a:extLst>
          </p:cNvPr>
          <p:cNvSpPr txBox="1"/>
          <p:nvPr/>
        </p:nvSpPr>
        <p:spPr>
          <a:xfrm>
            <a:off x="640080" y="2249424"/>
            <a:ext cx="10908792" cy="2227890"/>
          </a:xfrm>
          <a:prstGeom prst="rect">
            <a:avLst/>
          </a:prstGeom>
          <a:noFill/>
        </p:spPr>
        <p:txBody>
          <a:bodyPr wrap="square" lIns="36576" tIns="10972" rIns="36576" bIns="10972">
            <a:spAutoFit/>
          </a:bodyPr>
          <a:lstStyle/>
          <a:p>
            <a:pPr algn="l">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First key point about the concept being introduced</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Second point — what this replaces or improves</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Third point — connect to the Deep in the Heart game</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Fourth point — Think About This: a question for the student</a:t>
            </a:r>
          </a:p>
          <a:p>
            <a:pPr>
              <a:spcBef>
                <a:spcPts val="700"/>
              </a:spcBef>
              <a:spcAft>
                <a:spcPts val="300"/>
              </a:spcAft>
              <a:buChar char="•"/>
            </a:pPr>
            <a:r>
              <a:rPr sz="2200" dirty="0">
                <a:solidFill>
                  <a:srgbClr val="F5F5F5"/>
                </a:solidFill>
                <a:latin typeface="Roboto Medium" panose="02000000000000000000" pitchFamily="2" charset="0"/>
                <a:ea typeface="Roboto Medium" panose="02000000000000000000" pitchFamily="2" charset="0"/>
              </a:rPr>
              <a:t>Fifth point — the takeaway before the demo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Time Guide</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PLAN YOUR SESSION — 90–120 MINUTES</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Rectangle 9"/>
          <p:cNvSpPr/>
          <p:nvPr/>
        </p:nvSpPr>
        <p:spPr>
          <a:xfrm>
            <a:off x="640080" y="2295144"/>
            <a:ext cx="3657600" cy="402336"/>
          </a:xfrm>
          <a:prstGeom prst="rect">
            <a:avLst/>
          </a:prstGeom>
          <a:solidFill>
            <a:srgbClr val="190C00"/>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1" name="TextBox 10"/>
          <p:cNvSpPr txBox="1"/>
          <p:nvPr/>
        </p:nvSpPr>
        <p:spPr>
          <a:xfrm>
            <a:off x="713232" y="2368296"/>
            <a:ext cx="3511296" cy="153888"/>
          </a:xfrm>
          <a:prstGeom prst="rect">
            <a:avLst/>
          </a:prstGeom>
          <a:noFill/>
        </p:spPr>
        <p:txBody>
          <a:bodyPr wrap="square" lIns="0" tIns="0" rIns="0" bIns="0">
            <a:spAutoFit/>
          </a:bodyPr>
          <a:lstStyle/>
          <a:p>
            <a:pPr algn="l"/>
            <a:r>
              <a:rPr sz="1000" dirty="0">
                <a:solidFill>
                  <a:srgbClr val="FF6B1A"/>
                </a:solidFill>
                <a:latin typeface="Roboto Medium" panose="02000000000000000000" pitchFamily="2" charset="0"/>
                <a:ea typeface="Roboto Medium" panose="02000000000000000000" pitchFamily="2" charset="0"/>
              </a:rPr>
              <a:t>CHECKPOINT</a:t>
            </a:r>
          </a:p>
        </p:txBody>
      </p:sp>
      <p:sp>
        <p:nvSpPr>
          <p:cNvPr id="12" name="Rectangle 11"/>
          <p:cNvSpPr/>
          <p:nvPr/>
        </p:nvSpPr>
        <p:spPr>
          <a:xfrm>
            <a:off x="4343400" y="2295144"/>
            <a:ext cx="1463040" cy="402336"/>
          </a:xfrm>
          <a:prstGeom prst="rect">
            <a:avLst/>
          </a:prstGeom>
          <a:solidFill>
            <a:srgbClr val="190C00"/>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3" name="TextBox 12"/>
          <p:cNvSpPr txBox="1"/>
          <p:nvPr/>
        </p:nvSpPr>
        <p:spPr>
          <a:xfrm>
            <a:off x="4416552" y="2368296"/>
            <a:ext cx="1316736" cy="153888"/>
          </a:xfrm>
          <a:prstGeom prst="rect">
            <a:avLst/>
          </a:prstGeom>
          <a:noFill/>
        </p:spPr>
        <p:txBody>
          <a:bodyPr wrap="square" lIns="0" tIns="0" rIns="0" bIns="0">
            <a:spAutoFit/>
          </a:bodyPr>
          <a:lstStyle/>
          <a:p>
            <a:pPr algn="l"/>
            <a:r>
              <a:rPr sz="1000" dirty="0">
                <a:solidFill>
                  <a:srgbClr val="FF6B1A"/>
                </a:solidFill>
                <a:latin typeface="Roboto Medium" panose="02000000000000000000" pitchFamily="2" charset="0"/>
                <a:ea typeface="Roboto Medium" panose="02000000000000000000" pitchFamily="2" charset="0"/>
              </a:rPr>
              <a:t>TIME</a:t>
            </a:r>
          </a:p>
        </p:txBody>
      </p:sp>
      <p:sp>
        <p:nvSpPr>
          <p:cNvPr id="14" name="Rectangle 13"/>
          <p:cNvSpPr/>
          <p:nvPr/>
        </p:nvSpPr>
        <p:spPr>
          <a:xfrm>
            <a:off x="5852160" y="2295144"/>
            <a:ext cx="5696712" cy="402336"/>
          </a:xfrm>
          <a:prstGeom prst="rect">
            <a:avLst/>
          </a:prstGeom>
          <a:solidFill>
            <a:srgbClr val="190C00"/>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5" name="TextBox 14"/>
          <p:cNvSpPr txBox="1"/>
          <p:nvPr/>
        </p:nvSpPr>
        <p:spPr>
          <a:xfrm>
            <a:off x="5925312" y="2368296"/>
            <a:ext cx="5550408" cy="153888"/>
          </a:xfrm>
          <a:prstGeom prst="rect">
            <a:avLst/>
          </a:prstGeom>
          <a:noFill/>
        </p:spPr>
        <p:txBody>
          <a:bodyPr wrap="square" lIns="0" tIns="0" rIns="0" bIns="0">
            <a:spAutoFit/>
          </a:bodyPr>
          <a:lstStyle/>
          <a:p>
            <a:pPr algn="l"/>
            <a:r>
              <a:rPr sz="1000" dirty="0">
                <a:solidFill>
                  <a:srgbClr val="FF6B1A"/>
                </a:solidFill>
                <a:latin typeface="Roboto Medium" panose="02000000000000000000" pitchFamily="2" charset="0"/>
                <a:ea typeface="Roboto Medium" panose="02000000000000000000" pitchFamily="2" charset="0"/>
              </a:rPr>
              <a:t>TASK</a:t>
            </a:r>
          </a:p>
        </p:txBody>
      </p:sp>
      <p:sp>
        <p:nvSpPr>
          <p:cNvPr id="16" name="Rectangle 15"/>
          <p:cNvSpPr/>
          <p:nvPr/>
        </p:nvSpPr>
        <p:spPr>
          <a:xfrm>
            <a:off x="640080" y="2697479"/>
            <a:ext cx="3657600"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7" name="TextBox 16"/>
          <p:cNvSpPr txBox="1"/>
          <p:nvPr/>
        </p:nvSpPr>
        <p:spPr>
          <a:xfrm>
            <a:off x="713232" y="2770632"/>
            <a:ext cx="3511296"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CP1: Load City Distances</a:t>
            </a:r>
          </a:p>
        </p:txBody>
      </p:sp>
      <p:sp>
        <p:nvSpPr>
          <p:cNvPr id="18" name="Rectangle 17"/>
          <p:cNvSpPr/>
          <p:nvPr/>
        </p:nvSpPr>
        <p:spPr>
          <a:xfrm>
            <a:off x="4343400" y="2697479"/>
            <a:ext cx="1463040"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9" name="TextBox 18"/>
          <p:cNvSpPr txBox="1"/>
          <p:nvPr/>
        </p:nvSpPr>
        <p:spPr>
          <a:xfrm>
            <a:off x="4416552" y="2770632"/>
            <a:ext cx="1316736"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25–30 min</a:t>
            </a:r>
          </a:p>
        </p:txBody>
      </p:sp>
      <p:sp>
        <p:nvSpPr>
          <p:cNvPr id="20" name="Rectangle 19"/>
          <p:cNvSpPr/>
          <p:nvPr/>
        </p:nvSpPr>
        <p:spPr>
          <a:xfrm>
            <a:off x="5852160" y="2697479"/>
            <a:ext cx="5696712"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1" name="TextBox 20"/>
          <p:cNvSpPr txBox="1"/>
          <p:nvPr/>
        </p:nvSpPr>
        <p:spPr>
          <a:xfrm>
            <a:off x="5925312" y="2770632"/>
            <a:ext cx="5550408"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Parse file into nested dictionary</a:t>
            </a:r>
          </a:p>
        </p:txBody>
      </p:sp>
      <p:sp>
        <p:nvSpPr>
          <p:cNvPr id="22" name="Rectangle 21"/>
          <p:cNvSpPr/>
          <p:nvPr/>
        </p:nvSpPr>
        <p:spPr>
          <a:xfrm>
            <a:off x="640080" y="3118103"/>
            <a:ext cx="3657600"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3" name="TextBox 22"/>
          <p:cNvSpPr txBox="1"/>
          <p:nvPr/>
        </p:nvSpPr>
        <p:spPr>
          <a:xfrm>
            <a:off x="713232" y="3191256"/>
            <a:ext cx="3511296"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CP2: Load City Info</a:t>
            </a:r>
          </a:p>
        </p:txBody>
      </p:sp>
      <p:sp>
        <p:nvSpPr>
          <p:cNvPr id="24" name="Rectangle 23"/>
          <p:cNvSpPr/>
          <p:nvPr/>
        </p:nvSpPr>
        <p:spPr>
          <a:xfrm>
            <a:off x="4343400" y="3118103"/>
            <a:ext cx="1463040"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5" name="TextBox 24"/>
          <p:cNvSpPr txBox="1"/>
          <p:nvPr/>
        </p:nvSpPr>
        <p:spPr>
          <a:xfrm>
            <a:off x="4416552" y="3191256"/>
            <a:ext cx="1316736"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20–25 min</a:t>
            </a:r>
          </a:p>
        </p:txBody>
      </p:sp>
      <p:sp>
        <p:nvSpPr>
          <p:cNvPr id="26" name="Rectangle 25"/>
          <p:cNvSpPr/>
          <p:nvPr/>
        </p:nvSpPr>
        <p:spPr>
          <a:xfrm>
            <a:off x="5852160" y="3118103"/>
            <a:ext cx="5696712"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7" name="TextBox 26"/>
          <p:cNvSpPr txBox="1"/>
          <p:nvPr/>
        </p:nvSpPr>
        <p:spPr>
          <a:xfrm>
            <a:off x="5925312" y="3191256"/>
            <a:ext cx="5550408"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Parse file into dictionary with nested data</a:t>
            </a:r>
          </a:p>
        </p:txBody>
      </p:sp>
      <p:sp>
        <p:nvSpPr>
          <p:cNvPr id="28" name="Rectangle 27"/>
          <p:cNvSpPr/>
          <p:nvPr/>
        </p:nvSpPr>
        <p:spPr>
          <a:xfrm>
            <a:off x="640080" y="3538728"/>
            <a:ext cx="3657600"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9" name="TextBox 28"/>
          <p:cNvSpPr txBox="1"/>
          <p:nvPr/>
        </p:nvSpPr>
        <p:spPr>
          <a:xfrm>
            <a:off x="713232" y="3611880"/>
            <a:ext cx="3511296"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CP3: Data-Driven Display</a:t>
            </a:r>
          </a:p>
        </p:txBody>
      </p:sp>
      <p:sp>
        <p:nvSpPr>
          <p:cNvPr id="30" name="Rectangle 29"/>
          <p:cNvSpPr/>
          <p:nvPr/>
        </p:nvSpPr>
        <p:spPr>
          <a:xfrm>
            <a:off x="4343400" y="3538728"/>
            <a:ext cx="1463040"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1" name="TextBox 30"/>
          <p:cNvSpPr txBox="1"/>
          <p:nvPr/>
        </p:nvSpPr>
        <p:spPr>
          <a:xfrm>
            <a:off x="4416552" y="3611880"/>
            <a:ext cx="1316736"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20–25 min</a:t>
            </a:r>
          </a:p>
        </p:txBody>
      </p:sp>
      <p:sp>
        <p:nvSpPr>
          <p:cNvPr id="32" name="Rectangle 31"/>
          <p:cNvSpPr/>
          <p:nvPr/>
        </p:nvSpPr>
        <p:spPr>
          <a:xfrm>
            <a:off x="5852160" y="3538728"/>
            <a:ext cx="5696712"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3" name="TextBox 32"/>
          <p:cNvSpPr txBox="1"/>
          <p:nvPr/>
        </p:nvSpPr>
        <p:spPr>
          <a:xfrm>
            <a:off x="5925312" y="3611880"/>
            <a:ext cx="5550408"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Display destinations from dictionary</a:t>
            </a:r>
          </a:p>
        </p:txBody>
      </p:sp>
      <p:sp>
        <p:nvSpPr>
          <p:cNvPr id="34" name="Rectangle 33"/>
          <p:cNvSpPr/>
          <p:nvPr/>
        </p:nvSpPr>
        <p:spPr>
          <a:xfrm>
            <a:off x="640080" y="3959351"/>
            <a:ext cx="3657600"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5" name="TextBox 34"/>
          <p:cNvSpPr txBox="1"/>
          <p:nvPr/>
        </p:nvSpPr>
        <p:spPr>
          <a:xfrm>
            <a:off x="713232" y="4032503"/>
            <a:ext cx="3511296"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CP4: Complete Game Loop</a:t>
            </a:r>
          </a:p>
        </p:txBody>
      </p:sp>
      <p:sp>
        <p:nvSpPr>
          <p:cNvPr id="36" name="Rectangle 35"/>
          <p:cNvSpPr/>
          <p:nvPr/>
        </p:nvSpPr>
        <p:spPr>
          <a:xfrm>
            <a:off x="4343400" y="3959351"/>
            <a:ext cx="1463040"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7" name="TextBox 36"/>
          <p:cNvSpPr txBox="1"/>
          <p:nvPr/>
        </p:nvSpPr>
        <p:spPr>
          <a:xfrm>
            <a:off x="4416552" y="4032503"/>
            <a:ext cx="1316736"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25–30 min</a:t>
            </a:r>
          </a:p>
        </p:txBody>
      </p:sp>
      <p:sp>
        <p:nvSpPr>
          <p:cNvPr id="38" name="Rectangle 37"/>
          <p:cNvSpPr/>
          <p:nvPr/>
        </p:nvSpPr>
        <p:spPr>
          <a:xfrm>
            <a:off x="5852160" y="3959351"/>
            <a:ext cx="5696712" cy="402336"/>
          </a:xfrm>
          <a:prstGeom prst="rect">
            <a:avLst/>
          </a:prstGeom>
          <a:solidFill>
            <a:srgbClr val="141414"/>
          </a:solidFill>
          <a:ln w="12700">
            <a:solidFill>
              <a:srgbClr val="28282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9" name="TextBox 38"/>
          <p:cNvSpPr txBox="1"/>
          <p:nvPr/>
        </p:nvSpPr>
        <p:spPr>
          <a:xfrm>
            <a:off x="5925312" y="4032503"/>
            <a:ext cx="5550408" cy="169277"/>
          </a:xfrm>
          <a:prstGeom prst="rect">
            <a:avLst/>
          </a:prstGeom>
          <a:noFill/>
        </p:spPr>
        <p:txBody>
          <a:bodyPr wrap="square" lIns="0" tIns="0" rIns="0" bIns="0">
            <a:spAutoFit/>
          </a:bodyPr>
          <a:lstStyle/>
          <a:p>
            <a:pPr algn="l"/>
            <a:r>
              <a:rPr sz="1100" dirty="0">
                <a:solidFill>
                  <a:srgbClr val="F5F5F5"/>
                </a:solidFill>
                <a:latin typeface="Roboto Medium" panose="02000000000000000000" pitchFamily="2" charset="0"/>
                <a:ea typeface="Roboto Medium" panose="02000000000000000000" pitchFamily="2" charset="0"/>
              </a:rPr>
              <a:t>Integrate all functions, clean input</a:t>
            </a:r>
          </a:p>
        </p:txBody>
      </p:sp>
      <p:sp>
        <p:nvSpPr>
          <p:cNvPr id="40" name="Rectangle 39"/>
          <p:cNvSpPr/>
          <p:nvPr/>
        </p:nvSpPr>
        <p:spPr>
          <a:xfrm>
            <a:off x="640080" y="4379976"/>
            <a:ext cx="3657600" cy="402336"/>
          </a:xfrm>
          <a:prstGeom prst="rect">
            <a:avLst/>
          </a:prstGeom>
          <a:solidFill>
            <a:srgbClr val="0F0F0F"/>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41" name="TextBox 40"/>
          <p:cNvSpPr txBox="1"/>
          <p:nvPr/>
        </p:nvSpPr>
        <p:spPr>
          <a:xfrm>
            <a:off x="713232" y="4453128"/>
            <a:ext cx="3511296" cy="169277"/>
          </a:xfrm>
          <a:prstGeom prst="rect">
            <a:avLst/>
          </a:prstGeom>
          <a:noFill/>
        </p:spPr>
        <p:txBody>
          <a:bodyPr wrap="square" lIns="0" tIns="0" rIns="0" bIns="0">
            <a:spAutoFit/>
          </a:bodyPr>
          <a:lstStyle/>
          <a:p>
            <a:pPr algn="l"/>
            <a:r>
              <a:rPr sz="1100" dirty="0">
                <a:solidFill>
                  <a:srgbClr val="FFCC00"/>
                </a:solidFill>
                <a:latin typeface="Roboto Medium" panose="02000000000000000000" pitchFamily="2" charset="0"/>
                <a:ea typeface="Roboto Medium" panose="02000000000000000000" pitchFamily="2" charset="0"/>
              </a:rPr>
              <a:t>Total Estimated Time</a:t>
            </a:r>
          </a:p>
        </p:txBody>
      </p:sp>
      <p:sp>
        <p:nvSpPr>
          <p:cNvPr id="42" name="Rectangle 41"/>
          <p:cNvSpPr/>
          <p:nvPr/>
        </p:nvSpPr>
        <p:spPr>
          <a:xfrm>
            <a:off x="4343400" y="4379976"/>
            <a:ext cx="1463040" cy="402336"/>
          </a:xfrm>
          <a:prstGeom prst="rect">
            <a:avLst/>
          </a:prstGeom>
          <a:solidFill>
            <a:srgbClr val="0F0F0F"/>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43" name="TextBox 42"/>
          <p:cNvSpPr txBox="1"/>
          <p:nvPr/>
        </p:nvSpPr>
        <p:spPr>
          <a:xfrm>
            <a:off x="4416552" y="4453128"/>
            <a:ext cx="1316736" cy="276999"/>
          </a:xfrm>
          <a:prstGeom prst="rect">
            <a:avLst/>
          </a:prstGeom>
          <a:noFill/>
        </p:spPr>
        <p:txBody>
          <a:bodyPr wrap="square" lIns="0" tIns="0" rIns="0" bIns="0">
            <a:spAutoFit/>
          </a:bodyPr>
          <a:lstStyle/>
          <a:p>
            <a:pPr algn="l"/>
            <a:endParaRPr dirty="0">
              <a:latin typeface="Roboto Medium" panose="02000000000000000000" pitchFamily="2" charset="0"/>
              <a:ea typeface="Roboto Medium" panose="02000000000000000000" pitchFamily="2" charset="0"/>
            </a:endParaRPr>
          </a:p>
        </p:txBody>
      </p:sp>
      <p:sp>
        <p:nvSpPr>
          <p:cNvPr id="44" name="Rectangle 43"/>
          <p:cNvSpPr/>
          <p:nvPr/>
        </p:nvSpPr>
        <p:spPr>
          <a:xfrm>
            <a:off x="5852160" y="4379976"/>
            <a:ext cx="5696712" cy="402336"/>
          </a:xfrm>
          <a:prstGeom prst="rect">
            <a:avLst/>
          </a:prstGeom>
          <a:solidFill>
            <a:srgbClr val="0F0F0F"/>
          </a:solidFill>
          <a:ln w="12700">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45" name="TextBox 44"/>
          <p:cNvSpPr txBox="1"/>
          <p:nvPr/>
        </p:nvSpPr>
        <p:spPr>
          <a:xfrm>
            <a:off x="5925312" y="4453128"/>
            <a:ext cx="5550408" cy="169277"/>
          </a:xfrm>
          <a:prstGeom prst="rect">
            <a:avLst/>
          </a:prstGeom>
          <a:noFill/>
        </p:spPr>
        <p:txBody>
          <a:bodyPr wrap="square" lIns="0" tIns="0" rIns="0" bIns="0">
            <a:spAutoFit/>
          </a:bodyPr>
          <a:lstStyle/>
          <a:p>
            <a:pPr algn="l"/>
            <a:r>
              <a:rPr sz="1100" dirty="0">
                <a:solidFill>
                  <a:srgbClr val="FFCC00"/>
                </a:solidFill>
                <a:latin typeface="Roboto Medium" panose="02000000000000000000" pitchFamily="2" charset="0"/>
                <a:ea typeface="Roboto Medium" panose="02000000000000000000" pitchFamily="2" charset="0"/>
              </a:rPr>
              <a:t>90–120 Minutes</a:t>
            </a:r>
          </a:p>
        </p:txBody>
      </p:sp>
      <p:sp>
        <p:nvSpPr>
          <p:cNvPr id="46" name="Oval 45"/>
          <p:cNvSpPr/>
          <p:nvPr/>
        </p:nvSpPr>
        <p:spPr>
          <a:xfrm>
            <a:off x="640080" y="5393224"/>
            <a:ext cx="384048" cy="384048"/>
          </a:xfrm>
          <a:prstGeom prst="ellipse">
            <a:avLst/>
          </a:prstGeom>
          <a:solidFill>
            <a:srgbClr val="00FFFF"/>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47" name="TextBox 46"/>
          <p:cNvSpPr txBox="1"/>
          <p:nvPr/>
        </p:nvSpPr>
        <p:spPr>
          <a:xfrm>
            <a:off x="722376" y="5464525"/>
            <a:ext cx="256032" cy="268380"/>
          </a:xfrm>
          <a:prstGeom prst="rect">
            <a:avLst/>
          </a:prstGeom>
          <a:noFill/>
        </p:spPr>
        <p:txBody>
          <a:bodyPr wrap="square" lIns="36576" tIns="10972" rIns="36576" bIns="10972">
            <a:spAutoFit/>
          </a:bodyPr>
          <a:lstStyle/>
          <a:p>
            <a:pPr algn="ctr"/>
            <a:r>
              <a:rPr sz="1600" b="1" dirty="0">
                <a:solidFill>
                  <a:srgbClr val="F5F5F5"/>
                </a:solidFill>
                <a:latin typeface="Roboto Slab" pitchFamily="2" charset="0"/>
              </a:rPr>
              <a:t>💡</a:t>
            </a:r>
          </a:p>
        </p:txBody>
      </p:sp>
      <p:sp>
        <p:nvSpPr>
          <p:cNvPr id="48" name="Rectangle 47"/>
          <p:cNvSpPr/>
          <p:nvPr/>
        </p:nvSpPr>
        <p:spPr>
          <a:xfrm>
            <a:off x="1143000" y="5320072"/>
            <a:ext cx="10314432" cy="658368"/>
          </a:xfrm>
          <a:prstGeom prst="rect">
            <a:avLst/>
          </a:prstGeom>
          <a:solidFill>
            <a:srgbClr val="0F1919"/>
          </a:solidFill>
          <a:ln w="25400">
            <a:solidFill>
              <a:srgbClr val="00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49" name="TextBox 48"/>
          <p:cNvSpPr txBox="1"/>
          <p:nvPr/>
        </p:nvSpPr>
        <p:spPr>
          <a:xfrm>
            <a:off x="1280160" y="5374935"/>
            <a:ext cx="10177272" cy="169277"/>
          </a:xfrm>
          <a:prstGeom prst="rect">
            <a:avLst/>
          </a:prstGeom>
          <a:noFill/>
        </p:spPr>
        <p:txBody>
          <a:bodyPr wrap="square" lIns="0" tIns="0" rIns="0" bIns="0">
            <a:spAutoFit/>
          </a:bodyPr>
          <a:lstStyle/>
          <a:p>
            <a:pPr algn="l"/>
            <a:r>
              <a:rPr sz="1100" b="1" dirty="0">
                <a:solidFill>
                  <a:srgbClr val="00FFFF"/>
                </a:solidFill>
                <a:latin typeface="Roboto Slab" pitchFamily="2" charset="0"/>
              </a:rPr>
              <a:t>STRATEGY</a:t>
            </a:r>
          </a:p>
        </p:txBody>
      </p:sp>
      <p:sp>
        <p:nvSpPr>
          <p:cNvPr id="50" name="TextBox 49"/>
          <p:cNvSpPr txBox="1"/>
          <p:nvPr/>
        </p:nvSpPr>
        <p:spPr>
          <a:xfrm>
            <a:off x="1280160" y="5594392"/>
            <a:ext cx="10177272" cy="169277"/>
          </a:xfrm>
          <a:prstGeom prst="rect">
            <a:avLst/>
          </a:prstGeom>
          <a:noFill/>
        </p:spPr>
        <p:txBody>
          <a:bodyPr wrap="square" lIns="0" tIns="0" rIns="0" bIns="0">
            <a:spAutoFit/>
          </a:bodyPr>
          <a:lstStyle/>
          <a:p>
            <a:pPr algn="l"/>
            <a:r>
              <a:rPr sz="1100" b="1" dirty="0">
                <a:solidFill>
                  <a:srgbClr val="F5F5F5"/>
                </a:solidFill>
                <a:latin typeface="Roboto Slab" pitchFamily="2" charset="0"/>
              </a:rPr>
              <a:t>Focus on getting the data structure right before wiring it into the game. Test each function in isolation.</a:t>
            </a:r>
          </a:p>
        </p:txBody>
      </p:sp>
      <p:pic>
        <p:nvPicPr>
          <p:cNvPr id="52" name="Picture 51">
            <a:extLst>
              <a:ext uri="{FF2B5EF4-FFF2-40B4-BE49-F238E27FC236}">
                <a16:creationId xmlns:a16="http://schemas.microsoft.com/office/drawing/2014/main" id="{61A55A1A-ACCE-A59A-4924-24C29726FCE7}"/>
              </a:ext>
            </a:extLst>
          </p:cNvPr>
          <p:cNvPicPr>
            <a:picLocks noChangeAspect="1"/>
          </p:cNvPicPr>
          <p:nvPr/>
        </p:nvPicPr>
        <p:blipFill>
          <a:blip r:embed="rId3"/>
          <a:srcRect/>
          <a:stretch/>
        </p:blipFill>
        <p:spPr>
          <a:xfrm>
            <a:off x="4725900" y="6473952"/>
            <a:ext cx="2526839" cy="365760"/>
          </a:xfrm>
          <a:prstGeom prst="rect">
            <a:avLst/>
          </a:prstGeom>
        </p:spPr>
      </p:pic>
      <p:pic>
        <p:nvPicPr>
          <p:cNvPr id="53" name="Picture 52">
            <a:extLst>
              <a:ext uri="{FF2B5EF4-FFF2-40B4-BE49-F238E27FC236}">
                <a16:creationId xmlns:a16="http://schemas.microsoft.com/office/drawing/2014/main" id="{BFBCA2E2-6491-5254-6805-8E0CBC52FBE8}"/>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8EF0351-E6AB-3575-BBC5-2D41B961A804}"/>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E9693AE-DF71-E536-68FA-470E0EE806CE}"/>
              </a:ext>
            </a:extLst>
          </p:cNvPr>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a:extLst>
              <a:ext uri="{FF2B5EF4-FFF2-40B4-BE49-F238E27FC236}">
                <a16:creationId xmlns:a16="http://schemas.microsoft.com/office/drawing/2014/main" id="{D1C324D6-03BF-1135-AF34-B0743F153C19}"/>
              </a:ext>
            </a:extLst>
          </p:cNvPr>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a:extLst>
              <a:ext uri="{FF2B5EF4-FFF2-40B4-BE49-F238E27FC236}">
                <a16:creationId xmlns:a16="http://schemas.microsoft.com/office/drawing/2014/main" id="{455D21A5-38F9-6448-E0CC-4DBCB5115F19}"/>
              </a:ext>
            </a:extLst>
          </p:cNvPr>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Final Checklist</a:t>
            </a:r>
          </a:p>
        </p:txBody>
      </p:sp>
      <p:sp>
        <p:nvSpPr>
          <p:cNvPr id="6" name="Rectangle 5">
            <a:extLst>
              <a:ext uri="{FF2B5EF4-FFF2-40B4-BE49-F238E27FC236}">
                <a16:creationId xmlns:a16="http://schemas.microsoft.com/office/drawing/2014/main" id="{1FF6F861-9DFF-F16E-8F39-8C4348B50B24}"/>
              </a:ext>
            </a:extLst>
          </p:cNvPr>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a:extLst>
              <a:ext uri="{FF2B5EF4-FFF2-40B4-BE49-F238E27FC236}">
                <a16:creationId xmlns:a16="http://schemas.microsoft.com/office/drawing/2014/main" id="{B2B05F9C-3846-A94C-BB8E-76BE741064DF}"/>
              </a:ext>
            </a:extLst>
          </p:cNvPr>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BEFORE YOU SUBMIT</a:t>
            </a:r>
          </a:p>
        </p:txBody>
      </p:sp>
      <p:sp>
        <p:nvSpPr>
          <p:cNvPr id="9" name="Rectangle 8">
            <a:extLst>
              <a:ext uri="{FF2B5EF4-FFF2-40B4-BE49-F238E27FC236}">
                <a16:creationId xmlns:a16="http://schemas.microsoft.com/office/drawing/2014/main" id="{DD16B908-4AA9-A1A0-09CC-FBBCA5ED90DA}"/>
              </a:ext>
            </a:extLst>
          </p:cNvPr>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Rectangle 9">
            <a:extLst>
              <a:ext uri="{FF2B5EF4-FFF2-40B4-BE49-F238E27FC236}">
                <a16:creationId xmlns:a16="http://schemas.microsoft.com/office/drawing/2014/main" id="{390F660C-B316-922B-BBE2-F54EC99A24D2}"/>
              </a:ext>
            </a:extLst>
          </p:cNvPr>
          <p:cNvSpPr/>
          <p:nvPr/>
        </p:nvSpPr>
        <p:spPr>
          <a:xfrm>
            <a:off x="640080" y="2286000"/>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1" name="TextBox 10">
            <a:extLst>
              <a:ext uri="{FF2B5EF4-FFF2-40B4-BE49-F238E27FC236}">
                <a16:creationId xmlns:a16="http://schemas.microsoft.com/office/drawing/2014/main" id="{1A2934AF-8A4B-F6D3-DCB6-D92E063EDC08}"/>
              </a:ext>
            </a:extLst>
          </p:cNvPr>
          <p:cNvSpPr txBox="1"/>
          <p:nvPr/>
        </p:nvSpPr>
        <p:spPr>
          <a:xfrm>
            <a:off x="1024128" y="2286000"/>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File is named exactly `lab-4-1.py`</a:t>
            </a:r>
          </a:p>
        </p:txBody>
      </p:sp>
      <p:sp>
        <p:nvSpPr>
          <p:cNvPr id="12" name="Rectangle 11">
            <a:extLst>
              <a:ext uri="{FF2B5EF4-FFF2-40B4-BE49-F238E27FC236}">
                <a16:creationId xmlns:a16="http://schemas.microsoft.com/office/drawing/2014/main" id="{FF8A50AF-A18A-8D4E-AA1D-908CC0DB0DA1}"/>
              </a:ext>
            </a:extLst>
          </p:cNvPr>
          <p:cNvSpPr/>
          <p:nvPr/>
        </p:nvSpPr>
        <p:spPr>
          <a:xfrm>
            <a:off x="640080" y="2761488"/>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3" name="TextBox 12">
            <a:extLst>
              <a:ext uri="{FF2B5EF4-FFF2-40B4-BE49-F238E27FC236}">
                <a16:creationId xmlns:a16="http://schemas.microsoft.com/office/drawing/2014/main" id="{E8CB6A21-C445-8A19-DB7E-1F518926CEA8}"/>
              </a:ext>
            </a:extLst>
          </p:cNvPr>
          <p:cNvSpPr txBox="1"/>
          <p:nvPr/>
        </p:nvSpPr>
        <p:spPr>
          <a:xfrm>
            <a:off x="1024128" y="2761488"/>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Docstring includes your name, abc123, section, and description</a:t>
            </a:r>
          </a:p>
        </p:txBody>
      </p:sp>
      <p:sp>
        <p:nvSpPr>
          <p:cNvPr id="14" name="Rectangle 13">
            <a:extLst>
              <a:ext uri="{FF2B5EF4-FFF2-40B4-BE49-F238E27FC236}">
                <a16:creationId xmlns:a16="http://schemas.microsoft.com/office/drawing/2014/main" id="{F7F928FB-CF44-724F-8D3C-51348D36866D}"/>
              </a:ext>
            </a:extLst>
          </p:cNvPr>
          <p:cNvSpPr/>
          <p:nvPr/>
        </p:nvSpPr>
        <p:spPr>
          <a:xfrm>
            <a:off x="640080" y="3236976"/>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5" name="TextBox 14">
            <a:extLst>
              <a:ext uri="{FF2B5EF4-FFF2-40B4-BE49-F238E27FC236}">
                <a16:creationId xmlns:a16="http://schemas.microsoft.com/office/drawing/2014/main" id="{8B57B124-1C65-6F63-0BB9-53493D397D56}"/>
              </a:ext>
            </a:extLst>
          </p:cNvPr>
          <p:cNvSpPr txBox="1"/>
          <p:nvPr/>
        </p:nvSpPr>
        <p:spPr>
          <a:xfrm>
            <a:off x="1024128" y="3236976"/>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Uses `.strip()` and `.split(',')` to parse file data</a:t>
            </a:r>
          </a:p>
        </p:txBody>
      </p:sp>
      <p:sp>
        <p:nvSpPr>
          <p:cNvPr id="16" name="Rectangle 15">
            <a:extLst>
              <a:ext uri="{FF2B5EF4-FFF2-40B4-BE49-F238E27FC236}">
                <a16:creationId xmlns:a16="http://schemas.microsoft.com/office/drawing/2014/main" id="{340CFD4F-A1DB-016C-CCE3-1AFED7503D83}"/>
              </a:ext>
            </a:extLst>
          </p:cNvPr>
          <p:cNvSpPr/>
          <p:nvPr/>
        </p:nvSpPr>
        <p:spPr>
          <a:xfrm>
            <a:off x="640080" y="3712463"/>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7" name="TextBox 16">
            <a:extLst>
              <a:ext uri="{FF2B5EF4-FFF2-40B4-BE49-F238E27FC236}">
                <a16:creationId xmlns:a16="http://schemas.microsoft.com/office/drawing/2014/main" id="{8A1705C1-6CB1-8F9B-AF33-A207F07BF8CF}"/>
              </a:ext>
            </a:extLst>
          </p:cNvPr>
          <p:cNvSpPr txBox="1"/>
          <p:nvPr/>
        </p:nvSpPr>
        <p:spPr>
          <a:xfrm>
            <a:off x="1024128" y="3712463"/>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Uses dictionaries (not hardcoded constants) to store city data</a:t>
            </a:r>
          </a:p>
        </p:txBody>
      </p:sp>
      <p:sp>
        <p:nvSpPr>
          <p:cNvPr id="18" name="Rectangle 17">
            <a:extLst>
              <a:ext uri="{FF2B5EF4-FFF2-40B4-BE49-F238E27FC236}">
                <a16:creationId xmlns:a16="http://schemas.microsoft.com/office/drawing/2014/main" id="{AC77EB2A-A1AF-F332-77AF-F6B92EB9377B}"/>
              </a:ext>
            </a:extLst>
          </p:cNvPr>
          <p:cNvSpPr/>
          <p:nvPr/>
        </p:nvSpPr>
        <p:spPr>
          <a:xfrm>
            <a:off x="640080" y="4187952"/>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9" name="TextBox 18">
            <a:extLst>
              <a:ext uri="{FF2B5EF4-FFF2-40B4-BE49-F238E27FC236}">
                <a16:creationId xmlns:a16="http://schemas.microsoft.com/office/drawing/2014/main" id="{62E3A6B1-CA26-3F52-1ACE-8872C6205455}"/>
              </a:ext>
            </a:extLst>
          </p:cNvPr>
          <p:cNvSpPr txBox="1"/>
          <p:nvPr/>
        </p:nvSpPr>
        <p:spPr>
          <a:xfrm>
            <a:off x="1024128" y="4187952"/>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All DEBUG/test code has been removed</a:t>
            </a:r>
          </a:p>
        </p:txBody>
      </p:sp>
      <p:sp>
        <p:nvSpPr>
          <p:cNvPr id="20" name="Rectangle 19">
            <a:extLst>
              <a:ext uri="{FF2B5EF4-FFF2-40B4-BE49-F238E27FC236}">
                <a16:creationId xmlns:a16="http://schemas.microsoft.com/office/drawing/2014/main" id="{F1DB5749-6BCD-458D-9219-0DD912AAD362}"/>
              </a:ext>
            </a:extLst>
          </p:cNvPr>
          <p:cNvSpPr/>
          <p:nvPr/>
        </p:nvSpPr>
        <p:spPr>
          <a:xfrm>
            <a:off x="640080" y="4663440"/>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1" name="TextBox 20">
            <a:extLst>
              <a:ext uri="{FF2B5EF4-FFF2-40B4-BE49-F238E27FC236}">
                <a16:creationId xmlns:a16="http://schemas.microsoft.com/office/drawing/2014/main" id="{A1FA3253-5683-4A79-CF62-E662A9B8F089}"/>
              </a:ext>
            </a:extLst>
          </p:cNvPr>
          <p:cNvSpPr txBox="1"/>
          <p:nvPr/>
        </p:nvSpPr>
        <p:spPr>
          <a:xfrm>
            <a:off x="1024128" y="4663440"/>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No syntax errors when you run the program</a:t>
            </a:r>
          </a:p>
        </p:txBody>
      </p:sp>
      <p:sp>
        <p:nvSpPr>
          <p:cNvPr id="22" name="Rectangle 21">
            <a:extLst>
              <a:ext uri="{FF2B5EF4-FFF2-40B4-BE49-F238E27FC236}">
                <a16:creationId xmlns:a16="http://schemas.microsoft.com/office/drawing/2014/main" id="{6A58FC22-10E7-E270-891C-C83C304C6BD1}"/>
              </a:ext>
            </a:extLst>
          </p:cNvPr>
          <p:cNvSpPr/>
          <p:nvPr/>
        </p:nvSpPr>
        <p:spPr>
          <a:xfrm>
            <a:off x="640080" y="5138928"/>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3" name="TextBox 22">
            <a:extLst>
              <a:ext uri="{FF2B5EF4-FFF2-40B4-BE49-F238E27FC236}">
                <a16:creationId xmlns:a16="http://schemas.microsoft.com/office/drawing/2014/main" id="{7DA320C6-6F29-36E6-12DD-BE4330A054D9}"/>
              </a:ext>
            </a:extLst>
          </p:cNvPr>
          <p:cNvSpPr txBox="1"/>
          <p:nvPr/>
        </p:nvSpPr>
        <p:spPr>
          <a:xfrm>
            <a:off x="1024128" y="5138928"/>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Unlimited submissions — submit early, submit often</a:t>
            </a:r>
          </a:p>
        </p:txBody>
      </p:sp>
      <p:pic>
        <p:nvPicPr>
          <p:cNvPr id="25" name="Picture 24">
            <a:extLst>
              <a:ext uri="{FF2B5EF4-FFF2-40B4-BE49-F238E27FC236}">
                <a16:creationId xmlns:a16="http://schemas.microsoft.com/office/drawing/2014/main" id="{DC5F24C3-DADC-F4DE-F65A-3C36A6DDDE59}"/>
              </a:ext>
            </a:extLst>
          </p:cNvPr>
          <p:cNvPicPr>
            <a:picLocks noChangeAspect="1"/>
          </p:cNvPicPr>
          <p:nvPr/>
        </p:nvPicPr>
        <p:blipFill>
          <a:blip r:embed="rId3"/>
          <a:srcRect/>
          <a:stretch/>
        </p:blipFill>
        <p:spPr>
          <a:xfrm>
            <a:off x="4725900" y="6473952"/>
            <a:ext cx="2526839" cy="365760"/>
          </a:xfrm>
          <a:prstGeom prst="rect">
            <a:avLst/>
          </a:prstGeom>
        </p:spPr>
      </p:pic>
      <p:pic>
        <p:nvPicPr>
          <p:cNvPr id="26" name="Picture 25">
            <a:extLst>
              <a:ext uri="{FF2B5EF4-FFF2-40B4-BE49-F238E27FC236}">
                <a16:creationId xmlns:a16="http://schemas.microsoft.com/office/drawing/2014/main" id="{9FBC9A2A-AD8A-6049-FAE6-FF5E9C0B4CE8}"/>
              </a:ext>
            </a:extLst>
          </p:cNvPr>
          <p:cNvPicPr>
            <a:picLocks noChangeAspect="1"/>
          </p:cNvPicPr>
          <p:nvPr/>
        </p:nvPicPr>
        <p:blipFill>
          <a:blip r:embed="rId4"/>
          <a:stretch>
            <a:fillRect/>
          </a:stretch>
        </p:blipFill>
        <p:spPr>
          <a:xfrm>
            <a:off x="9811911" y="274320"/>
            <a:ext cx="1992993" cy="1300447"/>
          </a:xfrm>
          <a:prstGeom prst="rect">
            <a:avLst/>
          </a:prstGeom>
        </p:spPr>
      </p:pic>
    </p:spTree>
    <p:extLst>
      <p:ext uri="{BB962C8B-B14F-4D97-AF65-F5344CB8AC3E}">
        <p14:creationId xmlns:p14="http://schemas.microsoft.com/office/powerpoint/2010/main" val="1479278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365514B-722F-D390-52B7-89F1D445703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66ECB0F-690C-7672-29F8-A3E4B33DA7F2}"/>
              </a:ext>
            </a:extLst>
          </p:cNvPr>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a:extLst>
              <a:ext uri="{FF2B5EF4-FFF2-40B4-BE49-F238E27FC236}">
                <a16:creationId xmlns:a16="http://schemas.microsoft.com/office/drawing/2014/main" id="{4A84FFC0-6A0D-9EDA-1DB7-984103B86838}"/>
              </a:ext>
            </a:extLst>
          </p:cNvPr>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a:extLst>
              <a:ext uri="{FF2B5EF4-FFF2-40B4-BE49-F238E27FC236}">
                <a16:creationId xmlns:a16="http://schemas.microsoft.com/office/drawing/2014/main" id="{E5BBCBAB-8E9F-3E13-A6A6-F95E2F73E29E}"/>
              </a:ext>
            </a:extLst>
          </p:cNvPr>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Final Checklist</a:t>
            </a:r>
          </a:p>
        </p:txBody>
      </p:sp>
      <p:sp>
        <p:nvSpPr>
          <p:cNvPr id="6" name="Rectangle 5">
            <a:extLst>
              <a:ext uri="{FF2B5EF4-FFF2-40B4-BE49-F238E27FC236}">
                <a16:creationId xmlns:a16="http://schemas.microsoft.com/office/drawing/2014/main" id="{CC742EBD-AE04-2798-FF2F-7AF946E849A2}"/>
              </a:ext>
            </a:extLst>
          </p:cNvPr>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a:extLst>
              <a:ext uri="{FF2B5EF4-FFF2-40B4-BE49-F238E27FC236}">
                <a16:creationId xmlns:a16="http://schemas.microsoft.com/office/drawing/2014/main" id="{8E2E9FBF-7975-CD78-B2CB-87E75B329788}"/>
              </a:ext>
            </a:extLst>
          </p:cNvPr>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BEFORE YOU SUBMIT</a:t>
            </a:r>
          </a:p>
        </p:txBody>
      </p:sp>
      <p:sp>
        <p:nvSpPr>
          <p:cNvPr id="9" name="Rectangle 8">
            <a:extLst>
              <a:ext uri="{FF2B5EF4-FFF2-40B4-BE49-F238E27FC236}">
                <a16:creationId xmlns:a16="http://schemas.microsoft.com/office/drawing/2014/main" id="{667F378E-811F-107D-3732-E432BDE4C5A9}"/>
              </a:ext>
            </a:extLst>
          </p:cNvPr>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Rectangle 9">
            <a:extLst>
              <a:ext uri="{FF2B5EF4-FFF2-40B4-BE49-F238E27FC236}">
                <a16:creationId xmlns:a16="http://schemas.microsoft.com/office/drawing/2014/main" id="{5A8077FE-B8A2-7B43-F7A0-DDEE8E0F66E8}"/>
              </a:ext>
            </a:extLst>
          </p:cNvPr>
          <p:cNvSpPr/>
          <p:nvPr/>
        </p:nvSpPr>
        <p:spPr>
          <a:xfrm>
            <a:off x="640080" y="2286000"/>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1" name="TextBox 10">
            <a:extLst>
              <a:ext uri="{FF2B5EF4-FFF2-40B4-BE49-F238E27FC236}">
                <a16:creationId xmlns:a16="http://schemas.microsoft.com/office/drawing/2014/main" id="{E03E507B-9E22-6FA3-5ABE-4A7DDE1FB3E4}"/>
              </a:ext>
            </a:extLst>
          </p:cNvPr>
          <p:cNvSpPr txBox="1"/>
          <p:nvPr/>
        </p:nvSpPr>
        <p:spPr>
          <a:xfrm>
            <a:off x="1024128" y="2286000"/>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File is named exactly `lab-4-1.py`</a:t>
            </a:r>
          </a:p>
        </p:txBody>
      </p:sp>
      <p:sp>
        <p:nvSpPr>
          <p:cNvPr id="12" name="Rectangle 11">
            <a:extLst>
              <a:ext uri="{FF2B5EF4-FFF2-40B4-BE49-F238E27FC236}">
                <a16:creationId xmlns:a16="http://schemas.microsoft.com/office/drawing/2014/main" id="{6A95A8CC-E38C-6CA8-DC24-AD0F3928876A}"/>
              </a:ext>
            </a:extLst>
          </p:cNvPr>
          <p:cNvSpPr/>
          <p:nvPr/>
        </p:nvSpPr>
        <p:spPr>
          <a:xfrm>
            <a:off x="640080" y="2761488"/>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3" name="TextBox 12">
            <a:extLst>
              <a:ext uri="{FF2B5EF4-FFF2-40B4-BE49-F238E27FC236}">
                <a16:creationId xmlns:a16="http://schemas.microsoft.com/office/drawing/2014/main" id="{96A5C6BC-272A-6704-1832-9F6969AAC7DE}"/>
              </a:ext>
            </a:extLst>
          </p:cNvPr>
          <p:cNvSpPr txBox="1"/>
          <p:nvPr/>
        </p:nvSpPr>
        <p:spPr>
          <a:xfrm>
            <a:off x="1024128" y="2761488"/>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Docstring includes your name, abc123, section, and description</a:t>
            </a:r>
          </a:p>
        </p:txBody>
      </p:sp>
      <p:sp>
        <p:nvSpPr>
          <p:cNvPr id="14" name="Rectangle 13">
            <a:extLst>
              <a:ext uri="{FF2B5EF4-FFF2-40B4-BE49-F238E27FC236}">
                <a16:creationId xmlns:a16="http://schemas.microsoft.com/office/drawing/2014/main" id="{E68C2790-E7CE-AEF3-CD9E-621AEFB860ED}"/>
              </a:ext>
            </a:extLst>
          </p:cNvPr>
          <p:cNvSpPr/>
          <p:nvPr/>
        </p:nvSpPr>
        <p:spPr>
          <a:xfrm>
            <a:off x="640080" y="3236976"/>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5" name="TextBox 14">
            <a:extLst>
              <a:ext uri="{FF2B5EF4-FFF2-40B4-BE49-F238E27FC236}">
                <a16:creationId xmlns:a16="http://schemas.microsoft.com/office/drawing/2014/main" id="{E944CFDA-43C7-3A88-46EC-354B00244C7D}"/>
              </a:ext>
            </a:extLst>
          </p:cNvPr>
          <p:cNvSpPr txBox="1"/>
          <p:nvPr/>
        </p:nvSpPr>
        <p:spPr>
          <a:xfrm>
            <a:off x="1024128" y="3236976"/>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Uses `.strip()` and `.split(',')` to parse file data</a:t>
            </a:r>
          </a:p>
        </p:txBody>
      </p:sp>
      <p:sp>
        <p:nvSpPr>
          <p:cNvPr id="16" name="Rectangle 15">
            <a:extLst>
              <a:ext uri="{FF2B5EF4-FFF2-40B4-BE49-F238E27FC236}">
                <a16:creationId xmlns:a16="http://schemas.microsoft.com/office/drawing/2014/main" id="{25EF5BD7-14C2-045E-DA93-78D599D42C92}"/>
              </a:ext>
            </a:extLst>
          </p:cNvPr>
          <p:cNvSpPr/>
          <p:nvPr/>
        </p:nvSpPr>
        <p:spPr>
          <a:xfrm>
            <a:off x="640080" y="3712463"/>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7" name="TextBox 16">
            <a:extLst>
              <a:ext uri="{FF2B5EF4-FFF2-40B4-BE49-F238E27FC236}">
                <a16:creationId xmlns:a16="http://schemas.microsoft.com/office/drawing/2014/main" id="{AE4CBA3D-EFF5-5B3F-B18E-F566E6646E03}"/>
              </a:ext>
            </a:extLst>
          </p:cNvPr>
          <p:cNvSpPr txBox="1"/>
          <p:nvPr/>
        </p:nvSpPr>
        <p:spPr>
          <a:xfrm>
            <a:off x="1024128" y="3712463"/>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Uses dictionaries (not hardcoded constants) to store city data</a:t>
            </a:r>
          </a:p>
        </p:txBody>
      </p:sp>
      <p:sp>
        <p:nvSpPr>
          <p:cNvPr id="18" name="Rectangle 17">
            <a:extLst>
              <a:ext uri="{FF2B5EF4-FFF2-40B4-BE49-F238E27FC236}">
                <a16:creationId xmlns:a16="http://schemas.microsoft.com/office/drawing/2014/main" id="{D7DD2028-766A-B94B-F11C-622A5209E749}"/>
              </a:ext>
            </a:extLst>
          </p:cNvPr>
          <p:cNvSpPr/>
          <p:nvPr/>
        </p:nvSpPr>
        <p:spPr>
          <a:xfrm>
            <a:off x="640080" y="4187952"/>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9" name="TextBox 18">
            <a:extLst>
              <a:ext uri="{FF2B5EF4-FFF2-40B4-BE49-F238E27FC236}">
                <a16:creationId xmlns:a16="http://schemas.microsoft.com/office/drawing/2014/main" id="{21F18D05-1C26-BF6A-8798-F30D6CBFEC4C}"/>
              </a:ext>
            </a:extLst>
          </p:cNvPr>
          <p:cNvSpPr txBox="1"/>
          <p:nvPr/>
        </p:nvSpPr>
        <p:spPr>
          <a:xfrm>
            <a:off x="1024128" y="4187952"/>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All DEBUG/test code has been removed</a:t>
            </a:r>
          </a:p>
        </p:txBody>
      </p:sp>
      <p:sp>
        <p:nvSpPr>
          <p:cNvPr id="20" name="Rectangle 19">
            <a:extLst>
              <a:ext uri="{FF2B5EF4-FFF2-40B4-BE49-F238E27FC236}">
                <a16:creationId xmlns:a16="http://schemas.microsoft.com/office/drawing/2014/main" id="{C4DEC916-75ED-FED0-B6EC-DB61BAECA3C0}"/>
              </a:ext>
            </a:extLst>
          </p:cNvPr>
          <p:cNvSpPr/>
          <p:nvPr/>
        </p:nvSpPr>
        <p:spPr>
          <a:xfrm>
            <a:off x="640080" y="4663440"/>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1" name="TextBox 20">
            <a:extLst>
              <a:ext uri="{FF2B5EF4-FFF2-40B4-BE49-F238E27FC236}">
                <a16:creationId xmlns:a16="http://schemas.microsoft.com/office/drawing/2014/main" id="{85F26A37-47CD-B21A-1C3D-6FC9685287EA}"/>
              </a:ext>
            </a:extLst>
          </p:cNvPr>
          <p:cNvSpPr txBox="1"/>
          <p:nvPr/>
        </p:nvSpPr>
        <p:spPr>
          <a:xfrm>
            <a:off x="1024128" y="4663440"/>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No syntax errors when you run the program</a:t>
            </a:r>
          </a:p>
        </p:txBody>
      </p:sp>
      <p:sp>
        <p:nvSpPr>
          <p:cNvPr id="22" name="Rectangle 21">
            <a:extLst>
              <a:ext uri="{FF2B5EF4-FFF2-40B4-BE49-F238E27FC236}">
                <a16:creationId xmlns:a16="http://schemas.microsoft.com/office/drawing/2014/main" id="{6747020E-8583-FA36-2464-8FFA62087656}"/>
              </a:ext>
            </a:extLst>
          </p:cNvPr>
          <p:cNvSpPr/>
          <p:nvPr/>
        </p:nvSpPr>
        <p:spPr>
          <a:xfrm>
            <a:off x="640080" y="5138928"/>
            <a:ext cx="256032" cy="256032"/>
          </a:xfrm>
          <a:prstGeom prst="rect">
            <a:avLst/>
          </a:prstGeom>
          <a:solidFill>
            <a:srgbClr val="0A0A0A"/>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3" name="TextBox 22">
            <a:extLst>
              <a:ext uri="{FF2B5EF4-FFF2-40B4-BE49-F238E27FC236}">
                <a16:creationId xmlns:a16="http://schemas.microsoft.com/office/drawing/2014/main" id="{0397A801-2273-72BC-A516-35299A722B1E}"/>
              </a:ext>
            </a:extLst>
          </p:cNvPr>
          <p:cNvSpPr txBox="1"/>
          <p:nvPr/>
        </p:nvSpPr>
        <p:spPr>
          <a:xfrm>
            <a:off x="1024128" y="5138928"/>
            <a:ext cx="10469880" cy="276999"/>
          </a:xfrm>
          <a:prstGeom prst="rect">
            <a:avLst/>
          </a:prstGeom>
          <a:noFill/>
        </p:spPr>
        <p:txBody>
          <a:bodyPr wrap="square" lIns="0" tIns="0" rIns="0" bIns="0">
            <a:spAutoFit/>
          </a:bodyPr>
          <a:lstStyle/>
          <a:p>
            <a:pPr algn="l"/>
            <a:r>
              <a:rPr sz="1800" dirty="0">
                <a:solidFill>
                  <a:srgbClr val="F5F5F5"/>
                </a:solidFill>
                <a:latin typeface="Roboto Medium" panose="02000000000000000000" pitchFamily="2" charset="0"/>
                <a:ea typeface="Roboto Medium" panose="02000000000000000000" pitchFamily="2" charset="0"/>
              </a:rPr>
              <a:t>Unlimited submissions — submit early, submit often</a:t>
            </a:r>
          </a:p>
        </p:txBody>
      </p:sp>
      <p:pic>
        <p:nvPicPr>
          <p:cNvPr id="25" name="Picture 24">
            <a:extLst>
              <a:ext uri="{FF2B5EF4-FFF2-40B4-BE49-F238E27FC236}">
                <a16:creationId xmlns:a16="http://schemas.microsoft.com/office/drawing/2014/main" id="{43835CAB-7D9A-2BB5-BA28-79F999611EC4}"/>
              </a:ext>
            </a:extLst>
          </p:cNvPr>
          <p:cNvPicPr>
            <a:picLocks noChangeAspect="1"/>
          </p:cNvPicPr>
          <p:nvPr/>
        </p:nvPicPr>
        <p:blipFill>
          <a:blip r:embed="rId3"/>
          <a:srcRect/>
          <a:stretch/>
        </p:blipFill>
        <p:spPr>
          <a:xfrm>
            <a:off x="4725900" y="6473952"/>
            <a:ext cx="2526839" cy="365760"/>
          </a:xfrm>
          <a:prstGeom prst="rect">
            <a:avLst/>
          </a:prstGeom>
        </p:spPr>
      </p:pic>
      <p:pic>
        <p:nvPicPr>
          <p:cNvPr id="26" name="Picture 25">
            <a:extLst>
              <a:ext uri="{FF2B5EF4-FFF2-40B4-BE49-F238E27FC236}">
                <a16:creationId xmlns:a16="http://schemas.microsoft.com/office/drawing/2014/main" id="{B2F92313-47F1-98A6-2441-D7B2EC528F60}"/>
              </a:ext>
            </a:extLst>
          </p:cNvPr>
          <p:cNvPicPr>
            <a:picLocks noChangeAspect="1"/>
          </p:cNvPicPr>
          <p:nvPr/>
        </p:nvPicPr>
        <p:blipFill>
          <a:blip r:embed="rId4"/>
          <a:stretch>
            <a:fillRect/>
          </a:stretch>
        </p:blipFill>
        <p:spPr>
          <a:xfrm>
            <a:off x="9811911" y="274320"/>
            <a:ext cx="1992993" cy="1300447"/>
          </a:xfrm>
          <a:prstGeom prst="rect">
            <a:avLst/>
          </a:prstGeom>
        </p:spPr>
      </p:pic>
    </p:spTree>
    <p:extLst>
      <p:ext uri="{BB962C8B-B14F-4D97-AF65-F5344CB8AC3E}">
        <p14:creationId xmlns:p14="http://schemas.microsoft.com/office/powerpoint/2010/main" val="544190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Save Your Code</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SUCCESS CALLOUT</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Oval 9"/>
          <p:cNvSpPr/>
          <p:nvPr/>
        </p:nvSpPr>
        <p:spPr>
          <a:xfrm>
            <a:off x="640080" y="2304288"/>
            <a:ext cx="502920" cy="502920"/>
          </a:xfrm>
          <a:prstGeom prst="ellipse">
            <a:avLst/>
          </a:prstGeom>
          <a:solidFill>
            <a:srgbClr val="39FF14"/>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1" name="TextBox 10"/>
          <p:cNvSpPr txBox="1"/>
          <p:nvPr/>
        </p:nvSpPr>
        <p:spPr>
          <a:xfrm>
            <a:off x="685800" y="2340864"/>
            <a:ext cx="411480" cy="299157"/>
          </a:xfrm>
          <a:prstGeom prst="rect">
            <a:avLst/>
          </a:prstGeom>
          <a:noFill/>
        </p:spPr>
        <p:txBody>
          <a:bodyPr wrap="square" lIns="36576" tIns="10972" rIns="36576" bIns="10972">
            <a:spAutoFit/>
          </a:bodyPr>
          <a:lstStyle/>
          <a:p>
            <a:pPr algn="ctr"/>
            <a:r>
              <a:rPr sz="1800" b="1" dirty="0">
                <a:solidFill>
                  <a:srgbClr val="000000"/>
                </a:solidFill>
                <a:latin typeface="Roboto Slab" pitchFamily="2" charset="0"/>
              </a:rPr>
              <a:t>✓</a:t>
            </a:r>
          </a:p>
        </p:txBody>
      </p:sp>
      <p:sp>
        <p:nvSpPr>
          <p:cNvPr id="12" name="Rectangle 11"/>
          <p:cNvSpPr/>
          <p:nvPr/>
        </p:nvSpPr>
        <p:spPr>
          <a:xfrm>
            <a:off x="1325880" y="2249424"/>
            <a:ext cx="10177272" cy="1463040"/>
          </a:xfrm>
          <a:prstGeom prst="rect">
            <a:avLst/>
          </a:prstGeom>
          <a:solidFill>
            <a:srgbClr val="0F0F0F"/>
          </a:solidFill>
          <a:ln w="25400">
            <a:solidFill>
              <a:srgbClr val="39FF1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3" name="TextBox 12"/>
          <p:cNvSpPr txBox="1"/>
          <p:nvPr/>
        </p:nvSpPr>
        <p:spPr>
          <a:xfrm>
            <a:off x="1472184" y="2340864"/>
            <a:ext cx="9884663" cy="184666"/>
          </a:xfrm>
          <a:prstGeom prst="rect">
            <a:avLst/>
          </a:prstGeom>
          <a:noFill/>
        </p:spPr>
        <p:txBody>
          <a:bodyPr wrap="square" lIns="0" tIns="0" rIns="0" bIns="0">
            <a:spAutoFit/>
          </a:bodyPr>
          <a:lstStyle/>
          <a:p>
            <a:pPr algn="l"/>
            <a:r>
              <a:rPr sz="1200" b="1" dirty="0">
                <a:solidFill>
                  <a:srgbClr val="39FF14"/>
                </a:solidFill>
                <a:latin typeface="Roboto Slab" pitchFamily="2" charset="0"/>
              </a:rPr>
              <a:t>SAVE YOUR CODE</a:t>
            </a:r>
          </a:p>
        </p:txBody>
      </p:sp>
      <p:sp>
        <p:nvSpPr>
          <p:cNvPr id="14" name="TextBox 13"/>
          <p:cNvSpPr txBox="1"/>
          <p:nvPr/>
        </p:nvSpPr>
        <p:spPr>
          <a:xfrm>
            <a:off x="1472184" y="2651760"/>
            <a:ext cx="9884663" cy="215444"/>
          </a:xfrm>
          <a:prstGeom prst="rect">
            <a:avLst/>
          </a:prstGeom>
          <a:noFill/>
        </p:spPr>
        <p:txBody>
          <a:bodyPr wrap="square" lIns="0" tIns="0" rIns="0" bIns="0">
            <a:spAutoFit/>
          </a:bodyPr>
          <a:lstStyle/>
          <a:p>
            <a:pPr algn="l"/>
            <a:r>
              <a:rPr sz="1400" dirty="0">
                <a:solidFill>
                  <a:srgbClr val="F5F5F5"/>
                </a:solidFill>
                <a:latin typeface="Roboto Medium" panose="02000000000000000000" pitchFamily="2" charset="0"/>
                <a:ea typeface="Roboto Medium" panose="02000000000000000000" pitchFamily="2" charset="0"/>
              </a:rPr>
              <a:t>Keep `lab-4-1.py` — the next lab adds string method input handling directly on top of your file-loading foundation.</a:t>
            </a:r>
          </a:p>
        </p:txBody>
      </p:sp>
      <p:pic>
        <p:nvPicPr>
          <p:cNvPr id="16" name="Picture 15">
            <a:extLst>
              <a:ext uri="{FF2B5EF4-FFF2-40B4-BE49-F238E27FC236}">
                <a16:creationId xmlns:a16="http://schemas.microsoft.com/office/drawing/2014/main" id="{1E0FF590-C0A7-D49A-3AE1-BD5ADF3244FE}"/>
              </a:ext>
            </a:extLst>
          </p:cNvPr>
          <p:cNvPicPr>
            <a:picLocks noChangeAspect="1"/>
          </p:cNvPicPr>
          <p:nvPr/>
        </p:nvPicPr>
        <p:blipFill>
          <a:blip r:embed="rId3"/>
          <a:srcRect/>
          <a:stretch/>
        </p:blipFill>
        <p:spPr>
          <a:xfrm>
            <a:off x="4725900" y="6473952"/>
            <a:ext cx="2526839" cy="365760"/>
          </a:xfrm>
          <a:prstGeom prst="rect">
            <a:avLst/>
          </a:prstGeom>
        </p:spPr>
      </p:pic>
      <p:pic>
        <p:nvPicPr>
          <p:cNvPr id="17" name="Picture 16">
            <a:extLst>
              <a:ext uri="{FF2B5EF4-FFF2-40B4-BE49-F238E27FC236}">
                <a16:creationId xmlns:a16="http://schemas.microsoft.com/office/drawing/2014/main" id="{62EA5752-39CA-CF27-C71E-0D7E63B82C08}"/>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Heads Up!</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WARNING CALLOUT</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Oval 9"/>
          <p:cNvSpPr/>
          <p:nvPr/>
        </p:nvSpPr>
        <p:spPr>
          <a:xfrm>
            <a:off x="640080" y="2304288"/>
            <a:ext cx="502920" cy="502920"/>
          </a:xfrm>
          <a:prstGeom prst="ellipse">
            <a:avLst/>
          </a:prstGeom>
          <a:solidFill>
            <a:srgbClr val="FF1744"/>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1" name="TextBox 10"/>
          <p:cNvSpPr txBox="1"/>
          <p:nvPr/>
        </p:nvSpPr>
        <p:spPr>
          <a:xfrm>
            <a:off x="685800" y="2410314"/>
            <a:ext cx="411480" cy="299157"/>
          </a:xfrm>
          <a:prstGeom prst="rect">
            <a:avLst/>
          </a:prstGeom>
          <a:noFill/>
        </p:spPr>
        <p:txBody>
          <a:bodyPr wrap="square" lIns="36576" tIns="10972" rIns="36576" bIns="10972">
            <a:spAutoFit/>
          </a:bodyPr>
          <a:lstStyle/>
          <a:p>
            <a:pPr algn="ctr"/>
            <a:r>
              <a:rPr sz="1800" b="1" dirty="0">
                <a:solidFill>
                  <a:srgbClr val="000000"/>
                </a:solidFill>
                <a:latin typeface="Roboto Slab" pitchFamily="2" charset="0"/>
              </a:rPr>
              <a:t>⚠</a:t>
            </a:r>
          </a:p>
        </p:txBody>
      </p:sp>
      <p:sp>
        <p:nvSpPr>
          <p:cNvPr id="12" name="Rectangle 11"/>
          <p:cNvSpPr/>
          <p:nvPr/>
        </p:nvSpPr>
        <p:spPr>
          <a:xfrm>
            <a:off x="1325880" y="2249424"/>
            <a:ext cx="10177272" cy="1463040"/>
          </a:xfrm>
          <a:prstGeom prst="rect">
            <a:avLst/>
          </a:prstGeom>
          <a:solidFill>
            <a:srgbClr val="0F0F0F"/>
          </a:solidFill>
          <a:ln w="25400">
            <a:solidFill>
              <a:srgbClr val="FF1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3" name="TextBox 12"/>
          <p:cNvSpPr txBox="1"/>
          <p:nvPr/>
        </p:nvSpPr>
        <p:spPr>
          <a:xfrm>
            <a:off x="1472184" y="2340864"/>
            <a:ext cx="9884663" cy="184666"/>
          </a:xfrm>
          <a:prstGeom prst="rect">
            <a:avLst/>
          </a:prstGeom>
          <a:noFill/>
        </p:spPr>
        <p:txBody>
          <a:bodyPr wrap="square" lIns="0" tIns="0" rIns="0" bIns="0">
            <a:spAutoFit/>
          </a:bodyPr>
          <a:lstStyle/>
          <a:p>
            <a:pPr algn="l"/>
            <a:r>
              <a:rPr sz="1200" b="1" dirty="0">
                <a:solidFill>
                  <a:srgbClr val="FF1744"/>
                </a:solidFill>
                <a:latin typeface="Roboto Slab" pitchFamily="2" charset="0"/>
              </a:rPr>
              <a:t>HEADS UP</a:t>
            </a:r>
          </a:p>
        </p:txBody>
      </p:sp>
      <p:sp>
        <p:nvSpPr>
          <p:cNvPr id="14" name="TextBox 13"/>
          <p:cNvSpPr txBox="1"/>
          <p:nvPr/>
        </p:nvSpPr>
        <p:spPr>
          <a:xfrm>
            <a:off x="1472184" y="2651760"/>
            <a:ext cx="9884663" cy="215444"/>
          </a:xfrm>
          <a:prstGeom prst="rect">
            <a:avLst/>
          </a:prstGeom>
          <a:noFill/>
        </p:spPr>
        <p:txBody>
          <a:bodyPr wrap="square" lIns="0" tIns="0" rIns="0" bIns="0">
            <a:spAutoFit/>
          </a:bodyPr>
          <a:lstStyle/>
          <a:p>
            <a:pPr algn="l"/>
            <a:r>
              <a:rPr sz="1400" dirty="0">
                <a:solidFill>
                  <a:srgbClr val="F5F5F5"/>
                </a:solidFill>
                <a:latin typeface="Roboto Medium" panose="02000000000000000000" pitchFamily="2" charset="0"/>
                <a:ea typeface="Roboto Medium" panose="02000000000000000000" pitchFamily="2" charset="0"/>
              </a:rPr>
              <a:t>This is a common mistake that causes </a:t>
            </a:r>
            <a:r>
              <a:rPr sz="1400" dirty="0" err="1">
                <a:solidFill>
                  <a:srgbClr val="F5F5F5"/>
                </a:solidFill>
                <a:latin typeface="Roboto Medium" panose="02000000000000000000" pitchFamily="2" charset="0"/>
                <a:ea typeface="Roboto Medium" panose="02000000000000000000" pitchFamily="2" charset="0"/>
              </a:rPr>
              <a:t>CodeGrade</a:t>
            </a:r>
            <a:r>
              <a:rPr sz="1400" dirty="0">
                <a:solidFill>
                  <a:srgbClr val="F5F5F5"/>
                </a:solidFill>
                <a:latin typeface="Roboto Medium" panose="02000000000000000000" pitchFamily="2" charset="0"/>
                <a:ea typeface="Roboto Medium" panose="02000000000000000000" pitchFamily="2" charset="0"/>
              </a:rPr>
              <a:t> to fail. Read the instructions carefully before writing any code.</a:t>
            </a:r>
          </a:p>
        </p:txBody>
      </p:sp>
      <p:pic>
        <p:nvPicPr>
          <p:cNvPr id="16" name="Picture 15">
            <a:extLst>
              <a:ext uri="{FF2B5EF4-FFF2-40B4-BE49-F238E27FC236}">
                <a16:creationId xmlns:a16="http://schemas.microsoft.com/office/drawing/2014/main" id="{BF07C2A6-6C0A-0805-8FFF-B811B4D16F62}"/>
              </a:ext>
            </a:extLst>
          </p:cNvPr>
          <p:cNvPicPr>
            <a:picLocks noChangeAspect="1"/>
          </p:cNvPicPr>
          <p:nvPr/>
        </p:nvPicPr>
        <p:blipFill>
          <a:blip r:embed="rId3"/>
          <a:srcRect/>
          <a:stretch/>
        </p:blipFill>
        <p:spPr>
          <a:xfrm>
            <a:off x="4725900" y="6473952"/>
            <a:ext cx="2526839" cy="365760"/>
          </a:xfrm>
          <a:prstGeom prst="rect">
            <a:avLst/>
          </a:prstGeom>
        </p:spPr>
      </p:pic>
      <p:pic>
        <p:nvPicPr>
          <p:cNvPr id="17" name="Picture 16">
            <a:extLst>
              <a:ext uri="{FF2B5EF4-FFF2-40B4-BE49-F238E27FC236}">
                <a16:creationId xmlns:a16="http://schemas.microsoft.com/office/drawing/2014/main" id="{4BAB2843-320F-BA1C-EEEF-8F22C80E8321}"/>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Pro Tip</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TIP CALLOUT</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Oval 9"/>
          <p:cNvSpPr/>
          <p:nvPr/>
        </p:nvSpPr>
        <p:spPr>
          <a:xfrm>
            <a:off x="640080" y="2304288"/>
            <a:ext cx="502920" cy="502920"/>
          </a:xfrm>
          <a:prstGeom prst="ellipse">
            <a:avLst/>
          </a:prstGeom>
          <a:solidFill>
            <a:srgbClr val="00FFFF"/>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1" name="TextBox 10"/>
          <p:cNvSpPr txBox="1"/>
          <p:nvPr/>
        </p:nvSpPr>
        <p:spPr>
          <a:xfrm>
            <a:off x="685800" y="2410314"/>
            <a:ext cx="411480" cy="299157"/>
          </a:xfrm>
          <a:prstGeom prst="rect">
            <a:avLst/>
          </a:prstGeom>
          <a:noFill/>
        </p:spPr>
        <p:txBody>
          <a:bodyPr wrap="square" lIns="36576" tIns="10972" rIns="36576" bIns="10972">
            <a:spAutoFit/>
          </a:bodyPr>
          <a:lstStyle/>
          <a:p>
            <a:pPr algn="ctr"/>
            <a:r>
              <a:rPr sz="1800" b="1" dirty="0">
                <a:solidFill>
                  <a:srgbClr val="000000"/>
                </a:solidFill>
                <a:latin typeface="Roboto Slab" pitchFamily="2" charset="0"/>
              </a:rPr>
              <a:t>★</a:t>
            </a:r>
          </a:p>
        </p:txBody>
      </p:sp>
      <p:sp>
        <p:nvSpPr>
          <p:cNvPr id="12" name="Rectangle 11"/>
          <p:cNvSpPr/>
          <p:nvPr/>
        </p:nvSpPr>
        <p:spPr>
          <a:xfrm>
            <a:off x="1325880" y="2249424"/>
            <a:ext cx="10177272" cy="1463040"/>
          </a:xfrm>
          <a:prstGeom prst="rect">
            <a:avLst/>
          </a:prstGeom>
          <a:solidFill>
            <a:srgbClr val="0F0F0F"/>
          </a:solidFill>
          <a:ln w="25400">
            <a:solidFill>
              <a:srgbClr val="00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3" name="TextBox 12"/>
          <p:cNvSpPr txBox="1"/>
          <p:nvPr/>
        </p:nvSpPr>
        <p:spPr>
          <a:xfrm>
            <a:off x="1472184" y="2340864"/>
            <a:ext cx="9884663" cy="184666"/>
          </a:xfrm>
          <a:prstGeom prst="rect">
            <a:avLst/>
          </a:prstGeom>
          <a:noFill/>
        </p:spPr>
        <p:txBody>
          <a:bodyPr wrap="square" lIns="0" tIns="0" rIns="0" bIns="0">
            <a:spAutoFit/>
          </a:bodyPr>
          <a:lstStyle/>
          <a:p>
            <a:pPr algn="l"/>
            <a:r>
              <a:rPr sz="1200" b="1" dirty="0">
                <a:solidFill>
                  <a:srgbClr val="00FFFF"/>
                </a:solidFill>
                <a:latin typeface="Roboto Slab" pitchFamily="2" charset="0"/>
              </a:rPr>
              <a:t>PRO TIP</a:t>
            </a:r>
          </a:p>
        </p:txBody>
      </p:sp>
      <p:sp>
        <p:nvSpPr>
          <p:cNvPr id="14" name="TextBox 13"/>
          <p:cNvSpPr txBox="1"/>
          <p:nvPr/>
        </p:nvSpPr>
        <p:spPr>
          <a:xfrm>
            <a:off x="1472184" y="2651760"/>
            <a:ext cx="9884663" cy="215444"/>
          </a:xfrm>
          <a:prstGeom prst="rect">
            <a:avLst/>
          </a:prstGeom>
          <a:noFill/>
        </p:spPr>
        <p:txBody>
          <a:bodyPr wrap="square" lIns="0" tIns="0" rIns="0" bIns="0">
            <a:spAutoFit/>
          </a:bodyPr>
          <a:lstStyle/>
          <a:p>
            <a:pPr algn="l"/>
            <a:r>
              <a:rPr sz="1400" dirty="0">
                <a:solidFill>
                  <a:srgbClr val="F5F5F5"/>
                </a:solidFill>
                <a:latin typeface="Roboto Medium" panose="02000000000000000000" pitchFamily="2" charset="0"/>
                <a:ea typeface="Roboto Medium" panose="02000000000000000000" pitchFamily="2" charset="0"/>
              </a:rPr>
              <a:t>This technique will save you time across all your future checkpoints. Add it to your toolkit now.</a:t>
            </a:r>
          </a:p>
        </p:txBody>
      </p:sp>
      <p:pic>
        <p:nvPicPr>
          <p:cNvPr id="16" name="Picture 15">
            <a:extLst>
              <a:ext uri="{FF2B5EF4-FFF2-40B4-BE49-F238E27FC236}">
                <a16:creationId xmlns:a16="http://schemas.microsoft.com/office/drawing/2014/main" id="{80F221E4-EF52-D79C-3518-1AB6E705A4BB}"/>
              </a:ext>
            </a:extLst>
          </p:cNvPr>
          <p:cNvPicPr>
            <a:picLocks noChangeAspect="1"/>
          </p:cNvPicPr>
          <p:nvPr/>
        </p:nvPicPr>
        <p:blipFill>
          <a:blip r:embed="rId3"/>
          <a:srcRect/>
          <a:stretch/>
        </p:blipFill>
        <p:spPr>
          <a:xfrm>
            <a:off x="4725900" y="6473952"/>
            <a:ext cx="2526839" cy="365760"/>
          </a:xfrm>
          <a:prstGeom prst="rect">
            <a:avLst/>
          </a:prstGeom>
        </p:spPr>
      </p:pic>
      <p:pic>
        <p:nvPicPr>
          <p:cNvPr id="17" name="Picture 16">
            <a:extLst>
              <a:ext uri="{FF2B5EF4-FFF2-40B4-BE49-F238E27FC236}">
                <a16:creationId xmlns:a16="http://schemas.microsoft.com/office/drawing/2014/main" id="{CA958304-867D-F944-70E6-C68E4550FB19}"/>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7E54369-C61E-4C83-0F8F-F4C7D0D468D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BCC9BCC-7484-3629-6903-B6835D217A1D}"/>
              </a:ext>
            </a:extLst>
          </p:cNvPr>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a:extLst>
              <a:ext uri="{FF2B5EF4-FFF2-40B4-BE49-F238E27FC236}">
                <a16:creationId xmlns:a16="http://schemas.microsoft.com/office/drawing/2014/main" id="{130A4E63-8AF9-AEC8-EA1C-3423225A80D2}"/>
              </a:ext>
            </a:extLst>
          </p:cNvPr>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a:extLst>
              <a:ext uri="{FF2B5EF4-FFF2-40B4-BE49-F238E27FC236}">
                <a16:creationId xmlns:a16="http://schemas.microsoft.com/office/drawing/2014/main" id="{7269A927-FA1E-B922-1BC4-C5E493036BE4}"/>
              </a:ext>
            </a:extLst>
          </p:cNvPr>
          <p:cNvSpPr txBox="1"/>
          <p:nvPr/>
        </p:nvSpPr>
        <p:spPr>
          <a:xfrm>
            <a:off x="512064" y="411480"/>
            <a:ext cx="8869680" cy="677108"/>
          </a:xfrm>
          <a:prstGeom prst="rect">
            <a:avLst/>
          </a:prstGeom>
          <a:noFill/>
        </p:spPr>
        <p:txBody>
          <a:bodyPr wrap="square" lIns="0" tIns="0" rIns="0" bIns="0">
            <a:spAutoFit/>
          </a:bodyPr>
          <a:lstStyle/>
          <a:p>
            <a:pPr algn="l"/>
            <a:r>
              <a:rPr sz="4400" b="1" dirty="0" err="1">
                <a:solidFill>
                  <a:srgbClr val="F5F5F5"/>
                </a:solidFill>
                <a:latin typeface="Roboto Slab" pitchFamily="2" charset="0"/>
              </a:rPr>
              <a:t>BookEx</a:t>
            </a:r>
            <a:r>
              <a:rPr sz="4400" b="1" dirty="0">
                <a:solidFill>
                  <a:srgbClr val="F5F5F5"/>
                </a:solidFill>
                <a:latin typeface="Roboto Slab" pitchFamily="2" charset="0"/>
              </a:rPr>
              <a:t> Patterns</a:t>
            </a:r>
          </a:p>
        </p:txBody>
      </p:sp>
      <p:sp>
        <p:nvSpPr>
          <p:cNvPr id="6" name="Rectangle 5">
            <a:extLst>
              <a:ext uri="{FF2B5EF4-FFF2-40B4-BE49-F238E27FC236}">
                <a16:creationId xmlns:a16="http://schemas.microsoft.com/office/drawing/2014/main" id="{EFB0D634-DD71-99AC-4718-A39D8CA862E8}"/>
              </a:ext>
            </a:extLst>
          </p:cNvPr>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a:extLst>
              <a:ext uri="{FF2B5EF4-FFF2-40B4-BE49-F238E27FC236}">
                <a16:creationId xmlns:a16="http://schemas.microsoft.com/office/drawing/2014/main" id="{70562AE4-475A-4ED8-DCC7-C7A2DF83C00D}"/>
              </a:ext>
            </a:extLst>
          </p:cNvPr>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BOOKEX REFERENCE</a:t>
            </a:r>
          </a:p>
        </p:txBody>
      </p:sp>
      <p:sp>
        <p:nvSpPr>
          <p:cNvPr id="9" name="Rectangle 8">
            <a:extLst>
              <a:ext uri="{FF2B5EF4-FFF2-40B4-BE49-F238E27FC236}">
                <a16:creationId xmlns:a16="http://schemas.microsoft.com/office/drawing/2014/main" id="{BA2A0107-9A55-B055-F51A-71CD98DF5E18}"/>
              </a:ext>
            </a:extLst>
          </p:cNvPr>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Oval 9">
            <a:extLst>
              <a:ext uri="{FF2B5EF4-FFF2-40B4-BE49-F238E27FC236}">
                <a16:creationId xmlns:a16="http://schemas.microsoft.com/office/drawing/2014/main" id="{A81347AE-46DE-7798-AD5F-1EA5CD900DD0}"/>
              </a:ext>
            </a:extLst>
          </p:cNvPr>
          <p:cNvSpPr/>
          <p:nvPr/>
        </p:nvSpPr>
        <p:spPr>
          <a:xfrm>
            <a:off x="640080" y="2304288"/>
            <a:ext cx="502920" cy="502920"/>
          </a:xfrm>
          <a:prstGeom prst="ellipse">
            <a:avLst/>
          </a:prstGeom>
          <a:solidFill>
            <a:srgbClr val="BF40FF"/>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1" name="TextBox 10">
            <a:extLst>
              <a:ext uri="{FF2B5EF4-FFF2-40B4-BE49-F238E27FC236}">
                <a16:creationId xmlns:a16="http://schemas.microsoft.com/office/drawing/2014/main" id="{A02819DE-4194-D433-F00A-DAD1350BCC9D}"/>
              </a:ext>
            </a:extLst>
          </p:cNvPr>
          <p:cNvSpPr txBox="1"/>
          <p:nvPr/>
        </p:nvSpPr>
        <p:spPr>
          <a:xfrm>
            <a:off x="685800" y="2421888"/>
            <a:ext cx="411480" cy="299157"/>
          </a:xfrm>
          <a:prstGeom prst="rect">
            <a:avLst/>
          </a:prstGeom>
          <a:noFill/>
        </p:spPr>
        <p:txBody>
          <a:bodyPr wrap="square" lIns="36576" tIns="10972" rIns="36576" bIns="10972">
            <a:spAutoFit/>
          </a:bodyPr>
          <a:lstStyle/>
          <a:p>
            <a:pPr algn="ctr"/>
            <a:r>
              <a:rPr sz="1800" b="1" dirty="0">
                <a:solidFill>
                  <a:srgbClr val="000000"/>
                </a:solidFill>
                <a:latin typeface="Roboto Slab" pitchFamily="2" charset="0"/>
              </a:rPr>
              <a:t>📖</a:t>
            </a:r>
          </a:p>
        </p:txBody>
      </p:sp>
      <p:sp>
        <p:nvSpPr>
          <p:cNvPr id="12" name="Rectangle 11">
            <a:extLst>
              <a:ext uri="{FF2B5EF4-FFF2-40B4-BE49-F238E27FC236}">
                <a16:creationId xmlns:a16="http://schemas.microsoft.com/office/drawing/2014/main" id="{D9981896-43BD-5DE1-4ECD-024E18F2EFE0}"/>
              </a:ext>
            </a:extLst>
          </p:cNvPr>
          <p:cNvSpPr/>
          <p:nvPr/>
        </p:nvSpPr>
        <p:spPr>
          <a:xfrm>
            <a:off x="1325880" y="2249424"/>
            <a:ext cx="10177272" cy="1463040"/>
          </a:xfrm>
          <a:prstGeom prst="rect">
            <a:avLst/>
          </a:prstGeom>
          <a:solidFill>
            <a:srgbClr val="0F0F0F"/>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3" name="TextBox 12">
            <a:extLst>
              <a:ext uri="{FF2B5EF4-FFF2-40B4-BE49-F238E27FC236}">
                <a16:creationId xmlns:a16="http://schemas.microsoft.com/office/drawing/2014/main" id="{6B042B92-0A36-CD1D-C9E3-C8851490DC73}"/>
              </a:ext>
            </a:extLst>
          </p:cNvPr>
          <p:cNvSpPr txBox="1"/>
          <p:nvPr/>
        </p:nvSpPr>
        <p:spPr>
          <a:xfrm>
            <a:off x="1472184" y="2340864"/>
            <a:ext cx="9884663" cy="184666"/>
          </a:xfrm>
          <a:prstGeom prst="rect">
            <a:avLst/>
          </a:prstGeom>
          <a:noFill/>
        </p:spPr>
        <p:txBody>
          <a:bodyPr wrap="square" lIns="0" tIns="0" rIns="0" bIns="0">
            <a:spAutoFit/>
          </a:bodyPr>
          <a:lstStyle/>
          <a:p>
            <a:pPr algn="l"/>
            <a:r>
              <a:rPr sz="1200" b="1" dirty="0">
                <a:solidFill>
                  <a:srgbClr val="BF40FF"/>
                </a:solidFill>
                <a:latin typeface="Roboto Slab" pitchFamily="2" charset="0"/>
              </a:rPr>
              <a:t>BOOKEX PATTERNS</a:t>
            </a:r>
          </a:p>
        </p:txBody>
      </p:sp>
      <p:sp>
        <p:nvSpPr>
          <p:cNvPr id="14" name="TextBox 13">
            <a:extLst>
              <a:ext uri="{FF2B5EF4-FFF2-40B4-BE49-F238E27FC236}">
                <a16:creationId xmlns:a16="http://schemas.microsoft.com/office/drawing/2014/main" id="{49903A4A-B16D-5F13-7F1D-0683A75A149E}"/>
              </a:ext>
            </a:extLst>
          </p:cNvPr>
          <p:cNvSpPr txBox="1"/>
          <p:nvPr/>
        </p:nvSpPr>
        <p:spPr>
          <a:xfrm>
            <a:off x="1472184" y="2651760"/>
            <a:ext cx="9884663" cy="430887"/>
          </a:xfrm>
          <a:prstGeom prst="rect">
            <a:avLst/>
          </a:prstGeom>
          <a:noFill/>
        </p:spPr>
        <p:txBody>
          <a:bodyPr wrap="square" lIns="0" tIns="0" rIns="0" bIns="0">
            <a:spAutoFit/>
          </a:bodyPr>
          <a:lstStyle/>
          <a:p>
            <a:pPr algn="l"/>
            <a:r>
              <a:rPr sz="1400" dirty="0">
                <a:solidFill>
                  <a:srgbClr val="F5F5F5"/>
                </a:solidFill>
                <a:latin typeface="Roboto Medium" panose="02000000000000000000" pitchFamily="2" charset="0"/>
                <a:ea typeface="Roboto Medium" panose="02000000000000000000" pitchFamily="2" charset="0"/>
              </a:rPr>
              <a:t>Program 8-10 (</a:t>
            </a:r>
            <a:r>
              <a:rPr sz="1400" dirty="0" err="1">
                <a:solidFill>
                  <a:srgbClr val="F5F5F5"/>
                </a:solidFill>
                <a:latin typeface="Roboto Medium" panose="02000000000000000000" pitchFamily="2" charset="0"/>
                <a:ea typeface="Roboto Medium" panose="02000000000000000000" pitchFamily="2" charset="0"/>
              </a:rPr>
              <a:t>split_date.py</a:t>
            </a:r>
            <a:r>
              <a:rPr sz="1400" dirty="0">
                <a:solidFill>
                  <a:srgbClr val="F5F5F5"/>
                </a:solidFill>
                <a:latin typeface="Roboto Medium" panose="02000000000000000000" pitchFamily="2" charset="0"/>
                <a:ea typeface="Roboto Medium" panose="02000000000000000000" pitchFamily="2" charset="0"/>
              </a:rPr>
              <a:t>) — You used .split('/') to break a date string into parts. Now use .split(',') to break each CSV line.
Program 9-1 (</a:t>
            </a:r>
            <a:r>
              <a:rPr sz="1400" dirty="0" err="1">
                <a:solidFill>
                  <a:srgbClr val="F5F5F5"/>
                </a:solidFill>
                <a:latin typeface="Roboto Medium" panose="02000000000000000000" pitchFamily="2" charset="0"/>
                <a:ea typeface="Roboto Medium" panose="02000000000000000000" pitchFamily="2" charset="0"/>
              </a:rPr>
              <a:t>card_dealer.py</a:t>
            </a:r>
            <a:r>
              <a:rPr sz="1400" dirty="0">
                <a:solidFill>
                  <a:srgbClr val="F5F5F5"/>
                </a:solidFill>
                <a:latin typeface="Roboto Medium" panose="02000000000000000000" pitchFamily="2" charset="0"/>
                <a:ea typeface="Roboto Medium" panose="02000000000000000000" pitchFamily="2" charset="0"/>
              </a:rPr>
              <a:t>) — You created a dictionary with key-value pairs. Now build a nested dictionary.</a:t>
            </a:r>
          </a:p>
        </p:txBody>
      </p:sp>
      <p:pic>
        <p:nvPicPr>
          <p:cNvPr id="16" name="Picture 15">
            <a:extLst>
              <a:ext uri="{FF2B5EF4-FFF2-40B4-BE49-F238E27FC236}">
                <a16:creationId xmlns:a16="http://schemas.microsoft.com/office/drawing/2014/main" id="{21CD0C28-CB5E-F91B-A438-09B33B7457B4}"/>
              </a:ext>
            </a:extLst>
          </p:cNvPr>
          <p:cNvPicPr>
            <a:picLocks noChangeAspect="1"/>
          </p:cNvPicPr>
          <p:nvPr/>
        </p:nvPicPr>
        <p:blipFill>
          <a:blip r:embed="rId3"/>
          <a:srcRect/>
          <a:stretch/>
        </p:blipFill>
        <p:spPr>
          <a:xfrm>
            <a:off x="4725900" y="6473952"/>
            <a:ext cx="2526839" cy="365760"/>
          </a:xfrm>
          <a:prstGeom prst="rect">
            <a:avLst/>
          </a:prstGeom>
        </p:spPr>
      </p:pic>
      <p:pic>
        <p:nvPicPr>
          <p:cNvPr id="17" name="Picture 16">
            <a:extLst>
              <a:ext uri="{FF2B5EF4-FFF2-40B4-BE49-F238E27FC236}">
                <a16:creationId xmlns:a16="http://schemas.microsoft.com/office/drawing/2014/main" id="{BB2CE596-DD40-0EAB-66B5-C70F73F773CB}"/>
              </a:ext>
            </a:extLst>
          </p:cNvPr>
          <p:cNvPicPr>
            <a:picLocks noChangeAspect="1"/>
          </p:cNvPicPr>
          <p:nvPr/>
        </p:nvPicPr>
        <p:blipFill>
          <a:blip r:embed="rId4"/>
          <a:stretch>
            <a:fillRect/>
          </a:stretch>
        </p:blipFill>
        <p:spPr>
          <a:xfrm>
            <a:off x="9811911" y="274320"/>
            <a:ext cx="1992993" cy="1300447"/>
          </a:xfrm>
          <a:prstGeom prst="rect">
            <a:avLst/>
          </a:prstGeom>
        </p:spPr>
      </p:pic>
    </p:spTree>
    <p:extLst>
      <p:ext uri="{BB962C8B-B14F-4D97-AF65-F5344CB8AC3E}">
        <p14:creationId xmlns:p14="http://schemas.microsoft.com/office/powerpoint/2010/main" val="38727117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Need Help?</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CONTACT &amp; RESOURCES</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TextBox 9"/>
          <p:cNvSpPr txBox="1"/>
          <p:nvPr/>
        </p:nvSpPr>
        <p:spPr>
          <a:xfrm>
            <a:off x="640080" y="2249424"/>
            <a:ext cx="10908792" cy="1114765"/>
          </a:xfrm>
          <a:prstGeom prst="rect">
            <a:avLst/>
          </a:prstGeom>
          <a:noFill/>
        </p:spPr>
        <p:txBody>
          <a:bodyPr wrap="square" lIns="36576" tIns="10972" rIns="36576" bIns="10972">
            <a:spAutoFit/>
          </a:bodyPr>
          <a:lstStyle/>
          <a:p>
            <a:pPr algn="l">
              <a:spcBef>
                <a:spcPts val="400"/>
              </a:spcBef>
              <a:spcAft>
                <a:spcPts val="200"/>
              </a:spcAft>
              <a:buChar char="•"/>
            </a:pPr>
            <a:r>
              <a:rPr sz="1400" dirty="0">
                <a:solidFill>
                  <a:srgbClr val="F5F5F5"/>
                </a:solidFill>
                <a:latin typeface="Roboto Medium" panose="02000000000000000000" pitchFamily="2" charset="0"/>
                <a:ea typeface="Roboto Medium" panose="02000000000000000000" pitchFamily="2" charset="0"/>
              </a:rPr>
              <a:t>Re-read the </a:t>
            </a:r>
            <a:r>
              <a:rPr sz="1400" dirty="0" err="1">
                <a:solidFill>
                  <a:srgbClr val="F5F5F5"/>
                </a:solidFill>
                <a:latin typeface="Roboto Medium" panose="02000000000000000000" pitchFamily="2" charset="0"/>
                <a:ea typeface="Roboto Medium" panose="02000000000000000000" pitchFamily="2" charset="0"/>
              </a:rPr>
              <a:t>BookEx</a:t>
            </a:r>
            <a:r>
              <a:rPr sz="1400" dirty="0">
                <a:solidFill>
                  <a:srgbClr val="F5F5F5"/>
                </a:solidFill>
                <a:latin typeface="Roboto Medium" panose="02000000000000000000" pitchFamily="2" charset="0"/>
                <a:ea typeface="Roboto Medium" panose="02000000000000000000" pitchFamily="2" charset="0"/>
              </a:rPr>
              <a:t> programs — the patterns are exactly what you need here</a:t>
            </a:r>
          </a:p>
          <a:p>
            <a:pPr>
              <a:spcBef>
                <a:spcPts val="400"/>
              </a:spcBef>
              <a:spcAft>
                <a:spcPts val="200"/>
              </a:spcAft>
              <a:buChar char="•"/>
            </a:pPr>
            <a:r>
              <a:rPr sz="1400" dirty="0">
                <a:solidFill>
                  <a:srgbClr val="F5F5F5"/>
                </a:solidFill>
                <a:latin typeface="Roboto Medium" panose="02000000000000000000" pitchFamily="2" charset="0"/>
                <a:ea typeface="Roboto Medium" panose="02000000000000000000" pitchFamily="2" charset="0"/>
              </a:rPr>
              <a:t>Test each function independently before wiring into the game</a:t>
            </a:r>
          </a:p>
          <a:p>
            <a:pPr>
              <a:spcBef>
                <a:spcPts val="400"/>
              </a:spcBef>
              <a:spcAft>
                <a:spcPts val="200"/>
              </a:spcAft>
              <a:buChar char="•"/>
            </a:pPr>
            <a:r>
              <a:rPr sz="1400" dirty="0">
                <a:solidFill>
                  <a:srgbClr val="F5F5F5"/>
                </a:solidFill>
                <a:latin typeface="Roboto Medium" panose="02000000000000000000" pitchFamily="2" charset="0"/>
                <a:ea typeface="Roboto Medium" panose="02000000000000000000" pitchFamily="2" charset="0"/>
              </a:rPr>
              <a:t>Submit to </a:t>
            </a:r>
            <a:r>
              <a:rPr sz="1400" dirty="0" err="1">
                <a:solidFill>
                  <a:srgbClr val="F5F5F5"/>
                </a:solidFill>
                <a:latin typeface="Roboto Medium" panose="02000000000000000000" pitchFamily="2" charset="0"/>
                <a:ea typeface="Roboto Medium" panose="02000000000000000000" pitchFamily="2" charset="0"/>
              </a:rPr>
              <a:t>CodeGrade</a:t>
            </a:r>
            <a:r>
              <a:rPr sz="1400" dirty="0">
                <a:solidFill>
                  <a:srgbClr val="F5F5F5"/>
                </a:solidFill>
                <a:latin typeface="Roboto Medium" panose="02000000000000000000" pitchFamily="2" charset="0"/>
                <a:ea typeface="Roboto Medium" panose="02000000000000000000" pitchFamily="2" charset="0"/>
              </a:rPr>
              <a:t> early — it shows exactly which tests pass or fail</a:t>
            </a:r>
          </a:p>
          <a:p>
            <a:pPr>
              <a:spcBef>
                <a:spcPts val="400"/>
              </a:spcBef>
              <a:spcAft>
                <a:spcPts val="200"/>
              </a:spcAft>
              <a:buChar char="•"/>
            </a:pPr>
            <a:r>
              <a:rPr sz="1400" dirty="0">
                <a:solidFill>
                  <a:srgbClr val="F5F5F5"/>
                </a:solidFill>
                <a:latin typeface="Roboto Medium" panose="02000000000000000000" pitchFamily="2" charset="0"/>
                <a:ea typeface="Roboto Medium" panose="02000000000000000000" pitchFamily="2" charset="0"/>
              </a:rPr>
              <a:t>Use DEBUG prints to verify what you're parsing from each line</a:t>
            </a:r>
          </a:p>
        </p:txBody>
      </p:sp>
      <p:sp>
        <p:nvSpPr>
          <p:cNvPr id="11" name="Rectangle 10"/>
          <p:cNvSpPr/>
          <p:nvPr/>
        </p:nvSpPr>
        <p:spPr>
          <a:xfrm>
            <a:off x="640080" y="3823978"/>
            <a:ext cx="2108606" cy="2101334"/>
          </a:xfrm>
          <a:prstGeom prst="rect">
            <a:avLst/>
          </a:prstGeom>
          <a:solidFill>
            <a:schemeClr val="bg1">
              <a:alpha val="9963"/>
            </a:schemeClr>
          </a:solidFill>
          <a:ln w="12700">
            <a:solidFill>
              <a:srgbClr val="3C1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2" name="TextBox 11"/>
          <p:cNvSpPr txBox="1"/>
          <p:nvPr/>
        </p:nvSpPr>
        <p:spPr>
          <a:xfrm>
            <a:off x="713232" y="3956458"/>
            <a:ext cx="1962302" cy="138499"/>
          </a:xfrm>
          <a:prstGeom prst="rect">
            <a:avLst/>
          </a:prstGeom>
          <a:noFill/>
        </p:spPr>
        <p:txBody>
          <a:bodyPr wrap="square" lIns="0" tIns="0" rIns="0" bIns="0">
            <a:spAutoFit/>
          </a:bodyPr>
          <a:lstStyle/>
          <a:p>
            <a:pPr algn="l"/>
            <a:r>
              <a:rPr sz="900" dirty="0">
                <a:solidFill>
                  <a:srgbClr val="BF40FF"/>
                </a:solidFill>
                <a:latin typeface="Roboto Medium" panose="02000000000000000000" pitchFamily="2" charset="0"/>
                <a:ea typeface="Roboto Medium" panose="02000000000000000000" pitchFamily="2" charset="0"/>
              </a:rPr>
              <a:t>ZOOM OFFICE HOURS</a:t>
            </a:r>
          </a:p>
        </p:txBody>
      </p:sp>
      <p:sp>
        <p:nvSpPr>
          <p:cNvPr id="13" name="TextBox 12"/>
          <p:cNvSpPr txBox="1"/>
          <p:nvPr/>
        </p:nvSpPr>
        <p:spPr>
          <a:xfrm>
            <a:off x="713232" y="4249066"/>
            <a:ext cx="1962302" cy="184666"/>
          </a:xfrm>
          <a:prstGeom prst="rect">
            <a:avLst/>
          </a:prstGeom>
          <a:noFill/>
        </p:spPr>
        <p:txBody>
          <a:bodyPr wrap="square" lIns="0" tIns="0" rIns="0" bIns="0">
            <a:spAutoFit/>
          </a:bodyPr>
          <a:lstStyle/>
          <a:p>
            <a:pPr algn="l"/>
            <a:r>
              <a:rPr sz="1200" dirty="0">
                <a:solidFill>
                  <a:srgbClr val="F5F5F5"/>
                </a:solidFill>
                <a:latin typeface="Roboto Medium" panose="02000000000000000000" pitchFamily="2" charset="0"/>
                <a:ea typeface="Roboto Medium" panose="02000000000000000000" pitchFamily="2" charset="0"/>
              </a:rPr>
              <a:t>Tuesdays 6–7 PM</a:t>
            </a:r>
          </a:p>
        </p:txBody>
      </p:sp>
      <p:sp>
        <p:nvSpPr>
          <p:cNvPr id="14" name="Rectangle 13"/>
          <p:cNvSpPr/>
          <p:nvPr/>
        </p:nvSpPr>
        <p:spPr>
          <a:xfrm>
            <a:off x="2821838" y="3823978"/>
            <a:ext cx="2108606" cy="2101334"/>
          </a:xfrm>
          <a:prstGeom prst="rect">
            <a:avLst/>
          </a:prstGeom>
          <a:solidFill>
            <a:schemeClr val="bg1">
              <a:alpha val="9963"/>
            </a:schemeClr>
          </a:solidFill>
          <a:ln w="12700">
            <a:solidFill>
              <a:srgbClr val="3C1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5" name="TextBox 14"/>
          <p:cNvSpPr txBox="1"/>
          <p:nvPr/>
        </p:nvSpPr>
        <p:spPr>
          <a:xfrm>
            <a:off x="2894990" y="3956458"/>
            <a:ext cx="1962302" cy="138499"/>
          </a:xfrm>
          <a:prstGeom prst="rect">
            <a:avLst/>
          </a:prstGeom>
          <a:noFill/>
        </p:spPr>
        <p:txBody>
          <a:bodyPr wrap="square" lIns="0" tIns="0" rIns="0" bIns="0">
            <a:spAutoFit/>
          </a:bodyPr>
          <a:lstStyle/>
          <a:p>
            <a:pPr algn="l"/>
            <a:r>
              <a:rPr sz="900" dirty="0">
                <a:solidFill>
                  <a:srgbClr val="BF40FF"/>
                </a:solidFill>
                <a:latin typeface="Roboto Medium" panose="02000000000000000000" pitchFamily="2" charset="0"/>
                <a:ea typeface="Roboto Medium" panose="02000000000000000000" pitchFamily="2" charset="0"/>
              </a:rPr>
              <a:t>SCHEDULE A MEETING</a:t>
            </a:r>
          </a:p>
        </p:txBody>
      </p:sp>
      <p:sp>
        <p:nvSpPr>
          <p:cNvPr id="16" name="TextBox 15"/>
          <p:cNvSpPr txBox="1"/>
          <p:nvPr/>
        </p:nvSpPr>
        <p:spPr>
          <a:xfrm>
            <a:off x="2894990" y="4249066"/>
            <a:ext cx="1962302" cy="184666"/>
          </a:xfrm>
          <a:prstGeom prst="rect">
            <a:avLst/>
          </a:prstGeom>
          <a:noFill/>
        </p:spPr>
        <p:txBody>
          <a:bodyPr wrap="square" lIns="0" tIns="0" rIns="0" bIns="0">
            <a:spAutoFit/>
          </a:bodyPr>
          <a:lstStyle/>
          <a:p>
            <a:pPr algn="l"/>
            <a:r>
              <a:rPr sz="1200" dirty="0">
                <a:solidFill>
                  <a:srgbClr val="F5F5F5"/>
                </a:solidFill>
                <a:latin typeface="Roboto Medium" panose="02000000000000000000" pitchFamily="2" charset="0"/>
                <a:ea typeface="Roboto Medium" panose="02000000000000000000" pitchFamily="2" charset="0"/>
              </a:rPr>
              <a:t>Book via Calendly</a:t>
            </a:r>
          </a:p>
        </p:txBody>
      </p:sp>
      <p:sp>
        <p:nvSpPr>
          <p:cNvPr id="17" name="Rectangle 16"/>
          <p:cNvSpPr/>
          <p:nvPr/>
        </p:nvSpPr>
        <p:spPr>
          <a:xfrm>
            <a:off x="5003596" y="3823978"/>
            <a:ext cx="2108606" cy="2101334"/>
          </a:xfrm>
          <a:prstGeom prst="rect">
            <a:avLst/>
          </a:prstGeom>
          <a:solidFill>
            <a:schemeClr val="bg1">
              <a:alpha val="9963"/>
            </a:schemeClr>
          </a:solidFill>
          <a:ln w="12700">
            <a:solidFill>
              <a:srgbClr val="3C1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8" name="TextBox 17"/>
          <p:cNvSpPr txBox="1"/>
          <p:nvPr/>
        </p:nvSpPr>
        <p:spPr>
          <a:xfrm>
            <a:off x="5076748" y="3956458"/>
            <a:ext cx="1962302" cy="138499"/>
          </a:xfrm>
          <a:prstGeom prst="rect">
            <a:avLst/>
          </a:prstGeom>
          <a:noFill/>
        </p:spPr>
        <p:txBody>
          <a:bodyPr wrap="square" lIns="0" tIns="0" rIns="0" bIns="0">
            <a:spAutoFit/>
          </a:bodyPr>
          <a:lstStyle/>
          <a:p>
            <a:pPr algn="l"/>
            <a:r>
              <a:rPr sz="900" dirty="0">
                <a:solidFill>
                  <a:srgbClr val="BF40FF"/>
                </a:solidFill>
                <a:latin typeface="Roboto Medium" panose="02000000000000000000" pitchFamily="2" charset="0"/>
                <a:ea typeface="Roboto Medium" panose="02000000000000000000" pitchFamily="2" charset="0"/>
              </a:rPr>
              <a:t>COURSE DISCORD</a:t>
            </a:r>
          </a:p>
        </p:txBody>
      </p:sp>
      <p:sp>
        <p:nvSpPr>
          <p:cNvPr id="19" name="TextBox 18"/>
          <p:cNvSpPr txBox="1"/>
          <p:nvPr/>
        </p:nvSpPr>
        <p:spPr>
          <a:xfrm>
            <a:off x="5076748" y="4249066"/>
            <a:ext cx="1962302" cy="184666"/>
          </a:xfrm>
          <a:prstGeom prst="rect">
            <a:avLst/>
          </a:prstGeom>
          <a:noFill/>
        </p:spPr>
        <p:txBody>
          <a:bodyPr wrap="square" lIns="0" tIns="0" rIns="0" bIns="0">
            <a:spAutoFit/>
          </a:bodyPr>
          <a:lstStyle/>
          <a:p>
            <a:pPr algn="l"/>
            <a:r>
              <a:rPr sz="1200" dirty="0">
                <a:solidFill>
                  <a:srgbClr val="F5F5F5"/>
                </a:solidFill>
                <a:latin typeface="Roboto Medium" panose="02000000000000000000" pitchFamily="2" charset="0"/>
                <a:ea typeface="Roboto Medium" panose="02000000000000000000" pitchFamily="2" charset="0"/>
              </a:rPr>
              <a:t>Post in #help</a:t>
            </a:r>
          </a:p>
        </p:txBody>
      </p:sp>
      <p:sp>
        <p:nvSpPr>
          <p:cNvPr id="20" name="Rectangle 19"/>
          <p:cNvSpPr/>
          <p:nvPr/>
        </p:nvSpPr>
        <p:spPr>
          <a:xfrm>
            <a:off x="7185355" y="3823978"/>
            <a:ext cx="2108606" cy="2101334"/>
          </a:xfrm>
          <a:prstGeom prst="rect">
            <a:avLst/>
          </a:prstGeom>
          <a:solidFill>
            <a:schemeClr val="bg1">
              <a:alpha val="9963"/>
            </a:schemeClr>
          </a:solidFill>
          <a:ln w="12700">
            <a:solidFill>
              <a:srgbClr val="3C1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21" name="TextBox 20"/>
          <p:cNvSpPr txBox="1"/>
          <p:nvPr/>
        </p:nvSpPr>
        <p:spPr>
          <a:xfrm>
            <a:off x="7258507" y="3956458"/>
            <a:ext cx="1962302" cy="138499"/>
          </a:xfrm>
          <a:prstGeom prst="rect">
            <a:avLst/>
          </a:prstGeom>
          <a:noFill/>
        </p:spPr>
        <p:txBody>
          <a:bodyPr wrap="square" lIns="0" tIns="0" rIns="0" bIns="0">
            <a:spAutoFit/>
          </a:bodyPr>
          <a:lstStyle/>
          <a:p>
            <a:pPr algn="l"/>
            <a:r>
              <a:rPr sz="900" dirty="0">
                <a:solidFill>
                  <a:srgbClr val="BF40FF"/>
                </a:solidFill>
                <a:latin typeface="Roboto Medium" panose="02000000000000000000" pitchFamily="2" charset="0"/>
                <a:ea typeface="Roboto Medium" panose="02000000000000000000" pitchFamily="2" charset="0"/>
              </a:rPr>
              <a:t>EMAIL</a:t>
            </a:r>
          </a:p>
        </p:txBody>
      </p:sp>
      <p:sp>
        <p:nvSpPr>
          <p:cNvPr id="22" name="TextBox 21"/>
          <p:cNvSpPr txBox="1"/>
          <p:nvPr/>
        </p:nvSpPr>
        <p:spPr>
          <a:xfrm>
            <a:off x="7258507" y="4249066"/>
            <a:ext cx="1962302" cy="184666"/>
          </a:xfrm>
          <a:prstGeom prst="rect">
            <a:avLst/>
          </a:prstGeom>
          <a:noFill/>
        </p:spPr>
        <p:txBody>
          <a:bodyPr wrap="square" lIns="0" tIns="0" rIns="0" bIns="0">
            <a:spAutoFit/>
          </a:bodyPr>
          <a:lstStyle/>
          <a:p>
            <a:pPr algn="l"/>
            <a:r>
              <a:rPr sz="1200" dirty="0" err="1">
                <a:solidFill>
                  <a:srgbClr val="F5F5F5"/>
                </a:solidFill>
                <a:latin typeface="Roboto Medium" panose="02000000000000000000" pitchFamily="2" charset="0"/>
                <a:ea typeface="Roboto Medium" panose="02000000000000000000" pitchFamily="2" charset="0"/>
              </a:rPr>
              <a:t>john.newsom@utsa.edu</a:t>
            </a:r>
            <a:endParaRPr sz="1200" dirty="0">
              <a:solidFill>
                <a:srgbClr val="F5F5F5"/>
              </a:solidFill>
              <a:latin typeface="Roboto Medium" panose="02000000000000000000" pitchFamily="2" charset="0"/>
              <a:ea typeface="Roboto Medium" panose="02000000000000000000" pitchFamily="2" charset="0"/>
            </a:endParaRPr>
          </a:p>
        </p:txBody>
      </p:sp>
      <p:sp>
        <p:nvSpPr>
          <p:cNvPr id="23" name="Rectangle 22"/>
          <p:cNvSpPr/>
          <p:nvPr/>
        </p:nvSpPr>
        <p:spPr>
          <a:xfrm>
            <a:off x="9367113" y="3823978"/>
            <a:ext cx="2108606" cy="2101334"/>
          </a:xfrm>
          <a:prstGeom prst="rect">
            <a:avLst/>
          </a:prstGeom>
          <a:solidFill>
            <a:schemeClr val="bg1">
              <a:alpha val="9963"/>
            </a:schemeClr>
          </a:solidFill>
          <a:ln w="12700">
            <a:solidFill>
              <a:srgbClr val="3C1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24" name="TextBox 23"/>
          <p:cNvSpPr txBox="1"/>
          <p:nvPr/>
        </p:nvSpPr>
        <p:spPr>
          <a:xfrm>
            <a:off x="9440265" y="3956458"/>
            <a:ext cx="1962302" cy="138499"/>
          </a:xfrm>
          <a:prstGeom prst="rect">
            <a:avLst/>
          </a:prstGeom>
          <a:noFill/>
        </p:spPr>
        <p:txBody>
          <a:bodyPr wrap="square" lIns="0" tIns="0" rIns="0" bIns="0">
            <a:spAutoFit/>
          </a:bodyPr>
          <a:lstStyle/>
          <a:p>
            <a:pPr algn="l"/>
            <a:r>
              <a:rPr sz="900" dirty="0">
                <a:solidFill>
                  <a:srgbClr val="BF40FF"/>
                </a:solidFill>
                <a:latin typeface="Roboto Medium" panose="02000000000000000000" pitchFamily="2" charset="0"/>
                <a:ea typeface="Roboto Medium" panose="02000000000000000000" pitchFamily="2" charset="0"/>
              </a:rPr>
              <a:t>CODEGRADE</a:t>
            </a:r>
          </a:p>
        </p:txBody>
      </p:sp>
      <p:sp>
        <p:nvSpPr>
          <p:cNvPr id="25" name="TextBox 24"/>
          <p:cNvSpPr txBox="1"/>
          <p:nvPr/>
        </p:nvSpPr>
        <p:spPr>
          <a:xfrm>
            <a:off x="9440265" y="4249066"/>
            <a:ext cx="1962302" cy="184666"/>
          </a:xfrm>
          <a:prstGeom prst="rect">
            <a:avLst/>
          </a:prstGeom>
          <a:noFill/>
        </p:spPr>
        <p:txBody>
          <a:bodyPr wrap="square" lIns="0" tIns="0" rIns="0" bIns="0">
            <a:spAutoFit/>
          </a:bodyPr>
          <a:lstStyle/>
          <a:p>
            <a:pPr algn="l"/>
            <a:r>
              <a:rPr sz="1200" dirty="0">
                <a:solidFill>
                  <a:srgbClr val="F5F5F5"/>
                </a:solidFill>
                <a:latin typeface="Roboto Medium" panose="02000000000000000000" pitchFamily="2" charset="0"/>
                <a:ea typeface="Roboto Medium" panose="02000000000000000000" pitchFamily="2" charset="0"/>
              </a:rPr>
              <a:t>Submit early &amp; often</a:t>
            </a:r>
          </a:p>
        </p:txBody>
      </p:sp>
      <p:pic>
        <p:nvPicPr>
          <p:cNvPr id="27" name="Picture 26">
            <a:extLst>
              <a:ext uri="{FF2B5EF4-FFF2-40B4-BE49-F238E27FC236}">
                <a16:creationId xmlns:a16="http://schemas.microsoft.com/office/drawing/2014/main" id="{491A23F8-DD20-F793-4589-81338E0BD8B8}"/>
              </a:ext>
            </a:extLst>
          </p:cNvPr>
          <p:cNvPicPr>
            <a:picLocks noChangeAspect="1"/>
          </p:cNvPicPr>
          <p:nvPr/>
        </p:nvPicPr>
        <p:blipFill>
          <a:blip r:embed="rId3"/>
          <a:srcRect/>
          <a:stretch/>
        </p:blipFill>
        <p:spPr>
          <a:xfrm>
            <a:off x="4725900" y="6473952"/>
            <a:ext cx="2526839" cy="365760"/>
          </a:xfrm>
          <a:prstGeom prst="rect">
            <a:avLst/>
          </a:prstGeom>
        </p:spPr>
      </p:pic>
      <p:pic>
        <p:nvPicPr>
          <p:cNvPr id="28" name="Picture 27">
            <a:extLst>
              <a:ext uri="{FF2B5EF4-FFF2-40B4-BE49-F238E27FC236}">
                <a16:creationId xmlns:a16="http://schemas.microsoft.com/office/drawing/2014/main" id="{491D7886-DB78-C5C8-5001-6077C9AC1C67}"/>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Learning Objectives</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AFTER THIS UNIT YOU WILL BE ABLE TO</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TextBox 9"/>
          <p:cNvSpPr txBox="1"/>
          <p:nvPr/>
        </p:nvSpPr>
        <p:spPr>
          <a:xfrm>
            <a:off x="640080" y="2249424"/>
            <a:ext cx="10908792" cy="2510019"/>
          </a:xfrm>
          <a:prstGeom prst="rect">
            <a:avLst/>
          </a:prstGeom>
          <a:noFill/>
        </p:spPr>
        <p:txBody>
          <a:bodyPr wrap="square" lIns="36576" tIns="10972" rIns="36576" bIns="10972">
            <a:spAutoFit/>
          </a:bodyPr>
          <a:lstStyle/>
          <a:p>
            <a:pPr algn="l">
              <a:spcBef>
                <a:spcPts val="800"/>
              </a:spcBef>
              <a:spcAft>
                <a:spcPts val="200"/>
              </a:spcAft>
            </a:pPr>
            <a:r>
              <a:rPr sz="2000" dirty="0">
                <a:solidFill>
                  <a:schemeClr val="bg1"/>
                </a:solidFill>
                <a:latin typeface="Roboto Medium" panose="02000000000000000000" pitchFamily="2" charset="0"/>
                <a:ea typeface="Roboto Medium" panose="02000000000000000000" pitchFamily="2" charset="0"/>
              </a:rPr>
              <a:t>1.  Create dictionaries with key-value pairs using curly brace syntax</a:t>
            </a:r>
          </a:p>
          <a:p>
            <a:pPr>
              <a:spcBef>
                <a:spcPts val="800"/>
              </a:spcBef>
              <a:spcAft>
                <a:spcPts val="200"/>
              </a:spcAft>
            </a:pPr>
            <a:r>
              <a:rPr sz="2000" dirty="0">
                <a:solidFill>
                  <a:schemeClr val="bg1"/>
                </a:solidFill>
                <a:latin typeface="Roboto Medium" panose="02000000000000000000" pitchFamily="2" charset="0"/>
                <a:ea typeface="Roboto Medium" panose="02000000000000000000" pitchFamily="2" charset="0"/>
              </a:rPr>
              <a:t>2.  Access, add, and remove dictionary entries by key name</a:t>
            </a:r>
          </a:p>
          <a:p>
            <a:pPr>
              <a:spcBef>
                <a:spcPts val="800"/>
              </a:spcBef>
              <a:spcAft>
                <a:spcPts val="200"/>
              </a:spcAft>
            </a:pPr>
            <a:r>
              <a:rPr sz="2000" dirty="0">
                <a:solidFill>
                  <a:schemeClr val="bg1"/>
                </a:solidFill>
                <a:latin typeface="Roboto Medium" panose="02000000000000000000" pitchFamily="2" charset="0"/>
                <a:ea typeface="Roboto Medium" panose="02000000000000000000" pitchFamily="2" charset="0"/>
              </a:rPr>
              <a:t>3.  Use `.keys()`, `.values()`, and `.items()` to iterate dictionaries</a:t>
            </a:r>
          </a:p>
          <a:p>
            <a:pPr>
              <a:spcBef>
                <a:spcPts val="800"/>
              </a:spcBef>
              <a:spcAft>
                <a:spcPts val="200"/>
              </a:spcAft>
            </a:pPr>
            <a:r>
              <a:rPr sz="2000" dirty="0">
                <a:solidFill>
                  <a:schemeClr val="bg1"/>
                </a:solidFill>
                <a:latin typeface="Roboto Medium" panose="02000000000000000000" pitchFamily="2" charset="0"/>
                <a:ea typeface="Roboto Medium" panose="02000000000000000000" pitchFamily="2" charset="0"/>
              </a:rPr>
              <a:t>4.  Handle missing keys safely with `.get(key, default)`</a:t>
            </a:r>
          </a:p>
          <a:p>
            <a:pPr>
              <a:spcBef>
                <a:spcPts val="800"/>
              </a:spcBef>
              <a:spcAft>
                <a:spcPts val="200"/>
              </a:spcAft>
            </a:pPr>
            <a:r>
              <a:rPr sz="2000" dirty="0">
                <a:solidFill>
                  <a:schemeClr val="bg1"/>
                </a:solidFill>
                <a:latin typeface="Roboto Medium" panose="02000000000000000000" pitchFamily="2" charset="0"/>
                <a:ea typeface="Roboto Medium" panose="02000000000000000000" pitchFamily="2" charset="0"/>
              </a:rPr>
              <a:t>5.  Build nested dictionaries to represent structured data</a:t>
            </a:r>
          </a:p>
          <a:p>
            <a:pPr>
              <a:spcBef>
                <a:spcPts val="800"/>
              </a:spcBef>
              <a:spcAft>
                <a:spcPts val="200"/>
              </a:spcAft>
            </a:pPr>
            <a:r>
              <a:rPr sz="2000" dirty="0">
                <a:solidFill>
                  <a:schemeClr val="bg1"/>
                </a:solidFill>
                <a:latin typeface="Roboto Medium" panose="02000000000000000000" pitchFamily="2" charset="0"/>
                <a:ea typeface="Roboto Medium" panose="02000000000000000000" pitchFamily="2" charset="0"/>
              </a:rPr>
              <a:t>6.  Use sets for automatic uniqueness and set operations</a:t>
            </a:r>
          </a:p>
        </p:txBody>
      </p:sp>
      <p:pic>
        <p:nvPicPr>
          <p:cNvPr id="12" name="Picture 11">
            <a:extLst>
              <a:ext uri="{FF2B5EF4-FFF2-40B4-BE49-F238E27FC236}">
                <a16:creationId xmlns:a16="http://schemas.microsoft.com/office/drawing/2014/main" id="{5288DADA-0A84-D03A-578E-313A799370BA}"/>
              </a:ext>
            </a:extLst>
          </p:cNvPr>
          <p:cNvPicPr>
            <a:picLocks noChangeAspect="1"/>
          </p:cNvPicPr>
          <p:nvPr/>
        </p:nvPicPr>
        <p:blipFill>
          <a:blip r:embed="rId3"/>
          <a:srcRect/>
          <a:stretch/>
        </p:blipFill>
        <p:spPr>
          <a:xfrm>
            <a:off x="4725900" y="6473952"/>
            <a:ext cx="2526839" cy="365760"/>
          </a:xfrm>
          <a:prstGeom prst="rect">
            <a:avLst/>
          </a:prstGeom>
        </p:spPr>
      </p:pic>
      <p:pic>
        <p:nvPicPr>
          <p:cNvPr id="13" name="Picture 12">
            <a:extLst>
              <a:ext uri="{FF2B5EF4-FFF2-40B4-BE49-F238E27FC236}">
                <a16:creationId xmlns:a16="http://schemas.microsoft.com/office/drawing/2014/main" id="{B5C22ACC-C5AA-AC76-CE4F-2C78E2B3973F}"/>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Mentor Moment</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Oval 7"/>
          <p:cNvSpPr/>
          <p:nvPr/>
        </p:nvSpPr>
        <p:spPr>
          <a:xfrm>
            <a:off x="640080" y="1975104"/>
            <a:ext cx="658368" cy="658368"/>
          </a:xfrm>
          <a:prstGeom prst="ellipse">
            <a:avLst/>
          </a:prstGeom>
          <a:solidFill>
            <a:srgbClr val="282828"/>
          </a:solidFill>
          <a:ln w="25400">
            <a:solidFill>
              <a:srgbClr val="FFC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9" name="TextBox 8"/>
          <p:cNvSpPr txBox="1"/>
          <p:nvPr/>
        </p:nvSpPr>
        <p:spPr>
          <a:xfrm>
            <a:off x="731520" y="2011680"/>
            <a:ext cx="521207" cy="391490"/>
          </a:xfrm>
          <a:prstGeom prst="rect">
            <a:avLst/>
          </a:prstGeom>
          <a:noFill/>
        </p:spPr>
        <p:txBody>
          <a:bodyPr wrap="square" lIns="36576" tIns="10972" rIns="36576" bIns="10972">
            <a:spAutoFit/>
          </a:bodyPr>
          <a:lstStyle/>
          <a:p>
            <a:pPr algn="ctr"/>
            <a:r>
              <a:rPr sz="2400" b="1" dirty="0">
                <a:solidFill>
                  <a:srgbClr val="F5F5F5"/>
                </a:solidFill>
                <a:latin typeface="Roboto Slab" pitchFamily="2" charset="0"/>
              </a:rPr>
              <a:t>👤</a:t>
            </a:r>
          </a:p>
        </p:txBody>
      </p:sp>
      <p:sp>
        <p:nvSpPr>
          <p:cNvPr id="10" name="Rectangle 9"/>
          <p:cNvSpPr/>
          <p:nvPr/>
        </p:nvSpPr>
        <p:spPr>
          <a:xfrm>
            <a:off x="1499616" y="1883664"/>
            <a:ext cx="9994392" cy="1097280"/>
          </a:xfrm>
          <a:prstGeom prst="rect">
            <a:avLst/>
          </a:prstGeom>
          <a:solidFill>
            <a:srgbClr val="121212"/>
          </a:solidFill>
          <a:ln w="25400">
            <a:solidFill>
              <a:srgbClr val="FFC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1" name="TextBox 10"/>
          <p:cNvSpPr txBox="1"/>
          <p:nvPr/>
        </p:nvSpPr>
        <p:spPr>
          <a:xfrm>
            <a:off x="1645919" y="1993392"/>
            <a:ext cx="9701784" cy="553998"/>
          </a:xfrm>
          <a:prstGeom prst="rect">
            <a:avLst/>
          </a:prstGeom>
          <a:noFill/>
        </p:spPr>
        <p:txBody>
          <a:bodyPr wrap="square" lIns="0" tIns="0" rIns="0" bIns="0">
            <a:spAutoFit/>
          </a:bodyPr>
          <a:lstStyle/>
          <a:p>
            <a:pPr algn="l"/>
            <a:r>
              <a:rPr b="1" i="1" dirty="0">
                <a:solidFill>
                  <a:srgbClr val="F5F5F5"/>
                </a:solidFill>
                <a:latin typeface="Roboto SemiBold" panose="02000000000000000000" pitchFamily="2" charset="0"/>
                <a:ea typeface="Roboto SemiBold" panose="02000000000000000000" pitchFamily="2" charset="0"/>
              </a:rPr>
              <a:t>"If I asked you to add 20 new cities to the game using constants, how long would it take? Now imagine it's just adding 20 lines to a text file. That's why we use data files."</a:t>
            </a:r>
          </a:p>
        </p:txBody>
      </p:sp>
      <p:sp>
        <p:nvSpPr>
          <p:cNvPr id="12" name="TextBox 11"/>
          <p:cNvSpPr txBox="1"/>
          <p:nvPr/>
        </p:nvSpPr>
        <p:spPr>
          <a:xfrm>
            <a:off x="1499616" y="3081849"/>
            <a:ext cx="9994392" cy="230832"/>
          </a:xfrm>
          <a:prstGeom prst="rect">
            <a:avLst/>
          </a:prstGeom>
          <a:noFill/>
        </p:spPr>
        <p:txBody>
          <a:bodyPr wrap="square" lIns="0" tIns="0" rIns="0" bIns="0">
            <a:spAutoFit/>
          </a:bodyPr>
          <a:lstStyle/>
          <a:p>
            <a:pPr algn="l"/>
            <a:r>
              <a:rPr sz="1500" b="1" dirty="0">
                <a:solidFill>
                  <a:srgbClr val="FFCC00"/>
                </a:solidFill>
                <a:latin typeface="Roboto Slab" pitchFamily="2" charset="0"/>
              </a:rPr>
              <a:t>Mentor Name</a:t>
            </a:r>
          </a:p>
        </p:txBody>
      </p:sp>
      <p:sp>
        <p:nvSpPr>
          <p:cNvPr id="13" name="TextBox 12"/>
          <p:cNvSpPr txBox="1"/>
          <p:nvPr/>
        </p:nvSpPr>
        <p:spPr>
          <a:xfrm>
            <a:off x="1499616" y="3389846"/>
            <a:ext cx="9994392" cy="153888"/>
          </a:xfrm>
          <a:prstGeom prst="rect">
            <a:avLst/>
          </a:prstGeom>
          <a:noFill/>
        </p:spPr>
        <p:txBody>
          <a:bodyPr wrap="square" lIns="0" tIns="0" rIns="0" bIns="0">
            <a:spAutoFit/>
          </a:bodyPr>
          <a:lstStyle/>
          <a:p>
            <a:pPr algn="l"/>
            <a:r>
              <a:rPr sz="1000" dirty="0">
                <a:solidFill>
                  <a:srgbClr val="B0B8C4"/>
                </a:solidFill>
                <a:latin typeface="Roboto Medium" panose="02000000000000000000" pitchFamily="2" charset="0"/>
                <a:ea typeface="Roboto Medium" panose="02000000000000000000" pitchFamily="2" charset="0"/>
              </a:rPr>
              <a:t>ROLE, BAT CITY COLLECTIVE</a:t>
            </a:r>
          </a:p>
        </p:txBody>
      </p:sp>
      <p:sp>
        <p:nvSpPr>
          <p:cNvPr id="14" name="TextBox 13"/>
          <p:cNvSpPr txBox="1"/>
          <p:nvPr/>
        </p:nvSpPr>
        <p:spPr>
          <a:xfrm>
            <a:off x="640080" y="4243507"/>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CONTEXT</a:t>
            </a:r>
          </a:p>
        </p:txBody>
      </p:sp>
      <p:sp>
        <p:nvSpPr>
          <p:cNvPr id="15" name="Rectangle 14"/>
          <p:cNvSpPr/>
          <p:nvPr/>
        </p:nvSpPr>
        <p:spPr>
          <a:xfrm>
            <a:off x="640080" y="4517827"/>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6" name="TextBox 15"/>
          <p:cNvSpPr txBox="1"/>
          <p:nvPr/>
        </p:nvSpPr>
        <p:spPr>
          <a:xfrm>
            <a:off x="640080" y="4609267"/>
            <a:ext cx="10908792" cy="246221"/>
          </a:xfrm>
          <a:prstGeom prst="rect">
            <a:avLst/>
          </a:prstGeom>
          <a:noFill/>
        </p:spPr>
        <p:txBody>
          <a:bodyPr wrap="square" lIns="0" tIns="0" rIns="0" bIns="0">
            <a:spAutoFit/>
          </a:bodyPr>
          <a:lstStyle/>
          <a:p>
            <a:pPr algn="l"/>
            <a:r>
              <a:rPr sz="1600" b="1" dirty="0">
                <a:solidFill>
                  <a:srgbClr val="F5F5F5"/>
                </a:solidFill>
                <a:latin typeface="Roboto Slab" pitchFamily="2" charset="0"/>
              </a:rPr>
              <a:t>Body text goes here — the setup, context, or additional instructor notes that accompany the mentor quote.</a:t>
            </a:r>
          </a:p>
        </p:txBody>
      </p:sp>
      <p:pic>
        <p:nvPicPr>
          <p:cNvPr id="18" name="Picture 17">
            <a:extLst>
              <a:ext uri="{FF2B5EF4-FFF2-40B4-BE49-F238E27FC236}">
                <a16:creationId xmlns:a16="http://schemas.microsoft.com/office/drawing/2014/main" id="{3F9FD34E-5522-3F53-3398-768B0F8BDEFD}"/>
              </a:ext>
            </a:extLst>
          </p:cNvPr>
          <p:cNvPicPr>
            <a:picLocks noChangeAspect="1"/>
          </p:cNvPicPr>
          <p:nvPr/>
        </p:nvPicPr>
        <p:blipFill>
          <a:blip r:embed="rId3"/>
          <a:srcRect/>
          <a:stretch/>
        </p:blipFill>
        <p:spPr>
          <a:xfrm>
            <a:off x="4725900" y="6473952"/>
            <a:ext cx="2526839" cy="365760"/>
          </a:xfrm>
          <a:prstGeom prst="rect">
            <a:avLst/>
          </a:prstGeom>
        </p:spPr>
      </p:pic>
      <p:pic>
        <p:nvPicPr>
          <p:cNvPr id="19" name="Picture 18">
            <a:extLst>
              <a:ext uri="{FF2B5EF4-FFF2-40B4-BE49-F238E27FC236}">
                <a16:creationId xmlns:a16="http://schemas.microsoft.com/office/drawing/2014/main" id="{1B4EC8D5-733F-8DF9-A50A-46E6B2A4852D}"/>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Architecture Overview</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PROGRAM STRUCTURE</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Rectangle 9"/>
          <p:cNvSpPr/>
          <p:nvPr/>
        </p:nvSpPr>
        <p:spPr>
          <a:xfrm>
            <a:off x="640080" y="2249424"/>
            <a:ext cx="10908792" cy="3675888"/>
          </a:xfrm>
          <a:prstGeom prst="rect">
            <a:avLst/>
          </a:prstGeom>
          <a:solidFill>
            <a:srgbClr val="081208"/>
          </a:solidFill>
          <a:ln w="25400">
            <a:solidFill>
              <a:srgbClr val="39FF1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1" name="TextBox 10"/>
          <p:cNvSpPr txBox="1"/>
          <p:nvPr/>
        </p:nvSpPr>
        <p:spPr>
          <a:xfrm>
            <a:off x="1097280" y="3858768"/>
            <a:ext cx="9994392" cy="299157"/>
          </a:xfrm>
          <a:prstGeom prst="rect">
            <a:avLst/>
          </a:prstGeom>
          <a:noFill/>
        </p:spPr>
        <p:txBody>
          <a:bodyPr wrap="square" lIns="36576" tIns="10972" rIns="36576" bIns="10972">
            <a:spAutoFit/>
          </a:bodyPr>
          <a:lstStyle/>
          <a:p>
            <a:pPr algn="ctr"/>
            <a:r>
              <a:rPr sz="1800" dirty="0">
                <a:solidFill>
                  <a:srgbClr val="39FF14"/>
                </a:solidFill>
                <a:latin typeface="Roboto Mono Medium" pitchFamily="2" charset="0"/>
              </a:rPr>
              <a:t>[ ARCHITECTURE PNG GOES HERE ]</a:t>
            </a:r>
          </a:p>
        </p:txBody>
      </p:sp>
      <p:sp>
        <p:nvSpPr>
          <p:cNvPr id="12" name="TextBox 11"/>
          <p:cNvSpPr txBox="1"/>
          <p:nvPr/>
        </p:nvSpPr>
        <p:spPr>
          <a:xfrm>
            <a:off x="1097280" y="4334256"/>
            <a:ext cx="9994392" cy="191435"/>
          </a:xfrm>
          <a:prstGeom prst="rect">
            <a:avLst/>
          </a:prstGeom>
          <a:noFill/>
        </p:spPr>
        <p:txBody>
          <a:bodyPr wrap="square" lIns="36576" tIns="10972" rIns="36576" bIns="10972">
            <a:spAutoFit/>
          </a:bodyPr>
          <a:lstStyle/>
          <a:p>
            <a:pPr algn="ctr"/>
            <a:r>
              <a:rPr sz="1100" b="1" dirty="0">
                <a:solidFill>
                  <a:srgbClr val="B0B8C4"/>
                </a:solidFill>
                <a:latin typeface="Roboto Slab" pitchFamily="2" charset="0"/>
              </a:rPr>
              <a:t>Place the architecture diagram PNG here</a:t>
            </a:r>
          </a:p>
        </p:txBody>
      </p:sp>
      <p:pic>
        <p:nvPicPr>
          <p:cNvPr id="14" name="Picture 13">
            <a:extLst>
              <a:ext uri="{FF2B5EF4-FFF2-40B4-BE49-F238E27FC236}">
                <a16:creationId xmlns:a16="http://schemas.microsoft.com/office/drawing/2014/main" id="{8E2BDE03-85B5-88C8-E0E6-0FF8AA5A2768}"/>
              </a:ext>
            </a:extLst>
          </p:cNvPr>
          <p:cNvPicPr>
            <a:picLocks noChangeAspect="1"/>
          </p:cNvPicPr>
          <p:nvPr/>
        </p:nvPicPr>
        <p:blipFill>
          <a:blip r:embed="rId3"/>
          <a:srcRect/>
          <a:stretch/>
        </p:blipFill>
        <p:spPr>
          <a:xfrm>
            <a:off x="4725900" y="6473952"/>
            <a:ext cx="2526839" cy="365760"/>
          </a:xfrm>
          <a:prstGeom prst="rect">
            <a:avLst/>
          </a:prstGeom>
        </p:spPr>
      </p:pic>
      <p:pic>
        <p:nvPicPr>
          <p:cNvPr id="15" name="Picture 14">
            <a:extLst>
              <a:ext uri="{FF2B5EF4-FFF2-40B4-BE49-F238E27FC236}">
                <a16:creationId xmlns:a16="http://schemas.microsoft.com/office/drawing/2014/main" id="{117D9C7C-FF8A-D1DF-E099-99A3D1F4FE3A}"/>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Overview</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WELCOME</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TextBox 9"/>
          <p:cNvSpPr txBox="1"/>
          <p:nvPr/>
        </p:nvSpPr>
        <p:spPr>
          <a:xfrm>
            <a:off x="640080" y="2249424"/>
            <a:ext cx="10908792" cy="492443"/>
          </a:xfrm>
          <a:prstGeom prst="rect">
            <a:avLst/>
          </a:prstGeom>
          <a:noFill/>
        </p:spPr>
        <p:txBody>
          <a:bodyPr wrap="square" lIns="0" tIns="0" rIns="0" bIns="0">
            <a:spAutoFit/>
          </a:bodyPr>
          <a:lstStyle/>
          <a:p>
            <a:pPr algn="l"/>
            <a:r>
              <a:rPr sz="1600" b="1" dirty="0">
                <a:solidFill>
                  <a:srgbClr val="F5F5F5"/>
                </a:solidFill>
                <a:latin typeface="Roboto Slab" pitchFamily="2" charset="0"/>
              </a:rPr>
              <a:t>This semester you'll learn Python by building a complete video game for a fictional client. No prior programming experience required — just curiosity and a willingness to work through problems one step at a time.</a:t>
            </a:r>
          </a:p>
        </p:txBody>
      </p:sp>
      <p:sp>
        <p:nvSpPr>
          <p:cNvPr id="11" name="TextBox 10"/>
          <p:cNvSpPr txBox="1"/>
          <p:nvPr/>
        </p:nvSpPr>
        <p:spPr>
          <a:xfrm>
            <a:off x="640080" y="3145536"/>
            <a:ext cx="10908792" cy="738664"/>
          </a:xfrm>
          <a:prstGeom prst="rect">
            <a:avLst/>
          </a:prstGeom>
          <a:noFill/>
        </p:spPr>
        <p:txBody>
          <a:bodyPr wrap="square" lIns="0" tIns="0" rIns="0" bIns="0">
            <a:spAutoFit/>
          </a:bodyPr>
          <a:lstStyle/>
          <a:p>
            <a:pPr algn="l"/>
            <a:r>
              <a:rPr sz="1600" b="1" dirty="0">
                <a:solidFill>
                  <a:srgbClr val="F5F5F5"/>
                </a:solidFill>
                <a:latin typeface="Roboto Slab" pitchFamily="2" charset="0"/>
              </a:rPr>
              <a:t>Our textbook is Starting Out with Python, 6th Edition by Tony Gaddis. We cover Chapters 2–11 across five modules, each building on the last. Every lab adds to the same codebase — by the end of the semester you'll have a working game.</a:t>
            </a:r>
          </a:p>
        </p:txBody>
      </p:sp>
      <p:sp>
        <p:nvSpPr>
          <p:cNvPr id="12" name="TextBox 11"/>
          <p:cNvSpPr txBox="1"/>
          <p:nvPr/>
        </p:nvSpPr>
        <p:spPr>
          <a:xfrm>
            <a:off x="640080" y="412394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WHAT YOU WILL BUILD</a:t>
            </a:r>
          </a:p>
        </p:txBody>
      </p:sp>
      <p:sp>
        <p:nvSpPr>
          <p:cNvPr id="13" name="Rectangle 12"/>
          <p:cNvSpPr/>
          <p:nvPr/>
        </p:nvSpPr>
        <p:spPr>
          <a:xfrm>
            <a:off x="640080" y="439826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4" name="TextBox 13"/>
          <p:cNvSpPr txBox="1"/>
          <p:nvPr/>
        </p:nvSpPr>
        <p:spPr>
          <a:xfrm>
            <a:off x="640080" y="4489704"/>
            <a:ext cx="10908792" cy="731520"/>
          </a:xfrm>
          <a:prstGeom prst="rect">
            <a:avLst/>
          </a:prstGeom>
          <a:noFill/>
        </p:spPr>
        <p:txBody>
          <a:bodyPr wrap="square" lIns="0" tIns="0" rIns="0" bIns="0">
            <a:spAutoFit/>
          </a:bodyPr>
          <a:lstStyle/>
          <a:p>
            <a:pPr algn="l"/>
            <a:r>
              <a:rPr sz="1600" b="1" dirty="0">
                <a:solidFill>
                  <a:srgbClr val="F5F5F5"/>
                </a:solidFill>
                <a:latin typeface="Roboto Slab" pitchFamily="2" charset="0"/>
              </a:rPr>
              <a:t>Deep in the Heart: A Lone Star Journey — a text-based Texas road trip game built incrementally across five modules using Python. Each module introduces new concepts that get applied directly to the game, so your code always does something real.</a:t>
            </a:r>
          </a:p>
        </p:txBody>
      </p:sp>
      <p:pic>
        <p:nvPicPr>
          <p:cNvPr id="16" name="Picture 15">
            <a:extLst>
              <a:ext uri="{FF2B5EF4-FFF2-40B4-BE49-F238E27FC236}">
                <a16:creationId xmlns:a16="http://schemas.microsoft.com/office/drawing/2014/main" id="{FB947579-0B19-5B82-2219-E3E3DE3C67E0}"/>
              </a:ext>
            </a:extLst>
          </p:cNvPr>
          <p:cNvPicPr>
            <a:picLocks noChangeAspect="1"/>
          </p:cNvPicPr>
          <p:nvPr/>
        </p:nvPicPr>
        <p:blipFill>
          <a:blip r:embed="rId3"/>
          <a:srcRect/>
          <a:stretch/>
        </p:blipFill>
        <p:spPr>
          <a:xfrm>
            <a:off x="4725900" y="6473952"/>
            <a:ext cx="2526839" cy="365760"/>
          </a:xfrm>
          <a:prstGeom prst="rect">
            <a:avLst/>
          </a:prstGeom>
        </p:spPr>
      </p:pic>
      <p:pic>
        <p:nvPicPr>
          <p:cNvPr id="17" name="Picture 16">
            <a:extLst>
              <a:ext uri="{FF2B5EF4-FFF2-40B4-BE49-F238E27FC236}">
                <a16:creationId xmlns:a16="http://schemas.microsoft.com/office/drawing/2014/main" id="{57AD9EE2-F5C4-02CE-BEFC-43FF318C4F5D}"/>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Meet Your Instructor</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INSTRUCTOR</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3" name="TextBox 12"/>
          <p:cNvSpPr txBox="1"/>
          <p:nvPr/>
        </p:nvSpPr>
        <p:spPr>
          <a:xfrm>
            <a:off x="2011679" y="2295144"/>
            <a:ext cx="9491472" cy="384048"/>
          </a:xfrm>
          <a:prstGeom prst="rect">
            <a:avLst/>
          </a:prstGeom>
          <a:noFill/>
        </p:spPr>
        <p:txBody>
          <a:bodyPr wrap="square" lIns="0" tIns="0" rIns="0" bIns="0">
            <a:spAutoFit/>
          </a:bodyPr>
          <a:lstStyle/>
          <a:p>
            <a:pPr algn="l"/>
            <a:r>
              <a:rPr sz="2400" b="1" dirty="0">
                <a:solidFill>
                  <a:srgbClr val="FFCC00"/>
                </a:solidFill>
                <a:latin typeface="Roboto Slab" pitchFamily="2" charset="0"/>
              </a:rPr>
              <a:t>John Newsom</a:t>
            </a:r>
          </a:p>
        </p:txBody>
      </p:sp>
      <p:sp>
        <p:nvSpPr>
          <p:cNvPr id="14" name="TextBox 13"/>
          <p:cNvSpPr txBox="1"/>
          <p:nvPr/>
        </p:nvSpPr>
        <p:spPr>
          <a:xfrm>
            <a:off x="2011679" y="2697479"/>
            <a:ext cx="9491472" cy="153888"/>
          </a:xfrm>
          <a:prstGeom prst="rect">
            <a:avLst/>
          </a:prstGeom>
          <a:noFill/>
        </p:spPr>
        <p:txBody>
          <a:bodyPr wrap="square" lIns="0" tIns="0" rIns="0" bIns="0">
            <a:spAutoFit/>
          </a:bodyPr>
          <a:lstStyle/>
          <a:p>
            <a:pPr algn="l"/>
            <a:r>
              <a:rPr sz="1000" dirty="0">
                <a:solidFill>
                  <a:srgbClr val="B0B8C4"/>
                </a:solidFill>
                <a:latin typeface="Roboto Medium" panose="02000000000000000000" pitchFamily="2" charset="0"/>
                <a:ea typeface="Roboto Medium" panose="02000000000000000000" pitchFamily="2" charset="0"/>
              </a:rPr>
              <a:t>PROFESSOR  •  INFORMATION SYSTEMS &amp; CYBER SECURITY</a:t>
            </a:r>
          </a:p>
        </p:txBody>
      </p:sp>
      <p:sp>
        <p:nvSpPr>
          <p:cNvPr id="15" name="TextBox 14"/>
          <p:cNvSpPr txBox="1"/>
          <p:nvPr/>
        </p:nvSpPr>
        <p:spPr>
          <a:xfrm>
            <a:off x="2011679" y="3008376"/>
            <a:ext cx="9491472" cy="646331"/>
          </a:xfrm>
          <a:prstGeom prst="rect">
            <a:avLst/>
          </a:prstGeom>
          <a:noFill/>
        </p:spPr>
        <p:txBody>
          <a:bodyPr wrap="square" lIns="0" tIns="0" rIns="0" bIns="0">
            <a:spAutoFit/>
          </a:bodyPr>
          <a:lstStyle/>
          <a:p>
            <a:pPr algn="l"/>
            <a:r>
              <a:rPr sz="1400" dirty="0">
                <a:solidFill>
                  <a:srgbClr val="F5F5F5"/>
                </a:solidFill>
                <a:latin typeface="Roboto Medium" panose="02000000000000000000" pitchFamily="2" charset="0"/>
                <a:ea typeface="Roboto Medium" panose="02000000000000000000" pitchFamily="2" charset="0"/>
              </a:rPr>
              <a:t>I've been teaching programming at UT San Antonio since 2020. Before academia, I spent 15 years in industry as an IT manager at small companies — ad agencies and law firms — doing everything from database work to full-stack development.</a:t>
            </a:r>
          </a:p>
        </p:txBody>
      </p:sp>
      <p:sp>
        <p:nvSpPr>
          <p:cNvPr id="16" name="TextBox 15"/>
          <p:cNvSpPr txBox="1"/>
          <p:nvPr/>
        </p:nvSpPr>
        <p:spPr>
          <a:xfrm>
            <a:off x="2011679" y="3886200"/>
            <a:ext cx="9491472" cy="430887"/>
          </a:xfrm>
          <a:prstGeom prst="rect">
            <a:avLst/>
          </a:prstGeom>
          <a:noFill/>
        </p:spPr>
        <p:txBody>
          <a:bodyPr wrap="square" lIns="0" tIns="0" rIns="0" bIns="0">
            <a:spAutoFit/>
          </a:bodyPr>
          <a:lstStyle/>
          <a:p>
            <a:pPr algn="l"/>
            <a:r>
              <a:rPr sz="1400" dirty="0">
                <a:solidFill>
                  <a:srgbClr val="F5F5F5"/>
                </a:solidFill>
                <a:latin typeface="Roboto Medium" panose="02000000000000000000" pitchFamily="2" charset="0"/>
                <a:ea typeface="Roboto Medium" panose="02000000000000000000" pitchFamily="2" charset="0"/>
              </a:rPr>
              <a:t>My teaching philosophy: "Build a little, test it, fix it." We tackle Python one concept at a time, always with hands-on practice.</a:t>
            </a:r>
          </a:p>
        </p:txBody>
      </p:sp>
      <p:sp>
        <p:nvSpPr>
          <p:cNvPr id="17" name="TextBox 16"/>
          <p:cNvSpPr txBox="1"/>
          <p:nvPr/>
        </p:nvSpPr>
        <p:spPr>
          <a:xfrm>
            <a:off x="640080" y="4882336"/>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CONTACT</a:t>
            </a:r>
          </a:p>
        </p:txBody>
      </p:sp>
      <p:sp>
        <p:nvSpPr>
          <p:cNvPr id="18" name="Rectangle 17"/>
          <p:cNvSpPr/>
          <p:nvPr/>
        </p:nvSpPr>
        <p:spPr>
          <a:xfrm>
            <a:off x="640080" y="5156656"/>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9" name="Rectangle 18"/>
          <p:cNvSpPr/>
          <p:nvPr/>
        </p:nvSpPr>
        <p:spPr>
          <a:xfrm>
            <a:off x="640080" y="5248096"/>
            <a:ext cx="2654046" cy="658368"/>
          </a:xfrm>
          <a:prstGeom prst="rect">
            <a:avLst/>
          </a:prstGeom>
          <a:solidFill>
            <a:schemeClr val="bg1">
              <a:alpha val="10000"/>
            </a:schemeClr>
          </a:solidFill>
          <a:ln w="12700">
            <a:solidFill>
              <a:srgbClr val="3232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20" name="TextBox 19"/>
          <p:cNvSpPr txBox="1"/>
          <p:nvPr/>
        </p:nvSpPr>
        <p:spPr>
          <a:xfrm>
            <a:off x="713232" y="5302960"/>
            <a:ext cx="2507741" cy="138499"/>
          </a:xfrm>
          <a:prstGeom prst="rect">
            <a:avLst/>
          </a:prstGeom>
          <a:noFill/>
        </p:spPr>
        <p:txBody>
          <a:bodyPr wrap="square" lIns="0" tIns="0" rIns="0" bIns="0">
            <a:spAutoFit/>
          </a:bodyPr>
          <a:lstStyle/>
          <a:p>
            <a:pPr algn="l"/>
            <a:r>
              <a:rPr sz="900" dirty="0">
                <a:solidFill>
                  <a:srgbClr val="0055FF"/>
                </a:solidFill>
                <a:latin typeface="Roboto Medium" panose="02000000000000000000" pitchFamily="2" charset="0"/>
                <a:ea typeface="Roboto Medium" panose="02000000000000000000" pitchFamily="2" charset="0"/>
              </a:rPr>
              <a:t>OFFICE HOURS</a:t>
            </a:r>
          </a:p>
        </p:txBody>
      </p:sp>
      <p:sp>
        <p:nvSpPr>
          <p:cNvPr id="21" name="TextBox 20"/>
          <p:cNvSpPr txBox="1"/>
          <p:nvPr/>
        </p:nvSpPr>
        <p:spPr>
          <a:xfrm>
            <a:off x="713232" y="5558992"/>
            <a:ext cx="2507741" cy="184666"/>
          </a:xfrm>
          <a:prstGeom prst="rect">
            <a:avLst/>
          </a:prstGeom>
          <a:noFill/>
        </p:spPr>
        <p:txBody>
          <a:bodyPr wrap="square" lIns="0" tIns="0" rIns="0" bIns="0">
            <a:spAutoFit/>
          </a:bodyPr>
          <a:lstStyle/>
          <a:p>
            <a:pPr algn="l"/>
            <a:r>
              <a:rPr sz="1200" dirty="0">
                <a:solidFill>
                  <a:srgbClr val="F5F5F5"/>
                </a:solidFill>
                <a:latin typeface="Roboto Medium" panose="02000000000000000000" pitchFamily="2" charset="0"/>
                <a:ea typeface="Roboto Medium" panose="02000000000000000000" pitchFamily="2" charset="0"/>
              </a:rPr>
              <a:t>Tuesdays 6:00 PM CT</a:t>
            </a:r>
          </a:p>
        </p:txBody>
      </p:sp>
      <p:sp>
        <p:nvSpPr>
          <p:cNvPr id="22" name="Rectangle 21"/>
          <p:cNvSpPr/>
          <p:nvPr/>
        </p:nvSpPr>
        <p:spPr>
          <a:xfrm>
            <a:off x="3367278" y="5248096"/>
            <a:ext cx="2654046" cy="658368"/>
          </a:xfrm>
          <a:prstGeom prst="rect">
            <a:avLst/>
          </a:prstGeom>
          <a:solidFill>
            <a:schemeClr val="bg1">
              <a:alpha val="10000"/>
            </a:schemeClr>
          </a:solidFill>
          <a:ln w="12700">
            <a:solidFill>
              <a:srgbClr val="3232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23" name="TextBox 22"/>
          <p:cNvSpPr txBox="1"/>
          <p:nvPr/>
        </p:nvSpPr>
        <p:spPr>
          <a:xfrm>
            <a:off x="3440430" y="5302960"/>
            <a:ext cx="2507741" cy="138499"/>
          </a:xfrm>
          <a:prstGeom prst="rect">
            <a:avLst/>
          </a:prstGeom>
          <a:noFill/>
        </p:spPr>
        <p:txBody>
          <a:bodyPr wrap="square" lIns="0" tIns="0" rIns="0" bIns="0">
            <a:spAutoFit/>
          </a:bodyPr>
          <a:lstStyle/>
          <a:p>
            <a:pPr algn="l"/>
            <a:r>
              <a:rPr sz="900" dirty="0">
                <a:solidFill>
                  <a:srgbClr val="0055FF"/>
                </a:solidFill>
                <a:latin typeface="Roboto Medium" panose="02000000000000000000" pitchFamily="2" charset="0"/>
                <a:ea typeface="Roboto Medium" panose="02000000000000000000" pitchFamily="2" charset="0"/>
              </a:rPr>
              <a:t>EMAIL</a:t>
            </a:r>
          </a:p>
        </p:txBody>
      </p:sp>
      <p:sp>
        <p:nvSpPr>
          <p:cNvPr id="24" name="TextBox 23"/>
          <p:cNvSpPr txBox="1"/>
          <p:nvPr/>
        </p:nvSpPr>
        <p:spPr>
          <a:xfrm>
            <a:off x="3440430" y="5558992"/>
            <a:ext cx="2507741" cy="184666"/>
          </a:xfrm>
          <a:prstGeom prst="rect">
            <a:avLst/>
          </a:prstGeom>
          <a:noFill/>
        </p:spPr>
        <p:txBody>
          <a:bodyPr wrap="square" lIns="0" tIns="0" rIns="0" bIns="0">
            <a:spAutoFit/>
          </a:bodyPr>
          <a:lstStyle/>
          <a:p>
            <a:pPr algn="l"/>
            <a:r>
              <a:rPr sz="1200" dirty="0" err="1">
                <a:solidFill>
                  <a:srgbClr val="F5F5F5"/>
                </a:solidFill>
                <a:latin typeface="Roboto Medium" panose="02000000000000000000" pitchFamily="2" charset="0"/>
                <a:ea typeface="Roboto Medium" panose="02000000000000000000" pitchFamily="2" charset="0"/>
              </a:rPr>
              <a:t>john.newsom@utsa.edu</a:t>
            </a:r>
            <a:endParaRPr sz="1200" dirty="0">
              <a:solidFill>
                <a:srgbClr val="F5F5F5"/>
              </a:solidFill>
              <a:latin typeface="Roboto Medium" panose="02000000000000000000" pitchFamily="2" charset="0"/>
              <a:ea typeface="Roboto Medium" panose="02000000000000000000" pitchFamily="2" charset="0"/>
            </a:endParaRPr>
          </a:p>
        </p:txBody>
      </p:sp>
      <p:sp>
        <p:nvSpPr>
          <p:cNvPr id="25" name="Rectangle 24"/>
          <p:cNvSpPr/>
          <p:nvPr/>
        </p:nvSpPr>
        <p:spPr>
          <a:xfrm>
            <a:off x="6094476" y="5248096"/>
            <a:ext cx="2654046" cy="658368"/>
          </a:xfrm>
          <a:prstGeom prst="rect">
            <a:avLst/>
          </a:prstGeom>
          <a:solidFill>
            <a:schemeClr val="bg1">
              <a:alpha val="10000"/>
            </a:schemeClr>
          </a:solidFill>
          <a:ln w="12700">
            <a:solidFill>
              <a:srgbClr val="3232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26" name="TextBox 25"/>
          <p:cNvSpPr txBox="1"/>
          <p:nvPr/>
        </p:nvSpPr>
        <p:spPr>
          <a:xfrm>
            <a:off x="6167628" y="5302960"/>
            <a:ext cx="2507741" cy="138499"/>
          </a:xfrm>
          <a:prstGeom prst="rect">
            <a:avLst/>
          </a:prstGeom>
          <a:noFill/>
        </p:spPr>
        <p:txBody>
          <a:bodyPr wrap="square" lIns="0" tIns="0" rIns="0" bIns="0">
            <a:spAutoFit/>
          </a:bodyPr>
          <a:lstStyle/>
          <a:p>
            <a:pPr algn="l"/>
            <a:r>
              <a:rPr sz="900" dirty="0">
                <a:solidFill>
                  <a:srgbClr val="0055FF"/>
                </a:solidFill>
                <a:latin typeface="Roboto Medium" panose="02000000000000000000" pitchFamily="2" charset="0"/>
                <a:ea typeface="Roboto Medium" panose="02000000000000000000" pitchFamily="2" charset="0"/>
              </a:rPr>
              <a:t>CALENDLY</a:t>
            </a:r>
          </a:p>
        </p:txBody>
      </p:sp>
      <p:sp>
        <p:nvSpPr>
          <p:cNvPr id="27" name="TextBox 26"/>
          <p:cNvSpPr txBox="1"/>
          <p:nvPr/>
        </p:nvSpPr>
        <p:spPr>
          <a:xfrm>
            <a:off x="6167628" y="5558992"/>
            <a:ext cx="2507741" cy="184666"/>
          </a:xfrm>
          <a:prstGeom prst="rect">
            <a:avLst/>
          </a:prstGeom>
          <a:noFill/>
        </p:spPr>
        <p:txBody>
          <a:bodyPr wrap="square" lIns="0" tIns="0" rIns="0" bIns="0">
            <a:spAutoFit/>
          </a:bodyPr>
          <a:lstStyle/>
          <a:p>
            <a:pPr algn="l"/>
            <a:r>
              <a:rPr sz="1200" dirty="0" err="1">
                <a:solidFill>
                  <a:srgbClr val="F5F5F5"/>
                </a:solidFill>
                <a:latin typeface="Roboto Medium" panose="02000000000000000000" pitchFamily="2" charset="0"/>
                <a:ea typeface="Roboto Medium" panose="02000000000000000000" pitchFamily="2" charset="0"/>
              </a:rPr>
              <a:t>calendly.com</a:t>
            </a:r>
            <a:r>
              <a:rPr sz="1200" dirty="0">
                <a:solidFill>
                  <a:srgbClr val="F5F5F5"/>
                </a:solidFill>
                <a:latin typeface="Roboto Medium" panose="02000000000000000000" pitchFamily="2" charset="0"/>
                <a:ea typeface="Roboto Medium" panose="02000000000000000000" pitchFamily="2" charset="0"/>
              </a:rPr>
              <a:t>/john-</a:t>
            </a:r>
            <a:r>
              <a:rPr sz="1200" dirty="0" err="1">
                <a:solidFill>
                  <a:srgbClr val="F5F5F5"/>
                </a:solidFill>
                <a:latin typeface="Roboto Medium" panose="02000000000000000000" pitchFamily="2" charset="0"/>
                <a:ea typeface="Roboto Medium" panose="02000000000000000000" pitchFamily="2" charset="0"/>
              </a:rPr>
              <a:t>newsom</a:t>
            </a:r>
            <a:r>
              <a:rPr sz="1200" dirty="0">
                <a:solidFill>
                  <a:srgbClr val="F5F5F5"/>
                </a:solidFill>
                <a:latin typeface="Roboto Medium" panose="02000000000000000000" pitchFamily="2" charset="0"/>
                <a:ea typeface="Roboto Medium" panose="02000000000000000000" pitchFamily="2" charset="0"/>
              </a:rPr>
              <a:t>-</a:t>
            </a:r>
            <a:r>
              <a:rPr sz="1200" dirty="0" err="1">
                <a:solidFill>
                  <a:srgbClr val="F5F5F5"/>
                </a:solidFill>
                <a:latin typeface="Roboto Medium" panose="02000000000000000000" pitchFamily="2" charset="0"/>
                <a:ea typeface="Roboto Medium" panose="02000000000000000000" pitchFamily="2" charset="0"/>
              </a:rPr>
              <a:t>utsa</a:t>
            </a:r>
            <a:endParaRPr sz="1200" dirty="0">
              <a:solidFill>
                <a:srgbClr val="F5F5F5"/>
              </a:solidFill>
              <a:latin typeface="Roboto Medium" panose="02000000000000000000" pitchFamily="2" charset="0"/>
              <a:ea typeface="Roboto Medium" panose="02000000000000000000" pitchFamily="2" charset="0"/>
            </a:endParaRPr>
          </a:p>
        </p:txBody>
      </p:sp>
      <p:sp>
        <p:nvSpPr>
          <p:cNvPr id="28" name="Rectangle 27"/>
          <p:cNvSpPr/>
          <p:nvPr/>
        </p:nvSpPr>
        <p:spPr>
          <a:xfrm>
            <a:off x="8821674" y="5248096"/>
            <a:ext cx="2654046" cy="658368"/>
          </a:xfrm>
          <a:prstGeom prst="rect">
            <a:avLst/>
          </a:prstGeom>
          <a:solidFill>
            <a:schemeClr val="bg1">
              <a:alpha val="10000"/>
            </a:schemeClr>
          </a:solidFill>
          <a:ln w="12700">
            <a:solidFill>
              <a:srgbClr val="3232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29" name="TextBox 28"/>
          <p:cNvSpPr txBox="1"/>
          <p:nvPr/>
        </p:nvSpPr>
        <p:spPr>
          <a:xfrm>
            <a:off x="8894826" y="5302960"/>
            <a:ext cx="2507741" cy="138499"/>
          </a:xfrm>
          <a:prstGeom prst="rect">
            <a:avLst/>
          </a:prstGeom>
          <a:noFill/>
        </p:spPr>
        <p:txBody>
          <a:bodyPr wrap="square" lIns="0" tIns="0" rIns="0" bIns="0">
            <a:spAutoFit/>
          </a:bodyPr>
          <a:lstStyle/>
          <a:p>
            <a:pPr algn="l"/>
            <a:r>
              <a:rPr sz="900" dirty="0">
                <a:solidFill>
                  <a:srgbClr val="0055FF"/>
                </a:solidFill>
                <a:latin typeface="Roboto Medium" panose="02000000000000000000" pitchFamily="2" charset="0"/>
                <a:ea typeface="Roboto Medium" panose="02000000000000000000" pitchFamily="2" charset="0"/>
              </a:rPr>
              <a:t>DISCORD</a:t>
            </a:r>
          </a:p>
        </p:txBody>
      </p:sp>
      <p:sp>
        <p:nvSpPr>
          <p:cNvPr id="30" name="TextBox 29"/>
          <p:cNvSpPr txBox="1"/>
          <p:nvPr/>
        </p:nvSpPr>
        <p:spPr>
          <a:xfrm>
            <a:off x="8894826" y="5558992"/>
            <a:ext cx="2507741" cy="184666"/>
          </a:xfrm>
          <a:prstGeom prst="rect">
            <a:avLst/>
          </a:prstGeom>
          <a:noFill/>
        </p:spPr>
        <p:txBody>
          <a:bodyPr wrap="square" lIns="0" tIns="0" rIns="0" bIns="0">
            <a:spAutoFit/>
          </a:bodyPr>
          <a:lstStyle/>
          <a:p>
            <a:pPr algn="l"/>
            <a:r>
              <a:rPr sz="1200" dirty="0">
                <a:solidFill>
                  <a:srgbClr val="F5F5F5"/>
                </a:solidFill>
                <a:latin typeface="Roboto Medium" panose="02000000000000000000" pitchFamily="2" charset="0"/>
                <a:ea typeface="Roboto Medium" panose="02000000000000000000" pitchFamily="2" charset="0"/>
              </a:rPr>
              <a:t>#help channel</a:t>
            </a:r>
          </a:p>
        </p:txBody>
      </p:sp>
      <p:pic>
        <p:nvPicPr>
          <p:cNvPr id="32" name="Picture 31">
            <a:extLst>
              <a:ext uri="{FF2B5EF4-FFF2-40B4-BE49-F238E27FC236}">
                <a16:creationId xmlns:a16="http://schemas.microsoft.com/office/drawing/2014/main" id="{8B5DE38E-3691-47ED-6D86-9E584EDF552B}"/>
              </a:ext>
            </a:extLst>
          </p:cNvPr>
          <p:cNvPicPr>
            <a:picLocks noChangeAspect="1"/>
          </p:cNvPicPr>
          <p:nvPr/>
        </p:nvPicPr>
        <p:blipFill>
          <a:blip r:embed="rId3"/>
          <a:srcRect/>
          <a:stretch/>
        </p:blipFill>
        <p:spPr>
          <a:xfrm>
            <a:off x="4725900" y="6473952"/>
            <a:ext cx="2526839" cy="365760"/>
          </a:xfrm>
          <a:prstGeom prst="rect">
            <a:avLst/>
          </a:prstGeom>
        </p:spPr>
      </p:pic>
      <p:pic>
        <p:nvPicPr>
          <p:cNvPr id="33" name="Picture 32">
            <a:extLst>
              <a:ext uri="{FF2B5EF4-FFF2-40B4-BE49-F238E27FC236}">
                <a16:creationId xmlns:a16="http://schemas.microsoft.com/office/drawing/2014/main" id="{48CDE10E-B2F3-0BD9-41C2-B496D3C6B9D4}"/>
              </a:ext>
            </a:extLst>
          </p:cNvPr>
          <p:cNvPicPr>
            <a:picLocks noChangeAspect="1"/>
          </p:cNvPicPr>
          <p:nvPr/>
        </p:nvPicPr>
        <p:blipFill>
          <a:blip r:embed="rId4"/>
          <a:stretch>
            <a:fillRect/>
          </a:stretch>
        </p:blipFill>
        <p:spPr>
          <a:xfrm>
            <a:off x="9811911" y="274320"/>
            <a:ext cx="1992993" cy="1300447"/>
          </a:xfrm>
          <a:prstGeom prst="rect">
            <a:avLst/>
          </a:prstGeom>
        </p:spPr>
      </p:pic>
      <p:pic>
        <p:nvPicPr>
          <p:cNvPr id="35" name="Picture 34">
            <a:extLst>
              <a:ext uri="{FF2B5EF4-FFF2-40B4-BE49-F238E27FC236}">
                <a16:creationId xmlns:a16="http://schemas.microsoft.com/office/drawing/2014/main" id="{22B6F82F-F9EA-5AA7-0BD5-9E66F87E7F00}"/>
              </a:ext>
            </a:extLst>
          </p:cNvPr>
          <p:cNvPicPr>
            <a:picLocks noChangeAspect="1"/>
          </p:cNvPicPr>
          <p:nvPr/>
        </p:nvPicPr>
        <p:blipFill>
          <a:blip r:embed="rId5"/>
          <a:stretch>
            <a:fillRect/>
          </a:stretch>
        </p:blipFill>
        <p:spPr>
          <a:xfrm>
            <a:off x="685674" y="2339145"/>
            <a:ext cx="1160291" cy="1547055"/>
          </a:xfrm>
          <a:prstGeom prst="rect">
            <a:avLst/>
          </a:prstGeom>
          <a:ln w="19050">
            <a:solidFill>
              <a:srgbClr val="FEC619"/>
            </a:solid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347472" y="274320"/>
            <a:ext cx="11676888" cy="61264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pic>
        <p:nvPicPr>
          <p:cNvPr id="3" name="Picture 2" descr="image.png"/>
          <p:cNvPicPr>
            <a:picLocks noChangeAspect="1"/>
          </p:cNvPicPr>
          <p:nvPr/>
        </p:nvPicPr>
        <p:blipFill>
          <a:blip r:embed="rId2"/>
          <a:stretch>
            <a:fillRect/>
          </a:stretch>
        </p:blipFill>
        <p:spPr>
          <a:xfrm>
            <a:off x="256032" y="182880"/>
            <a:ext cx="11676888" cy="6126480"/>
          </a:xfrm>
          <a:prstGeom prst="rect">
            <a:avLst/>
          </a:prstGeom>
          <a:ln w="50800">
            <a:solidFill>
              <a:srgbClr val="000000"/>
            </a:solidFill>
          </a:ln>
        </p:spPr>
      </p:pic>
      <p:sp>
        <p:nvSpPr>
          <p:cNvPr id="5" name="TextBox 4"/>
          <p:cNvSpPr txBox="1"/>
          <p:nvPr/>
        </p:nvSpPr>
        <p:spPr>
          <a:xfrm>
            <a:off x="512064" y="411480"/>
            <a:ext cx="8869680" cy="677108"/>
          </a:xfrm>
          <a:prstGeom prst="rect">
            <a:avLst/>
          </a:prstGeom>
          <a:noFill/>
        </p:spPr>
        <p:txBody>
          <a:bodyPr wrap="square" lIns="0" tIns="0" rIns="0" bIns="0">
            <a:spAutoFit/>
          </a:bodyPr>
          <a:lstStyle/>
          <a:p>
            <a:pPr algn="l"/>
            <a:r>
              <a:rPr sz="4400" b="1" dirty="0">
                <a:solidFill>
                  <a:srgbClr val="F5F5F5"/>
                </a:solidFill>
                <a:latin typeface="Roboto Slab" pitchFamily="2" charset="0"/>
              </a:rPr>
              <a:t>Quick Links</a:t>
            </a:r>
          </a:p>
        </p:txBody>
      </p:sp>
      <p:sp>
        <p:nvSpPr>
          <p:cNvPr id="6" name="Rectangle 5"/>
          <p:cNvSpPr/>
          <p:nvPr/>
        </p:nvSpPr>
        <p:spPr>
          <a:xfrm>
            <a:off x="384048" y="1719072"/>
            <a:ext cx="11420856" cy="4462272"/>
          </a:xfrm>
          <a:prstGeom prst="rect">
            <a:avLst/>
          </a:prstGeom>
          <a:solidFill>
            <a:srgbClr val="0A0A0A">
              <a:alpha val="75000"/>
            </a:srgbClr>
          </a:solidFill>
          <a:ln w="381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8" name="TextBox 7"/>
          <p:cNvSpPr txBox="1"/>
          <p:nvPr/>
        </p:nvSpPr>
        <p:spPr>
          <a:xfrm>
            <a:off x="640080" y="1883664"/>
            <a:ext cx="10908792" cy="184666"/>
          </a:xfrm>
          <a:prstGeom prst="rect">
            <a:avLst/>
          </a:prstGeom>
          <a:noFill/>
        </p:spPr>
        <p:txBody>
          <a:bodyPr wrap="square" lIns="0" tIns="0" rIns="0" bIns="0">
            <a:spAutoFit/>
          </a:bodyPr>
          <a:lstStyle/>
          <a:p>
            <a:pPr algn="l"/>
            <a:r>
              <a:rPr sz="1200" b="1" dirty="0">
                <a:solidFill>
                  <a:srgbClr val="FFCC00"/>
                </a:solidFill>
                <a:latin typeface="Roboto Slab" pitchFamily="2" charset="0"/>
              </a:rPr>
              <a:t>COURSE RESOURCES</a:t>
            </a:r>
          </a:p>
        </p:txBody>
      </p:sp>
      <p:sp>
        <p:nvSpPr>
          <p:cNvPr id="9" name="Rectangle 8"/>
          <p:cNvSpPr/>
          <p:nvPr/>
        </p:nvSpPr>
        <p:spPr>
          <a:xfrm>
            <a:off x="640080" y="2157984"/>
            <a:ext cx="10908792" cy="16459"/>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latin typeface="Roboto Slab" pitchFamily="2" charset="0"/>
            </a:endParaRPr>
          </a:p>
        </p:txBody>
      </p:sp>
      <p:sp>
        <p:nvSpPr>
          <p:cNvPr id="10" name="TextBox 9"/>
          <p:cNvSpPr txBox="1"/>
          <p:nvPr/>
        </p:nvSpPr>
        <p:spPr>
          <a:xfrm>
            <a:off x="640080" y="2249424"/>
            <a:ext cx="10908792" cy="153888"/>
          </a:xfrm>
          <a:prstGeom prst="rect">
            <a:avLst/>
          </a:prstGeom>
          <a:noFill/>
        </p:spPr>
        <p:txBody>
          <a:bodyPr wrap="square" lIns="0" tIns="0" rIns="0" bIns="0">
            <a:spAutoFit/>
          </a:bodyPr>
          <a:lstStyle/>
          <a:p>
            <a:pPr algn="l"/>
            <a:r>
              <a:rPr sz="1000" dirty="0">
                <a:solidFill>
                  <a:srgbClr val="B0B8C4"/>
                </a:solidFill>
                <a:latin typeface="Roboto Medium" panose="02000000000000000000" pitchFamily="2" charset="0"/>
                <a:ea typeface="Roboto Medium" panose="02000000000000000000" pitchFamily="2" charset="0"/>
              </a:rPr>
              <a:t>COURSE</a:t>
            </a:r>
          </a:p>
        </p:txBody>
      </p:sp>
      <p:sp>
        <p:nvSpPr>
          <p:cNvPr id="11" name="Rectangle 10"/>
          <p:cNvSpPr/>
          <p:nvPr/>
        </p:nvSpPr>
        <p:spPr>
          <a:xfrm>
            <a:off x="676656" y="2523744"/>
            <a:ext cx="105156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2" name="Rectangle 11"/>
          <p:cNvSpPr/>
          <p:nvPr/>
        </p:nvSpPr>
        <p:spPr>
          <a:xfrm>
            <a:off x="640080" y="2487168"/>
            <a:ext cx="105156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3" name="TextBox 12"/>
          <p:cNvSpPr txBox="1"/>
          <p:nvPr/>
        </p:nvSpPr>
        <p:spPr>
          <a:xfrm>
            <a:off x="694944" y="2542032"/>
            <a:ext cx="941831"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Start Here</a:t>
            </a:r>
          </a:p>
        </p:txBody>
      </p:sp>
      <p:sp>
        <p:nvSpPr>
          <p:cNvPr id="14" name="Rectangle 13"/>
          <p:cNvSpPr/>
          <p:nvPr/>
        </p:nvSpPr>
        <p:spPr>
          <a:xfrm>
            <a:off x="1819656" y="2523744"/>
            <a:ext cx="877824"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5" name="Rectangle 14"/>
          <p:cNvSpPr/>
          <p:nvPr/>
        </p:nvSpPr>
        <p:spPr>
          <a:xfrm>
            <a:off x="1783080" y="2487168"/>
            <a:ext cx="877824"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6" name="TextBox 15"/>
          <p:cNvSpPr txBox="1"/>
          <p:nvPr/>
        </p:nvSpPr>
        <p:spPr>
          <a:xfrm>
            <a:off x="1837944" y="2542032"/>
            <a:ext cx="768096"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Syllabus</a:t>
            </a:r>
          </a:p>
        </p:txBody>
      </p:sp>
      <p:sp>
        <p:nvSpPr>
          <p:cNvPr id="17" name="Rectangle 16"/>
          <p:cNvSpPr/>
          <p:nvPr/>
        </p:nvSpPr>
        <p:spPr>
          <a:xfrm>
            <a:off x="2788920" y="2523744"/>
            <a:ext cx="1225296"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8" name="Rectangle 17"/>
          <p:cNvSpPr/>
          <p:nvPr/>
        </p:nvSpPr>
        <p:spPr>
          <a:xfrm>
            <a:off x="2752344" y="2487168"/>
            <a:ext cx="1225296"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19" name="TextBox 18"/>
          <p:cNvSpPr txBox="1"/>
          <p:nvPr/>
        </p:nvSpPr>
        <p:spPr>
          <a:xfrm>
            <a:off x="2807208" y="2542032"/>
            <a:ext cx="1115568"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Grading Info</a:t>
            </a:r>
          </a:p>
        </p:txBody>
      </p:sp>
      <p:sp>
        <p:nvSpPr>
          <p:cNvPr id="20" name="Rectangle 19"/>
          <p:cNvSpPr/>
          <p:nvPr/>
        </p:nvSpPr>
        <p:spPr>
          <a:xfrm>
            <a:off x="4105656" y="2523744"/>
            <a:ext cx="148590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1" name="Rectangle 20"/>
          <p:cNvSpPr/>
          <p:nvPr/>
        </p:nvSpPr>
        <p:spPr>
          <a:xfrm>
            <a:off x="4069080" y="2487168"/>
            <a:ext cx="148590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2" name="TextBox 21"/>
          <p:cNvSpPr txBox="1"/>
          <p:nvPr/>
        </p:nvSpPr>
        <p:spPr>
          <a:xfrm>
            <a:off x="4123944" y="2542032"/>
            <a:ext cx="137617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Course Schedule</a:t>
            </a:r>
          </a:p>
        </p:txBody>
      </p:sp>
      <p:sp>
        <p:nvSpPr>
          <p:cNvPr id="23" name="Rectangle 22"/>
          <p:cNvSpPr/>
          <p:nvPr/>
        </p:nvSpPr>
        <p:spPr>
          <a:xfrm>
            <a:off x="5682996" y="2523744"/>
            <a:ext cx="1312164"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4" name="Rectangle 23"/>
          <p:cNvSpPr/>
          <p:nvPr/>
        </p:nvSpPr>
        <p:spPr>
          <a:xfrm>
            <a:off x="5646420" y="2487168"/>
            <a:ext cx="1312164"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5" name="TextBox 24"/>
          <p:cNvSpPr txBox="1"/>
          <p:nvPr/>
        </p:nvSpPr>
        <p:spPr>
          <a:xfrm>
            <a:off x="5701284" y="2542032"/>
            <a:ext cx="1202436"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Zoom Sessions</a:t>
            </a:r>
          </a:p>
        </p:txBody>
      </p:sp>
      <p:sp>
        <p:nvSpPr>
          <p:cNvPr id="26" name="TextBox 25"/>
          <p:cNvSpPr txBox="1"/>
          <p:nvPr/>
        </p:nvSpPr>
        <p:spPr>
          <a:xfrm>
            <a:off x="640080" y="2980944"/>
            <a:ext cx="10908792" cy="153888"/>
          </a:xfrm>
          <a:prstGeom prst="rect">
            <a:avLst/>
          </a:prstGeom>
          <a:noFill/>
        </p:spPr>
        <p:txBody>
          <a:bodyPr wrap="square" lIns="0" tIns="0" rIns="0" bIns="0">
            <a:spAutoFit/>
          </a:bodyPr>
          <a:lstStyle/>
          <a:p>
            <a:pPr algn="l"/>
            <a:r>
              <a:rPr sz="1000" dirty="0">
                <a:solidFill>
                  <a:srgbClr val="B0B8C4"/>
                </a:solidFill>
                <a:latin typeface="Roboto Medium" panose="02000000000000000000" pitchFamily="2" charset="0"/>
                <a:ea typeface="Roboto Medium" panose="02000000000000000000" pitchFamily="2" charset="0"/>
              </a:rPr>
              <a:t>RESOURCES</a:t>
            </a:r>
          </a:p>
        </p:txBody>
      </p:sp>
      <p:sp>
        <p:nvSpPr>
          <p:cNvPr id="27" name="Rectangle 26"/>
          <p:cNvSpPr/>
          <p:nvPr/>
        </p:nvSpPr>
        <p:spPr>
          <a:xfrm>
            <a:off x="676656" y="3255263"/>
            <a:ext cx="1312164"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8" name="Rectangle 27"/>
          <p:cNvSpPr/>
          <p:nvPr/>
        </p:nvSpPr>
        <p:spPr>
          <a:xfrm>
            <a:off x="640080" y="3218687"/>
            <a:ext cx="1312164"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29" name="TextBox 28"/>
          <p:cNvSpPr txBox="1"/>
          <p:nvPr/>
        </p:nvSpPr>
        <p:spPr>
          <a:xfrm>
            <a:off x="694944" y="3273551"/>
            <a:ext cx="1202436"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VS Code Setup</a:t>
            </a:r>
          </a:p>
        </p:txBody>
      </p:sp>
      <p:sp>
        <p:nvSpPr>
          <p:cNvPr id="30" name="Rectangle 29"/>
          <p:cNvSpPr/>
          <p:nvPr/>
        </p:nvSpPr>
        <p:spPr>
          <a:xfrm>
            <a:off x="2080260" y="3255263"/>
            <a:ext cx="1399032"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1" name="Rectangle 30"/>
          <p:cNvSpPr/>
          <p:nvPr/>
        </p:nvSpPr>
        <p:spPr>
          <a:xfrm>
            <a:off x="2043684" y="3218687"/>
            <a:ext cx="1399032"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2" name="TextBox 31"/>
          <p:cNvSpPr txBox="1"/>
          <p:nvPr/>
        </p:nvSpPr>
        <p:spPr>
          <a:xfrm>
            <a:off x="2098548" y="3273551"/>
            <a:ext cx="1289304"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Loaner Laptops</a:t>
            </a:r>
          </a:p>
        </p:txBody>
      </p:sp>
      <p:sp>
        <p:nvSpPr>
          <p:cNvPr id="33" name="Rectangle 32"/>
          <p:cNvSpPr/>
          <p:nvPr/>
        </p:nvSpPr>
        <p:spPr>
          <a:xfrm>
            <a:off x="3570732" y="3255263"/>
            <a:ext cx="1225296"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4" name="Rectangle 33"/>
          <p:cNvSpPr/>
          <p:nvPr/>
        </p:nvSpPr>
        <p:spPr>
          <a:xfrm>
            <a:off x="3534156" y="3218687"/>
            <a:ext cx="1225296"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5" name="TextBox 34"/>
          <p:cNvSpPr txBox="1"/>
          <p:nvPr/>
        </p:nvSpPr>
        <p:spPr>
          <a:xfrm>
            <a:off x="3589020" y="3273551"/>
            <a:ext cx="1115568"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Flake8 Guide</a:t>
            </a:r>
          </a:p>
        </p:txBody>
      </p:sp>
      <p:sp>
        <p:nvSpPr>
          <p:cNvPr id="36" name="Rectangle 35"/>
          <p:cNvSpPr/>
          <p:nvPr/>
        </p:nvSpPr>
        <p:spPr>
          <a:xfrm>
            <a:off x="4887468" y="3255263"/>
            <a:ext cx="1138428"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7" name="Rectangle 36"/>
          <p:cNvSpPr/>
          <p:nvPr/>
        </p:nvSpPr>
        <p:spPr>
          <a:xfrm>
            <a:off x="4850892" y="3218687"/>
            <a:ext cx="1138428"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38" name="TextBox 37"/>
          <p:cNvSpPr txBox="1"/>
          <p:nvPr/>
        </p:nvSpPr>
        <p:spPr>
          <a:xfrm>
            <a:off x="4905756" y="3273551"/>
            <a:ext cx="1028700"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Python Docs</a:t>
            </a:r>
          </a:p>
        </p:txBody>
      </p:sp>
      <p:sp>
        <p:nvSpPr>
          <p:cNvPr id="39" name="TextBox 38"/>
          <p:cNvSpPr txBox="1"/>
          <p:nvPr/>
        </p:nvSpPr>
        <p:spPr>
          <a:xfrm>
            <a:off x="640080" y="3712463"/>
            <a:ext cx="10908792" cy="153888"/>
          </a:xfrm>
          <a:prstGeom prst="rect">
            <a:avLst/>
          </a:prstGeom>
          <a:noFill/>
        </p:spPr>
        <p:txBody>
          <a:bodyPr wrap="square" lIns="0" tIns="0" rIns="0" bIns="0">
            <a:spAutoFit/>
          </a:bodyPr>
          <a:lstStyle/>
          <a:p>
            <a:pPr algn="l"/>
            <a:r>
              <a:rPr sz="1000" dirty="0">
                <a:solidFill>
                  <a:srgbClr val="B0B8C4"/>
                </a:solidFill>
                <a:latin typeface="Roboto Medium" panose="02000000000000000000" pitchFamily="2" charset="0"/>
                <a:ea typeface="Roboto Medium" panose="02000000000000000000" pitchFamily="2" charset="0"/>
              </a:rPr>
              <a:t>LABS</a:t>
            </a:r>
          </a:p>
        </p:txBody>
      </p:sp>
      <p:sp>
        <p:nvSpPr>
          <p:cNvPr id="40" name="Rectangle 39"/>
          <p:cNvSpPr/>
          <p:nvPr/>
        </p:nvSpPr>
        <p:spPr>
          <a:xfrm>
            <a:off x="676656" y="3986783"/>
            <a:ext cx="790956"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41" name="Rectangle 40"/>
          <p:cNvSpPr/>
          <p:nvPr/>
        </p:nvSpPr>
        <p:spPr>
          <a:xfrm>
            <a:off x="640080" y="3950207"/>
            <a:ext cx="790956"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42" name="TextBox 41"/>
          <p:cNvSpPr txBox="1"/>
          <p:nvPr/>
        </p:nvSpPr>
        <p:spPr>
          <a:xfrm>
            <a:off x="694944" y="4005071"/>
            <a:ext cx="681228"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Lab 1.1</a:t>
            </a:r>
          </a:p>
        </p:txBody>
      </p:sp>
      <p:sp>
        <p:nvSpPr>
          <p:cNvPr id="43" name="Rectangle 42"/>
          <p:cNvSpPr/>
          <p:nvPr/>
        </p:nvSpPr>
        <p:spPr>
          <a:xfrm>
            <a:off x="1559052" y="3986783"/>
            <a:ext cx="790956"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44" name="Rectangle 43"/>
          <p:cNvSpPr/>
          <p:nvPr/>
        </p:nvSpPr>
        <p:spPr>
          <a:xfrm>
            <a:off x="1522476" y="3950207"/>
            <a:ext cx="790956"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45" name="TextBox 44"/>
          <p:cNvSpPr txBox="1"/>
          <p:nvPr/>
        </p:nvSpPr>
        <p:spPr>
          <a:xfrm>
            <a:off x="1577340" y="4005071"/>
            <a:ext cx="681228"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Lab 1.2</a:t>
            </a:r>
          </a:p>
        </p:txBody>
      </p:sp>
      <p:sp>
        <p:nvSpPr>
          <p:cNvPr id="46" name="Rectangle 45"/>
          <p:cNvSpPr/>
          <p:nvPr/>
        </p:nvSpPr>
        <p:spPr>
          <a:xfrm>
            <a:off x="2441448" y="3986783"/>
            <a:ext cx="790956"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47" name="Rectangle 46"/>
          <p:cNvSpPr/>
          <p:nvPr/>
        </p:nvSpPr>
        <p:spPr>
          <a:xfrm>
            <a:off x="2404872" y="3950207"/>
            <a:ext cx="790956"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48" name="TextBox 47"/>
          <p:cNvSpPr txBox="1"/>
          <p:nvPr/>
        </p:nvSpPr>
        <p:spPr>
          <a:xfrm>
            <a:off x="2459736" y="4005071"/>
            <a:ext cx="681228"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Lab 1.3</a:t>
            </a:r>
          </a:p>
        </p:txBody>
      </p:sp>
      <p:sp>
        <p:nvSpPr>
          <p:cNvPr id="49" name="Rectangle 48"/>
          <p:cNvSpPr/>
          <p:nvPr/>
        </p:nvSpPr>
        <p:spPr>
          <a:xfrm>
            <a:off x="3323844" y="3986783"/>
            <a:ext cx="790956"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50" name="Rectangle 49"/>
          <p:cNvSpPr/>
          <p:nvPr/>
        </p:nvSpPr>
        <p:spPr>
          <a:xfrm>
            <a:off x="3287268" y="3950207"/>
            <a:ext cx="790956"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51" name="TextBox 50"/>
          <p:cNvSpPr txBox="1"/>
          <p:nvPr/>
        </p:nvSpPr>
        <p:spPr>
          <a:xfrm>
            <a:off x="3342132" y="4005071"/>
            <a:ext cx="681228"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Lab 2.1</a:t>
            </a:r>
          </a:p>
        </p:txBody>
      </p:sp>
      <p:sp>
        <p:nvSpPr>
          <p:cNvPr id="52" name="Rectangle 51"/>
          <p:cNvSpPr/>
          <p:nvPr/>
        </p:nvSpPr>
        <p:spPr>
          <a:xfrm>
            <a:off x="4206240" y="3986783"/>
            <a:ext cx="790956"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53" name="Rectangle 52"/>
          <p:cNvSpPr/>
          <p:nvPr/>
        </p:nvSpPr>
        <p:spPr>
          <a:xfrm>
            <a:off x="4169663" y="3950207"/>
            <a:ext cx="790956"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54" name="TextBox 53"/>
          <p:cNvSpPr txBox="1"/>
          <p:nvPr/>
        </p:nvSpPr>
        <p:spPr>
          <a:xfrm>
            <a:off x="4224527" y="4005071"/>
            <a:ext cx="681228"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Lab 2.2</a:t>
            </a:r>
          </a:p>
        </p:txBody>
      </p:sp>
      <p:sp>
        <p:nvSpPr>
          <p:cNvPr id="55" name="Rectangle 54"/>
          <p:cNvSpPr/>
          <p:nvPr/>
        </p:nvSpPr>
        <p:spPr>
          <a:xfrm>
            <a:off x="5088636" y="3986783"/>
            <a:ext cx="790956"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56" name="Rectangle 55"/>
          <p:cNvSpPr/>
          <p:nvPr/>
        </p:nvSpPr>
        <p:spPr>
          <a:xfrm>
            <a:off x="5052059" y="3950207"/>
            <a:ext cx="790956"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57" name="TextBox 56"/>
          <p:cNvSpPr txBox="1"/>
          <p:nvPr/>
        </p:nvSpPr>
        <p:spPr>
          <a:xfrm>
            <a:off x="5106923" y="4005071"/>
            <a:ext cx="681228"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Lab 2.3</a:t>
            </a:r>
          </a:p>
        </p:txBody>
      </p:sp>
      <p:sp>
        <p:nvSpPr>
          <p:cNvPr id="58" name="TextBox 57"/>
          <p:cNvSpPr txBox="1"/>
          <p:nvPr/>
        </p:nvSpPr>
        <p:spPr>
          <a:xfrm>
            <a:off x="640080" y="4443983"/>
            <a:ext cx="10908792" cy="153888"/>
          </a:xfrm>
          <a:prstGeom prst="rect">
            <a:avLst/>
          </a:prstGeom>
          <a:noFill/>
        </p:spPr>
        <p:txBody>
          <a:bodyPr wrap="square" lIns="0" tIns="0" rIns="0" bIns="0">
            <a:spAutoFit/>
          </a:bodyPr>
          <a:lstStyle/>
          <a:p>
            <a:pPr algn="l"/>
            <a:r>
              <a:rPr sz="1000" dirty="0">
                <a:solidFill>
                  <a:srgbClr val="B0B8C4"/>
                </a:solidFill>
                <a:latin typeface="Roboto Medium" panose="02000000000000000000" pitchFamily="2" charset="0"/>
                <a:ea typeface="Roboto Medium" panose="02000000000000000000" pitchFamily="2" charset="0"/>
              </a:rPr>
              <a:t>BOOKEX</a:t>
            </a:r>
          </a:p>
        </p:txBody>
      </p:sp>
      <p:sp>
        <p:nvSpPr>
          <p:cNvPr id="59" name="Rectangle 58"/>
          <p:cNvSpPr/>
          <p:nvPr/>
        </p:nvSpPr>
        <p:spPr>
          <a:xfrm>
            <a:off x="676656" y="4718303"/>
            <a:ext cx="73152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60" name="Rectangle 59"/>
          <p:cNvSpPr/>
          <p:nvPr/>
        </p:nvSpPr>
        <p:spPr>
          <a:xfrm>
            <a:off x="640080" y="4681727"/>
            <a:ext cx="73152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61" name="TextBox 60"/>
          <p:cNvSpPr txBox="1"/>
          <p:nvPr/>
        </p:nvSpPr>
        <p:spPr>
          <a:xfrm>
            <a:off x="694944" y="4736591"/>
            <a:ext cx="62179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Ch 2</a:t>
            </a:r>
          </a:p>
        </p:txBody>
      </p:sp>
      <p:sp>
        <p:nvSpPr>
          <p:cNvPr id="62" name="Rectangle 61"/>
          <p:cNvSpPr/>
          <p:nvPr/>
        </p:nvSpPr>
        <p:spPr>
          <a:xfrm>
            <a:off x="1499616" y="4718303"/>
            <a:ext cx="73152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63" name="Rectangle 62"/>
          <p:cNvSpPr/>
          <p:nvPr/>
        </p:nvSpPr>
        <p:spPr>
          <a:xfrm>
            <a:off x="1463040" y="4681727"/>
            <a:ext cx="73152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64" name="TextBox 63"/>
          <p:cNvSpPr txBox="1"/>
          <p:nvPr/>
        </p:nvSpPr>
        <p:spPr>
          <a:xfrm>
            <a:off x="1517904" y="4736591"/>
            <a:ext cx="62179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Ch 3</a:t>
            </a:r>
          </a:p>
        </p:txBody>
      </p:sp>
      <p:sp>
        <p:nvSpPr>
          <p:cNvPr id="65" name="Rectangle 64"/>
          <p:cNvSpPr/>
          <p:nvPr/>
        </p:nvSpPr>
        <p:spPr>
          <a:xfrm>
            <a:off x="2322576" y="4718303"/>
            <a:ext cx="73152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66" name="Rectangle 65"/>
          <p:cNvSpPr/>
          <p:nvPr/>
        </p:nvSpPr>
        <p:spPr>
          <a:xfrm>
            <a:off x="2286000" y="4681727"/>
            <a:ext cx="73152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67" name="TextBox 66"/>
          <p:cNvSpPr txBox="1"/>
          <p:nvPr/>
        </p:nvSpPr>
        <p:spPr>
          <a:xfrm>
            <a:off x="2340864" y="4736591"/>
            <a:ext cx="62179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Ch 4</a:t>
            </a:r>
          </a:p>
        </p:txBody>
      </p:sp>
      <p:sp>
        <p:nvSpPr>
          <p:cNvPr id="68" name="Rectangle 67"/>
          <p:cNvSpPr/>
          <p:nvPr/>
        </p:nvSpPr>
        <p:spPr>
          <a:xfrm>
            <a:off x="3145536" y="4718303"/>
            <a:ext cx="73152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69" name="Rectangle 68"/>
          <p:cNvSpPr/>
          <p:nvPr/>
        </p:nvSpPr>
        <p:spPr>
          <a:xfrm>
            <a:off x="3108960" y="4681727"/>
            <a:ext cx="73152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70" name="TextBox 69"/>
          <p:cNvSpPr txBox="1"/>
          <p:nvPr/>
        </p:nvSpPr>
        <p:spPr>
          <a:xfrm>
            <a:off x="3163824" y="4736591"/>
            <a:ext cx="62179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Ch 5</a:t>
            </a:r>
          </a:p>
        </p:txBody>
      </p:sp>
      <p:sp>
        <p:nvSpPr>
          <p:cNvPr id="71" name="Rectangle 70"/>
          <p:cNvSpPr/>
          <p:nvPr/>
        </p:nvSpPr>
        <p:spPr>
          <a:xfrm>
            <a:off x="3968496" y="4718303"/>
            <a:ext cx="73152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72" name="Rectangle 71"/>
          <p:cNvSpPr/>
          <p:nvPr/>
        </p:nvSpPr>
        <p:spPr>
          <a:xfrm>
            <a:off x="3931920" y="4681727"/>
            <a:ext cx="73152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73" name="TextBox 72"/>
          <p:cNvSpPr txBox="1"/>
          <p:nvPr/>
        </p:nvSpPr>
        <p:spPr>
          <a:xfrm>
            <a:off x="3986783" y="4736591"/>
            <a:ext cx="62179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Ch 6</a:t>
            </a:r>
          </a:p>
        </p:txBody>
      </p:sp>
      <p:sp>
        <p:nvSpPr>
          <p:cNvPr id="74" name="Rectangle 73"/>
          <p:cNvSpPr/>
          <p:nvPr/>
        </p:nvSpPr>
        <p:spPr>
          <a:xfrm>
            <a:off x="4791456" y="4718303"/>
            <a:ext cx="73152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75" name="Rectangle 74"/>
          <p:cNvSpPr/>
          <p:nvPr/>
        </p:nvSpPr>
        <p:spPr>
          <a:xfrm>
            <a:off x="4754880" y="4681727"/>
            <a:ext cx="73152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76" name="TextBox 75"/>
          <p:cNvSpPr txBox="1"/>
          <p:nvPr/>
        </p:nvSpPr>
        <p:spPr>
          <a:xfrm>
            <a:off x="4809744" y="4736591"/>
            <a:ext cx="62179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Ch 7</a:t>
            </a:r>
          </a:p>
        </p:txBody>
      </p:sp>
      <p:sp>
        <p:nvSpPr>
          <p:cNvPr id="77" name="Rectangle 76"/>
          <p:cNvSpPr/>
          <p:nvPr/>
        </p:nvSpPr>
        <p:spPr>
          <a:xfrm>
            <a:off x="5614416" y="4718303"/>
            <a:ext cx="73152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78" name="Rectangle 77"/>
          <p:cNvSpPr/>
          <p:nvPr/>
        </p:nvSpPr>
        <p:spPr>
          <a:xfrm>
            <a:off x="5577840" y="4681727"/>
            <a:ext cx="73152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79" name="TextBox 78"/>
          <p:cNvSpPr txBox="1"/>
          <p:nvPr/>
        </p:nvSpPr>
        <p:spPr>
          <a:xfrm>
            <a:off x="5632704" y="4736591"/>
            <a:ext cx="62179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Ch 8</a:t>
            </a:r>
          </a:p>
        </p:txBody>
      </p:sp>
      <p:sp>
        <p:nvSpPr>
          <p:cNvPr id="80" name="Rectangle 79"/>
          <p:cNvSpPr/>
          <p:nvPr/>
        </p:nvSpPr>
        <p:spPr>
          <a:xfrm>
            <a:off x="6437376" y="4718303"/>
            <a:ext cx="73152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81" name="Rectangle 80"/>
          <p:cNvSpPr/>
          <p:nvPr/>
        </p:nvSpPr>
        <p:spPr>
          <a:xfrm>
            <a:off x="6400800" y="4681727"/>
            <a:ext cx="73152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82" name="TextBox 81"/>
          <p:cNvSpPr txBox="1"/>
          <p:nvPr/>
        </p:nvSpPr>
        <p:spPr>
          <a:xfrm>
            <a:off x="6455664" y="4736591"/>
            <a:ext cx="62179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Ch 9</a:t>
            </a:r>
          </a:p>
        </p:txBody>
      </p:sp>
      <p:sp>
        <p:nvSpPr>
          <p:cNvPr id="83" name="Rectangle 82"/>
          <p:cNvSpPr/>
          <p:nvPr/>
        </p:nvSpPr>
        <p:spPr>
          <a:xfrm>
            <a:off x="7260336" y="4718303"/>
            <a:ext cx="731520" cy="329184"/>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84" name="Rectangle 83"/>
          <p:cNvSpPr/>
          <p:nvPr/>
        </p:nvSpPr>
        <p:spPr>
          <a:xfrm>
            <a:off x="7223760" y="4681727"/>
            <a:ext cx="731520" cy="329184"/>
          </a:xfrm>
          <a:prstGeom prst="rect">
            <a:avLst/>
          </a:prstGeom>
          <a:solidFill>
            <a:srgbClr val="1E0F2D"/>
          </a:solidFill>
          <a:ln w="25400">
            <a:solidFill>
              <a:srgbClr val="BF4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Roboto Medium" panose="02000000000000000000" pitchFamily="2" charset="0"/>
              <a:ea typeface="Roboto Medium" panose="02000000000000000000" pitchFamily="2" charset="0"/>
            </a:endParaRPr>
          </a:p>
        </p:txBody>
      </p:sp>
      <p:sp>
        <p:nvSpPr>
          <p:cNvPr id="85" name="TextBox 84"/>
          <p:cNvSpPr txBox="1"/>
          <p:nvPr/>
        </p:nvSpPr>
        <p:spPr>
          <a:xfrm>
            <a:off x="7278624" y="4736591"/>
            <a:ext cx="621792" cy="200055"/>
          </a:xfrm>
          <a:prstGeom prst="rect">
            <a:avLst/>
          </a:prstGeom>
          <a:noFill/>
        </p:spPr>
        <p:txBody>
          <a:bodyPr wrap="square" lIns="0" tIns="0" rIns="0" bIns="0">
            <a:spAutoFit/>
          </a:bodyPr>
          <a:lstStyle/>
          <a:p>
            <a:pPr algn="ctr"/>
            <a:r>
              <a:rPr sz="1300" dirty="0">
                <a:solidFill>
                  <a:srgbClr val="F5F5F5"/>
                </a:solidFill>
                <a:latin typeface="Roboto Medium" panose="02000000000000000000" pitchFamily="2" charset="0"/>
                <a:ea typeface="Roboto Medium" panose="02000000000000000000" pitchFamily="2" charset="0"/>
              </a:rPr>
              <a:t>Ch 10</a:t>
            </a:r>
          </a:p>
        </p:txBody>
      </p:sp>
      <p:pic>
        <p:nvPicPr>
          <p:cNvPr id="86" name="Picture 85">
            <a:extLst>
              <a:ext uri="{FF2B5EF4-FFF2-40B4-BE49-F238E27FC236}">
                <a16:creationId xmlns:a16="http://schemas.microsoft.com/office/drawing/2014/main" id="{03311FCC-8D22-D5B3-9573-37A7E4D2D3F1}"/>
              </a:ext>
            </a:extLst>
          </p:cNvPr>
          <p:cNvPicPr>
            <a:picLocks noChangeAspect="1"/>
          </p:cNvPicPr>
          <p:nvPr/>
        </p:nvPicPr>
        <p:blipFill>
          <a:blip r:embed="rId3"/>
          <a:srcRect/>
          <a:stretch/>
        </p:blipFill>
        <p:spPr>
          <a:xfrm>
            <a:off x="4725900" y="6473952"/>
            <a:ext cx="2526839" cy="365760"/>
          </a:xfrm>
          <a:prstGeom prst="rect">
            <a:avLst/>
          </a:prstGeom>
        </p:spPr>
      </p:pic>
      <p:pic>
        <p:nvPicPr>
          <p:cNvPr id="87" name="Picture 86">
            <a:extLst>
              <a:ext uri="{FF2B5EF4-FFF2-40B4-BE49-F238E27FC236}">
                <a16:creationId xmlns:a16="http://schemas.microsoft.com/office/drawing/2014/main" id="{AC0A224C-26F4-6E55-5C31-C2AA2C3E65B8}"/>
              </a:ext>
            </a:extLst>
          </p:cNvPr>
          <p:cNvPicPr>
            <a:picLocks noChangeAspect="1"/>
          </p:cNvPicPr>
          <p:nvPr/>
        </p:nvPicPr>
        <p:blipFill>
          <a:blip r:embed="rId4"/>
          <a:stretch>
            <a:fillRect/>
          </a:stretch>
        </p:blipFill>
        <p:spPr>
          <a:xfrm>
            <a:off x="9811911" y="274320"/>
            <a:ext cx="1992993" cy="130044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62</TotalTime>
  <Words>1352</Words>
  <Application>Microsoft Macintosh PowerPoint</Application>
  <PresentationFormat>Custom</PresentationFormat>
  <Paragraphs>211</Paragraphs>
  <Slides>23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23</vt:i4>
      </vt:variant>
    </vt:vector>
  </HeadingPairs>
  <TitlesOfParts>
    <vt:vector size="30" baseType="lpstr">
      <vt:lpstr>Arial</vt:lpstr>
      <vt:lpstr>Roboto Black</vt:lpstr>
      <vt:lpstr>Roboto Medium</vt:lpstr>
      <vt:lpstr>Roboto Mono Medium</vt:lpstr>
      <vt:lpstr>Roboto SemiBold</vt:lpstr>
      <vt:lpstr>Roboto Slab</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Newsom</cp:lastModifiedBy>
  <cp:revision>3</cp:revision>
  <dcterms:created xsi:type="dcterms:W3CDTF">2013-01-27T09:14:16Z</dcterms:created>
  <dcterms:modified xsi:type="dcterms:W3CDTF">2026-04-10T00:53:30Z</dcterms:modified>
  <cp:category/>
</cp:coreProperties>
</file>