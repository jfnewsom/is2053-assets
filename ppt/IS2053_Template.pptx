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C61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93"/>
    <p:restoredTop sz="94657"/>
  </p:normalViewPr>
  <p:slideViewPr>
    <p:cSldViewPr snapToGrid="0" snapToObjects="1">
      <p:cViewPr>
        <p:scale>
          <a:sx n="90" d="100"/>
          <a:sy n="90" d="100"/>
        </p:scale>
        <p:origin x="832" y="13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b="1" i="0">
                <a:solidFill>
                  <a:schemeClr val="tx1">
                    <a:tint val="75000"/>
                  </a:schemeClr>
                </a:solidFill>
                <a:latin typeface="Roboto Slab" pitchFamily="2" charset="0"/>
              </a:defRPr>
            </a:lvl1pPr>
          </a:lstStyle>
          <a:p>
            <a:fld id="{5BCAD085-E8A6-8845-BD4E-CB4CCA059FC4}" type="datetimeFigureOut">
              <a:rPr lang="en-US" smtClean="0"/>
              <a:pPr/>
              <a:t>4/9/26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b="1" i="0">
                <a:solidFill>
                  <a:schemeClr val="tx1">
                    <a:tint val="75000"/>
                  </a:schemeClr>
                </a:solidFill>
                <a:latin typeface="Roboto Slab" pitchFamily="2" charset="0"/>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b="1" i="0">
                <a:solidFill>
                  <a:schemeClr val="tx1">
                    <a:tint val="75000"/>
                  </a:schemeClr>
                </a:solidFill>
                <a:latin typeface="Roboto Slab" pitchFamily="2" charset="0"/>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b="1" i="0" kern="1200">
          <a:solidFill>
            <a:schemeClr val="tx1"/>
          </a:solidFill>
          <a:latin typeface="Roboto Slab" pitchFamily="2" charset="0"/>
          <a:ea typeface="+mj-ea"/>
          <a:cs typeface="+mj-cs"/>
        </a:defRPr>
      </a:lvl1pPr>
    </p:titleStyle>
    <p:bodyStyle>
      <a:lvl1pPr marL="342900" indent="-342900" algn="l" defTabSz="457200" rtl="0" eaLnBrk="1" latinLnBrk="0" hangingPunct="1">
        <a:spcBef>
          <a:spcPct val="20000"/>
        </a:spcBef>
        <a:buFont typeface="Arial"/>
        <a:buChar char="•"/>
        <a:defRPr sz="3200" b="1" i="0" kern="1200">
          <a:solidFill>
            <a:schemeClr val="tx1"/>
          </a:solidFill>
          <a:latin typeface="Roboto Slab" pitchFamily="2" charset="0"/>
          <a:ea typeface="+mn-ea"/>
          <a:cs typeface="+mn-cs"/>
        </a:defRPr>
      </a:lvl1pPr>
      <a:lvl2pPr marL="742950" indent="-285750" algn="l" defTabSz="457200" rtl="0" eaLnBrk="1" latinLnBrk="0" hangingPunct="1">
        <a:spcBef>
          <a:spcPct val="20000"/>
        </a:spcBef>
        <a:buFont typeface="Arial"/>
        <a:buChar char="–"/>
        <a:defRPr sz="2800" b="1" i="0" kern="1200">
          <a:solidFill>
            <a:schemeClr val="tx1"/>
          </a:solidFill>
          <a:latin typeface="Roboto Slab" pitchFamily="2" charset="0"/>
          <a:ea typeface="+mn-ea"/>
          <a:cs typeface="+mn-cs"/>
        </a:defRPr>
      </a:lvl2pPr>
      <a:lvl3pPr marL="1143000" indent="-228600" algn="l" defTabSz="457200" rtl="0" eaLnBrk="1" latinLnBrk="0" hangingPunct="1">
        <a:spcBef>
          <a:spcPct val="20000"/>
        </a:spcBef>
        <a:buFont typeface="Arial"/>
        <a:buChar char="•"/>
        <a:defRPr sz="2400" b="1" i="0" kern="1200">
          <a:solidFill>
            <a:schemeClr val="tx1"/>
          </a:solidFill>
          <a:latin typeface="Roboto Slab" pitchFamily="2" charset="0"/>
          <a:ea typeface="+mn-ea"/>
          <a:cs typeface="+mn-cs"/>
        </a:defRPr>
      </a:lvl3pPr>
      <a:lvl4pPr marL="1600200" indent="-228600" algn="l" defTabSz="457200" rtl="0" eaLnBrk="1" latinLnBrk="0" hangingPunct="1">
        <a:spcBef>
          <a:spcPct val="20000"/>
        </a:spcBef>
        <a:buFont typeface="Arial"/>
        <a:buChar char="–"/>
        <a:defRPr sz="2000" b="1" i="0" kern="1200">
          <a:solidFill>
            <a:schemeClr val="tx1"/>
          </a:solidFill>
          <a:latin typeface="Roboto Slab" pitchFamily="2" charset="0"/>
          <a:ea typeface="+mn-ea"/>
          <a:cs typeface="+mn-cs"/>
        </a:defRPr>
      </a:lvl4pPr>
      <a:lvl5pPr marL="2057400" indent="-228600" algn="l" defTabSz="457200" rtl="0" eaLnBrk="1" latinLnBrk="0" hangingPunct="1">
        <a:spcBef>
          <a:spcPct val="20000"/>
        </a:spcBef>
        <a:buFont typeface="Arial"/>
        <a:buChar char="»"/>
        <a:defRPr sz="2000" b="1" i="0" kern="1200">
          <a:solidFill>
            <a:schemeClr val="tx1"/>
          </a:solidFill>
          <a:latin typeface="Roboto Slab" pitchFamily="2"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9.jp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83920" y="378495"/>
            <a:ext cx="11640439" cy="5943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pic>
        <p:nvPicPr>
          <p:cNvPr id="3" name="Picture 2"/>
          <p:cNvPicPr>
            <a:picLocks noChangeAspect="1"/>
          </p:cNvPicPr>
          <p:nvPr/>
        </p:nvPicPr>
        <p:blipFill>
          <a:blip r:embed="rId2"/>
          <a:srcRect t="12216" r="778" b="11433"/>
          <a:stretch>
            <a:fillRect/>
          </a:stretch>
        </p:blipFill>
        <p:spPr>
          <a:xfrm>
            <a:off x="383921" y="378495"/>
            <a:ext cx="11549578" cy="5813964"/>
          </a:xfrm>
          <a:prstGeom prst="rect">
            <a:avLst/>
          </a:prstGeom>
          <a:ln w="50800">
            <a:solidFill>
              <a:srgbClr val="000000"/>
            </a:solidFill>
          </a:ln>
        </p:spPr>
      </p:pic>
      <p:sp>
        <p:nvSpPr>
          <p:cNvPr id="5" name="TextBox 4"/>
          <p:cNvSpPr txBox="1"/>
          <p:nvPr/>
        </p:nvSpPr>
        <p:spPr>
          <a:xfrm>
            <a:off x="530352" y="506511"/>
            <a:ext cx="7772400" cy="184666"/>
          </a:xfrm>
          <a:prstGeom prst="rect">
            <a:avLst/>
          </a:prstGeom>
          <a:noFill/>
        </p:spPr>
        <p:txBody>
          <a:bodyPr wrap="square" lIns="0" tIns="0" rIns="0" bIns="0">
            <a:spAutoFit/>
          </a:bodyPr>
          <a:lstStyle/>
          <a:p>
            <a:pPr algn="l"/>
            <a:r>
              <a:rPr sz="1200" b="1" dirty="0">
                <a:solidFill>
                  <a:srgbClr val="FFCC00"/>
                </a:solidFill>
                <a:latin typeface="Roboto Slab" pitchFamily="2" charset="0"/>
              </a:rPr>
              <a:t>DEEP IN THE HEART: A LONE STAR JOURNEY</a:t>
            </a:r>
          </a:p>
        </p:txBody>
      </p:sp>
      <p:sp>
        <p:nvSpPr>
          <p:cNvPr id="6" name="Rectangle 5"/>
          <p:cNvSpPr/>
          <p:nvPr/>
        </p:nvSpPr>
        <p:spPr>
          <a:xfrm>
            <a:off x="530352" y="709801"/>
            <a:ext cx="7132320" cy="36576"/>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7" name="TextBox 6"/>
          <p:cNvSpPr txBox="1"/>
          <p:nvPr/>
        </p:nvSpPr>
        <p:spPr>
          <a:xfrm>
            <a:off x="530351" y="981999"/>
            <a:ext cx="9153543" cy="800219"/>
          </a:xfrm>
          <a:prstGeom prst="rect">
            <a:avLst/>
          </a:prstGeom>
          <a:noFill/>
          <a:effectLst>
            <a:outerShdw blurRad="63500" dist="63500" dir="2700000" algn="tl" rotWithShape="0">
              <a:prstClr val="black">
                <a:alpha val="40000"/>
              </a:prstClr>
            </a:outerShdw>
          </a:effectLst>
        </p:spPr>
        <p:txBody>
          <a:bodyPr wrap="square" lIns="0" tIns="0" rIns="0" bIns="0">
            <a:spAutoFit/>
          </a:bodyPr>
          <a:lstStyle/>
          <a:p>
            <a:pPr algn="l"/>
            <a:r>
              <a:rPr sz="5200" b="1" dirty="0">
                <a:solidFill>
                  <a:srgbClr val="F5F5F5"/>
                </a:solidFill>
                <a:latin typeface="Roboto Slab" pitchFamily="2" charset="0"/>
                <a:ea typeface="Roboto Slab" pitchFamily="2" charset="0"/>
              </a:rPr>
              <a:t>Slide Deck Title Goes Here</a:t>
            </a:r>
          </a:p>
        </p:txBody>
      </p:sp>
      <p:sp>
        <p:nvSpPr>
          <p:cNvPr id="8" name="Rectangle 7"/>
          <p:cNvSpPr/>
          <p:nvPr/>
        </p:nvSpPr>
        <p:spPr>
          <a:xfrm>
            <a:off x="639953" y="4111246"/>
            <a:ext cx="10908792" cy="964537"/>
          </a:xfrm>
          <a:prstGeom prst="rect">
            <a:avLst/>
          </a:prstGeom>
          <a:solidFill>
            <a:srgbClr val="0A0A0A">
              <a:alpha val="75000"/>
            </a:srgbClr>
          </a:solidFill>
          <a:ln w="381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9" name="TextBox 8"/>
          <p:cNvSpPr txBox="1"/>
          <p:nvPr/>
        </p:nvSpPr>
        <p:spPr>
          <a:xfrm>
            <a:off x="914400" y="4218975"/>
            <a:ext cx="10424160" cy="276999"/>
          </a:xfrm>
          <a:prstGeom prst="rect">
            <a:avLst/>
          </a:prstGeom>
          <a:noFill/>
        </p:spPr>
        <p:txBody>
          <a:bodyPr wrap="square" lIns="0" tIns="0" rIns="0" bIns="0">
            <a:spAutoFit/>
          </a:bodyPr>
          <a:lstStyle/>
          <a:p>
            <a:pPr algn="l"/>
            <a:r>
              <a:rPr sz="1800" b="1" dirty="0">
                <a:solidFill>
                  <a:srgbClr val="B0B8C4"/>
                </a:solidFill>
                <a:latin typeface="Roboto Black" panose="02000000000000000000" pitchFamily="2" charset="0"/>
                <a:ea typeface="Roboto Black" panose="02000000000000000000" pitchFamily="2" charset="0"/>
              </a:rPr>
              <a:t>IS2053 Programming I  •  Module N  •  Unit N</a:t>
            </a:r>
          </a:p>
        </p:txBody>
      </p:sp>
      <p:sp>
        <p:nvSpPr>
          <p:cNvPr id="10" name="TextBox 9"/>
          <p:cNvSpPr txBox="1"/>
          <p:nvPr/>
        </p:nvSpPr>
        <p:spPr>
          <a:xfrm>
            <a:off x="914400" y="4603703"/>
            <a:ext cx="10058400" cy="274320"/>
          </a:xfrm>
          <a:prstGeom prst="rect">
            <a:avLst/>
          </a:prstGeom>
          <a:noFill/>
        </p:spPr>
        <p:txBody>
          <a:bodyPr wrap="square" lIns="0" tIns="0" rIns="0" bIns="0">
            <a:spAutoFit/>
          </a:bodyPr>
          <a:lstStyle/>
          <a:p>
            <a:pPr algn="l"/>
            <a:r>
              <a:rPr sz="1300" b="1" dirty="0">
                <a:solidFill>
                  <a:srgbClr val="FFCC00"/>
                </a:solidFill>
                <a:latin typeface="Roboto Slab" pitchFamily="2" charset="0"/>
              </a:rPr>
              <a:t>BAT CITY COLLECTIVE  •  Spring 2026</a:t>
            </a:r>
          </a:p>
        </p:txBody>
      </p:sp>
      <p:pic>
        <p:nvPicPr>
          <p:cNvPr id="12" name="Picture 11">
            <a:extLst>
              <a:ext uri="{FF2B5EF4-FFF2-40B4-BE49-F238E27FC236}">
                <a16:creationId xmlns:a16="http://schemas.microsoft.com/office/drawing/2014/main" id="{EC005841-16F1-A9E5-59D8-5D76F100D800}"/>
              </a:ext>
            </a:extLst>
          </p:cNvPr>
          <p:cNvPicPr>
            <a:picLocks noChangeAspect="1"/>
          </p:cNvPicPr>
          <p:nvPr/>
        </p:nvPicPr>
        <p:blipFill>
          <a:blip r:embed="rId3"/>
          <a:stretch>
            <a:fillRect/>
          </a:stretch>
        </p:blipFill>
        <p:spPr>
          <a:xfrm>
            <a:off x="9811911" y="378495"/>
            <a:ext cx="1992993" cy="1300447"/>
          </a:xfrm>
          <a:prstGeom prst="rect">
            <a:avLst/>
          </a:prstGeom>
        </p:spPr>
      </p:pic>
      <p:pic>
        <p:nvPicPr>
          <p:cNvPr id="13" name="Picture 12">
            <a:extLst>
              <a:ext uri="{FF2B5EF4-FFF2-40B4-BE49-F238E27FC236}">
                <a16:creationId xmlns:a16="http://schemas.microsoft.com/office/drawing/2014/main" id="{9AC90D84-D9C7-873F-D86D-91196EE8B54D}"/>
              </a:ext>
            </a:extLst>
          </p:cNvPr>
          <p:cNvPicPr>
            <a:picLocks noChangeAspect="1"/>
          </p:cNvPicPr>
          <p:nvPr/>
        </p:nvPicPr>
        <p:blipFill>
          <a:blip r:embed="rId4"/>
          <a:srcRect/>
          <a:stretch/>
        </p:blipFill>
        <p:spPr>
          <a:xfrm>
            <a:off x="4725900" y="6473952"/>
            <a:ext cx="2526839" cy="3657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47472" y="274320"/>
            <a:ext cx="11676888" cy="6126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pic>
        <p:nvPicPr>
          <p:cNvPr id="3" name="Picture 2" descr="image.png"/>
          <p:cNvPicPr>
            <a:picLocks noChangeAspect="1"/>
          </p:cNvPicPr>
          <p:nvPr/>
        </p:nvPicPr>
        <p:blipFill>
          <a:blip r:embed="rId2"/>
          <a:stretch>
            <a:fillRect/>
          </a:stretch>
        </p:blipFill>
        <p:spPr>
          <a:xfrm>
            <a:off x="256032" y="182880"/>
            <a:ext cx="11676888" cy="6126480"/>
          </a:xfrm>
          <a:prstGeom prst="rect">
            <a:avLst/>
          </a:prstGeom>
          <a:ln w="50800">
            <a:solidFill>
              <a:srgbClr val="000000"/>
            </a:solidFill>
          </a:ln>
        </p:spPr>
      </p:pic>
      <p:sp>
        <p:nvSpPr>
          <p:cNvPr id="5" name="TextBox 4"/>
          <p:cNvSpPr txBox="1"/>
          <p:nvPr/>
        </p:nvSpPr>
        <p:spPr>
          <a:xfrm>
            <a:off x="512064" y="411480"/>
            <a:ext cx="8869680" cy="677108"/>
          </a:xfrm>
          <a:prstGeom prst="rect">
            <a:avLst/>
          </a:prstGeom>
          <a:noFill/>
        </p:spPr>
        <p:txBody>
          <a:bodyPr wrap="square" lIns="0" tIns="0" rIns="0" bIns="0">
            <a:spAutoFit/>
          </a:bodyPr>
          <a:lstStyle/>
          <a:p>
            <a:pPr algn="l"/>
            <a:r>
              <a:rPr sz="4400" b="1" dirty="0">
                <a:solidFill>
                  <a:srgbClr val="F5F5F5"/>
                </a:solidFill>
                <a:latin typeface="Roboto Slab" pitchFamily="2" charset="0"/>
              </a:rPr>
              <a:t>Slide Title — Concept</a:t>
            </a:r>
          </a:p>
        </p:txBody>
      </p:sp>
      <p:sp>
        <p:nvSpPr>
          <p:cNvPr id="6" name="Rectangle 5"/>
          <p:cNvSpPr/>
          <p:nvPr/>
        </p:nvSpPr>
        <p:spPr>
          <a:xfrm>
            <a:off x="384048" y="1719072"/>
            <a:ext cx="11420856" cy="4462272"/>
          </a:xfrm>
          <a:prstGeom prst="rect">
            <a:avLst/>
          </a:prstGeom>
          <a:solidFill>
            <a:srgbClr val="0A0A0A">
              <a:alpha val="75000"/>
            </a:srgbClr>
          </a:solidFill>
          <a:ln w="381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8" name="TextBox 7"/>
          <p:cNvSpPr txBox="1"/>
          <p:nvPr/>
        </p:nvSpPr>
        <p:spPr>
          <a:xfrm>
            <a:off x="640080" y="1883664"/>
            <a:ext cx="10908792" cy="184666"/>
          </a:xfrm>
          <a:prstGeom prst="rect">
            <a:avLst/>
          </a:prstGeom>
          <a:noFill/>
        </p:spPr>
        <p:txBody>
          <a:bodyPr wrap="square" lIns="0" tIns="0" rIns="0" bIns="0">
            <a:spAutoFit/>
          </a:bodyPr>
          <a:lstStyle/>
          <a:p>
            <a:pPr algn="l"/>
            <a:r>
              <a:rPr sz="1200" b="1" dirty="0">
                <a:solidFill>
                  <a:srgbClr val="FFCC00"/>
                </a:solidFill>
                <a:latin typeface="Roboto Slab" pitchFamily="2" charset="0"/>
              </a:rPr>
              <a:t>KEY POINTS</a:t>
            </a:r>
          </a:p>
        </p:txBody>
      </p:sp>
      <p:sp>
        <p:nvSpPr>
          <p:cNvPr id="9" name="Rectangle 8"/>
          <p:cNvSpPr/>
          <p:nvPr/>
        </p:nvSpPr>
        <p:spPr>
          <a:xfrm>
            <a:off x="640080" y="2157984"/>
            <a:ext cx="10908792" cy="16459"/>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10" name="TextBox 9"/>
          <p:cNvSpPr txBox="1"/>
          <p:nvPr/>
        </p:nvSpPr>
        <p:spPr>
          <a:xfrm>
            <a:off x="640080" y="2249424"/>
            <a:ext cx="10908792" cy="2227890"/>
          </a:xfrm>
          <a:prstGeom prst="rect">
            <a:avLst/>
          </a:prstGeom>
          <a:noFill/>
        </p:spPr>
        <p:txBody>
          <a:bodyPr wrap="square" lIns="36576" tIns="10972" rIns="36576" bIns="10972">
            <a:spAutoFit/>
          </a:bodyPr>
          <a:lstStyle/>
          <a:p>
            <a:pPr algn="l">
              <a:spcBef>
                <a:spcPts val="700"/>
              </a:spcBef>
              <a:spcAft>
                <a:spcPts val="300"/>
              </a:spcAft>
              <a:buChar char="•"/>
            </a:pPr>
            <a:r>
              <a:rPr sz="2200" b="1" dirty="0">
                <a:solidFill>
                  <a:srgbClr val="F5F5F5"/>
                </a:solidFill>
                <a:latin typeface="Roboto Black" panose="02000000000000000000" pitchFamily="2" charset="0"/>
                <a:ea typeface="Roboto Black" panose="02000000000000000000" pitchFamily="2" charset="0"/>
              </a:rPr>
              <a:t>First key point about the concept being introduced</a:t>
            </a:r>
          </a:p>
          <a:p>
            <a:pPr>
              <a:spcBef>
                <a:spcPts val="700"/>
              </a:spcBef>
              <a:spcAft>
                <a:spcPts val="300"/>
              </a:spcAft>
              <a:buChar char="•"/>
            </a:pPr>
            <a:r>
              <a:rPr sz="2200" b="1" dirty="0">
                <a:solidFill>
                  <a:srgbClr val="F5F5F5"/>
                </a:solidFill>
                <a:latin typeface="Roboto Black" panose="02000000000000000000" pitchFamily="2" charset="0"/>
                <a:ea typeface="Roboto Black" panose="02000000000000000000" pitchFamily="2" charset="0"/>
              </a:rPr>
              <a:t>Second point — what this replaces or improves</a:t>
            </a:r>
          </a:p>
          <a:p>
            <a:pPr>
              <a:spcBef>
                <a:spcPts val="700"/>
              </a:spcBef>
              <a:spcAft>
                <a:spcPts val="300"/>
              </a:spcAft>
              <a:buChar char="•"/>
            </a:pPr>
            <a:r>
              <a:rPr sz="2200" b="1" dirty="0">
                <a:solidFill>
                  <a:srgbClr val="F5F5F5"/>
                </a:solidFill>
                <a:latin typeface="Roboto Black" panose="02000000000000000000" pitchFamily="2" charset="0"/>
                <a:ea typeface="Roboto Black" panose="02000000000000000000" pitchFamily="2" charset="0"/>
              </a:rPr>
              <a:t>Third point — connect to the Deep in the Heart game</a:t>
            </a:r>
          </a:p>
          <a:p>
            <a:pPr>
              <a:spcBef>
                <a:spcPts val="700"/>
              </a:spcBef>
              <a:spcAft>
                <a:spcPts val="300"/>
              </a:spcAft>
              <a:buChar char="•"/>
            </a:pPr>
            <a:r>
              <a:rPr sz="2200" b="1" dirty="0">
                <a:solidFill>
                  <a:srgbClr val="F5F5F5"/>
                </a:solidFill>
                <a:latin typeface="Roboto Black" panose="02000000000000000000" pitchFamily="2" charset="0"/>
                <a:ea typeface="Roboto Black" panose="02000000000000000000" pitchFamily="2" charset="0"/>
              </a:rPr>
              <a:t>Fourth point — Think About This: a question for the student</a:t>
            </a:r>
          </a:p>
          <a:p>
            <a:pPr>
              <a:spcBef>
                <a:spcPts val="700"/>
              </a:spcBef>
              <a:spcAft>
                <a:spcPts val="300"/>
              </a:spcAft>
              <a:buChar char="•"/>
            </a:pPr>
            <a:r>
              <a:rPr sz="2200" b="1" dirty="0">
                <a:solidFill>
                  <a:srgbClr val="F5F5F5"/>
                </a:solidFill>
                <a:latin typeface="Roboto Black" panose="02000000000000000000" pitchFamily="2" charset="0"/>
                <a:ea typeface="Roboto Black" panose="02000000000000000000" pitchFamily="2" charset="0"/>
              </a:rPr>
              <a:t>Fifth point — the takeaway before the demo</a:t>
            </a:r>
          </a:p>
        </p:txBody>
      </p:sp>
      <p:pic>
        <p:nvPicPr>
          <p:cNvPr id="12" name="Picture 11">
            <a:extLst>
              <a:ext uri="{FF2B5EF4-FFF2-40B4-BE49-F238E27FC236}">
                <a16:creationId xmlns:a16="http://schemas.microsoft.com/office/drawing/2014/main" id="{45254B01-6B57-849D-3451-BCFBA47682B5}"/>
              </a:ext>
            </a:extLst>
          </p:cNvPr>
          <p:cNvPicPr>
            <a:picLocks noChangeAspect="1"/>
          </p:cNvPicPr>
          <p:nvPr/>
        </p:nvPicPr>
        <p:blipFill>
          <a:blip r:embed="rId3"/>
          <a:srcRect/>
          <a:stretch/>
        </p:blipFill>
        <p:spPr>
          <a:xfrm>
            <a:off x="4725900" y="6473952"/>
            <a:ext cx="2526839" cy="365760"/>
          </a:xfrm>
          <a:prstGeom prst="rect">
            <a:avLst/>
          </a:prstGeom>
        </p:spPr>
      </p:pic>
      <p:pic>
        <p:nvPicPr>
          <p:cNvPr id="13" name="Picture 12">
            <a:extLst>
              <a:ext uri="{FF2B5EF4-FFF2-40B4-BE49-F238E27FC236}">
                <a16:creationId xmlns:a16="http://schemas.microsoft.com/office/drawing/2014/main" id="{C4EF4EC8-28CB-467C-C323-737E0C76E502}"/>
              </a:ext>
            </a:extLst>
          </p:cNvPr>
          <p:cNvPicPr>
            <a:picLocks noChangeAspect="1"/>
          </p:cNvPicPr>
          <p:nvPr/>
        </p:nvPicPr>
        <p:blipFill>
          <a:blip r:embed="rId4"/>
          <a:stretch>
            <a:fillRect/>
          </a:stretch>
        </p:blipFill>
        <p:spPr>
          <a:xfrm>
            <a:off x="9811911" y="274320"/>
            <a:ext cx="1992993" cy="130044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47472" y="274320"/>
            <a:ext cx="11676888" cy="6126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pic>
        <p:nvPicPr>
          <p:cNvPr id="3" name="Picture 2" descr="image.png"/>
          <p:cNvPicPr>
            <a:picLocks noChangeAspect="1"/>
          </p:cNvPicPr>
          <p:nvPr/>
        </p:nvPicPr>
        <p:blipFill>
          <a:blip r:embed="rId2"/>
          <a:stretch>
            <a:fillRect/>
          </a:stretch>
        </p:blipFill>
        <p:spPr>
          <a:xfrm>
            <a:off x="256032" y="182880"/>
            <a:ext cx="11676888" cy="6126480"/>
          </a:xfrm>
          <a:prstGeom prst="rect">
            <a:avLst/>
          </a:prstGeom>
          <a:ln w="50800">
            <a:solidFill>
              <a:srgbClr val="000000"/>
            </a:solidFill>
          </a:ln>
        </p:spPr>
      </p:pic>
      <p:sp>
        <p:nvSpPr>
          <p:cNvPr id="5" name="TextBox 4"/>
          <p:cNvSpPr txBox="1"/>
          <p:nvPr/>
        </p:nvSpPr>
        <p:spPr>
          <a:xfrm>
            <a:off x="512064" y="411480"/>
            <a:ext cx="8869680" cy="677108"/>
          </a:xfrm>
          <a:prstGeom prst="rect">
            <a:avLst/>
          </a:prstGeom>
          <a:noFill/>
        </p:spPr>
        <p:txBody>
          <a:bodyPr wrap="square" lIns="0" tIns="0" rIns="0" bIns="0">
            <a:spAutoFit/>
          </a:bodyPr>
          <a:lstStyle/>
          <a:p>
            <a:pPr algn="l"/>
            <a:r>
              <a:rPr sz="4400" b="1" dirty="0">
                <a:solidFill>
                  <a:srgbClr val="F5F5F5"/>
                </a:solidFill>
                <a:latin typeface="Roboto Slab" pitchFamily="2" charset="0"/>
              </a:rPr>
              <a:t>Demo: Topic Name</a:t>
            </a:r>
          </a:p>
        </p:txBody>
      </p:sp>
      <p:sp>
        <p:nvSpPr>
          <p:cNvPr id="6" name="Rectangle 5"/>
          <p:cNvSpPr/>
          <p:nvPr/>
        </p:nvSpPr>
        <p:spPr>
          <a:xfrm>
            <a:off x="384048" y="1719072"/>
            <a:ext cx="11420856" cy="4462272"/>
          </a:xfrm>
          <a:prstGeom prst="rect">
            <a:avLst/>
          </a:prstGeom>
          <a:solidFill>
            <a:srgbClr val="0A0A0A">
              <a:alpha val="75000"/>
            </a:srgbClr>
          </a:solidFill>
          <a:ln w="381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8" name="TextBox 7"/>
          <p:cNvSpPr txBox="1"/>
          <p:nvPr/>
        </p:nvSpPr>
        <p:spPr>
          <a:xfrm>
            <a:off x="640080" y="1883664"/>
            <a:ext cx="10908792" cy="184666"/>
          </a:xfrm>
          <a:prstGeom prst="rect">
            <a:avLst/>
          </a:prstGeom>
          <a:noFill/>
        </p:spPr>
        <p:txBody>
          <a:bodyPr wrap="square" lIns="0" tIns="0" rIns="0" bIns="0">
            <a:spAutoFit/>
          </a:bodyPr>
          <a:lstStyle/>
          <a:p>
            <a:pPr algn="l"/>
            <a:r>
              <a:rPr sz="1200" b="1" dirty="0">
                <a:solidFill>
                  <a:srgbClr val="FFCC00"/>
                </a:solidFill>
                <a:latin typeface="Roboto Slab" pitchFamily="2" charset="0"/>
              </a:rPr>
              <a:t>CODE DEMO</a:t>
            </a:r>
          </a:p>
        </p:txBody>
      </p:sp>
      <p:sp>
        <p:nvSpPr>
          <p:cNvPr id="9" name="Rectangle 8"/>
          <p:cNvSpPr/>
          <p:nvPr/>
        </p:nvSpPr>
        <p:spPr>
          <a:xfrm>
            <a:off x="640080" y="2157984"/>
            <a:ext cx="10908792" cy="16459"/>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10" name="Rectangle 9"/>
          <p:cNvSpPr/>
          <p:nvPr/>
        </p:nvSpPr>
        <p:spPr>
          <a:xfrm>
            <a:off x="640080" y="2249424"/>
            <a:ext cx="10908792" cy="3675888"/>
          </a:xfrm>
          <a:prstGeom prst="rect">
            <a:avLst/>
          </a:prstGeom>
          <a:solidFill>
            <a:srgbClr val="121212"/>
          </a:solidFill>
          <a:ln w="25400">
            <a:solidFill>
              <a:srgbClr val="39FF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11" name="TextBox 10"/>
          <p:cNvSpPr txBox="1"/>
          <p:nvPr/>
        </p:nvSpPr>
        <p:spPr>
          <a:xfrm>
            <a:off x="1097280" y="3858768"/>
            <a:ext cx="9994392" cy="329935"/>
          </a:xfrm>
          <a:prstGeom prst="rect">
            <a:avLst/>
          </a:prstGeom>
          <a:noFill/>
        </p:spPr>
        <p:txBody>
          <a:bodyPr wrap="square" lIns="36576" tIns="10972" rIns="36576" bIns="10972">
            <a:spAutoFit/>
          </a:bodyPr>
          <a:lstStyle/>
          <a:p>
            <a:pPr algn="ctr"/>
            <a:r>
              <a:rPr sz="2000" dirty="0">
                <a:solidFill>
                  <a:srgbClr val="39FF14"/>
                </a:solidFill>
                <a:latin typeface="Roboto Mono Medium" pitchFamily="2" charset="0"/>
              </a:rPr>
              <a:t>[ PNG GOES HERE ]</a:t>
            </a:r>
          </a:p>
        </p:txBody>
      </p:sp>
      <p:sp>
        <p:nvSpPr>
          <p:cNvPr id="12" name="TextBox 11"/>
          <p:cNvSpPr txBox="1"/>
          <p:nvPr/>
        </p:nvSpPr>
        <p:spPr>
          <a:xfrm>
            <a:off x="1097280" y="4334256"/>
            <a:ext cx="9994392" cy="191435"/>
          </a:xfrm>
          <a:prstGeom prst="rect">
            <a:avLst/>
          </a:prstGeom>
          <a:noFill/>
        </p:spPr>
        <p:txBody>
          <a:bodyPr wrap="square" lIns="36576" tIns="10972" rIns="36576" bIns="10972">
            <a:spAutoFit/>
          </a:bodyPr>
          <a:lstStyle/>
          <a:p>
            <a:pPr algn="ctr"/>
            <a:r>
              <a:rPr sz="1100" b="1" dirty="0">
                <a:solidFill>
                  <a:srgbClr val="B0B8C4"/>
                </a:solidFill>
                <a:latin typeface="Roboto Slab" pitchFamily="2" charset="0"/>
              </a:rPr>
              <a:t>Place rendered PNG at:  x=0.90"  y=1.90"  w=11.53"  h=4.80"</a:t>
            </a:r>
          </a:p>
        </p:txBody>
      </p:sp>
      <p:pic>
        <p:nvPicPr>
          <p:cNvPr id="14" name="Picture 13">
            <a:extLst>
              <a:ext uri="{FF2B5EF4-FFF2-40B4-BE49-F238E27FC236}">
                <a16:creationId xmlns:a16="http://schemas.microsoft.com/office/drawing/2014/main" id="{9670A968-C5D6-5910-7167-DF926B73632B}"/>
              </a:ext>
            </a:extLst>
          </p:cNvPr>
          <p:cNvPicPr>
            <a:picLocks noChangeAspect="1"/>
          </p:cNvPicPr>
          <p:nvPr/>
        </p:nvPicPr>
        <p:blipFill>
          <a:blip r:embed="rId3"/>
          <a:srcRect/>
          <a:stretch/>
        </p:blipFill>
        <p:spPr>
          <a:xfrm>
            <a:off x="4725900" y="6473952"/>
            <a:ext cx="2526839" cy="365760"/>
          </a:xfrm>
          <a:prstGeom prst="rect">
            <a:avLst/>
          </a:prstGeom>
        </p:spPr>
      </p:pic>
      <p:pic>
        <p:nvPicPr>
          <p:cNvPr id="15" name="Picture 14">
            <a:extLst>
              <a:ext uri="{FF2B5EF4-FFF2-40B4-BE49-F238E27FC236}">
                <a16:creationId xmlns:a16="http://schemas.microsoft.com/office/drawing/2014/main" id="{2CFF1134-9542-5438-2B18-ADE400B38F97}"/>
              </a:ext>
            </a:extLst>
          </p:cNvPr>
          <p:cNvPicPr>
            <a:picLocks noChangeAspect="1"/>
          </p:cNvPicPr>
          <p:nvPr/>
        </p:nvPicPr>
        <p:blipFill>
          <a:blip r:embed="rId4"/>
          <a:stretch>
            <a:fillRect/>
          </a:stretch>
        </p:blipFill>
        <p:spPr>
          <a:xfrm>
            <a:off x="9811911" y="274320"/>
            <a:ext cx="1992993" cy="130044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47472" y="274320"/>
            <a:ext cx="11676888" cy="6126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pic>
        <p:nvPicPr>
          <p:cNvPr id="3" name="Picture 2" descr="image.png"/>
          <p:cNvPicPr>
            <a:picLocks noChangeAspect="1"/>
          </p:cNvPicPr>
          <p:nvPr/>
        </p:nvPicPr>
        <p:blipFill>
          <a:blip r:embed="rId2"/>
          <a:stretch>
            <a:fillRect/>
          </a:stretch>
        </p:blipFill>
        <p:spPr>
          <a:xfrm>
            <a:off x="256032" y="182880"/>
            <a:ext cx="11676888" cy="6126480"/>
          </a:xfrm>
          <a:prstGeom prst="rect">
            <a:avLst/>
          </a:prstGeom>
          <a:ln w="50800">
            <a:solidFill>
              <a:srgbClr val="000000"/>
            </a:solidFill>
          </a:ln>
        </p:spPr>
      </p:pic>
      <p:sp>
        <p:nvSpPr>
          <p:cNvPr id="5" name="TextBox 4"/>
          <p:cNvSpPr txBox="1"/>
          <p:nvPr/>
        </p:nvSpPr>
        <p:spPr>
          <a:xfrm>
            <a:off x="512064" y="411480"/>
            <a:ext cx="8869680" cy="677108"/>
          </a:xfrm>
          <a:prstGeom prst="rect">
            <a:avLst/>
          </a:prstGeom>
          <a:noFill/>
        </p:spPr>
        <p:txBody>
          <a:bodyPr wrap="square" lIns="0" tIns="0" rIns="0" bIns="0">
            <a:spAutoFit/>
          </a:bodyPr>
          <a:lstStyle/>
          <a:p>
            <a:pPr algn="l"/>
            <a:r>
              <a:rPr sz="4400" b="1" dirty="0">
                <a:solidFill>
                  <a:srgbClr val="F5F5F5"/>
                </a:solidFill>
                <a:latin typeface="Roboto Slab" pitchFamily="2" charset="0"/>
              </a:rPr>
              <a:t>Output: Topic Name</a:t>
            </a:r>
          </a:p>
        </p:txBody>
      </p:sp>
      <p:sp>
        <p:nvSpPr>
          <p:cNvPr id="6" name="Rectangle 5"/>
          <p:cNvSpPr/>
          <p:nvPr/>
        </p:nvSpPr>
        <p:spPr>
          <a:xfrm>
            <a:off x="384048" y="1719072"/>
            <a:ext cx="11420856" cy="4462272"/>
          </a:xfrm>
          <a:prstGeom prst="rect">
            <a:avLst/>
          </a:prstGeom>
          <a:solidFill>
            <a:srgbClr val="0A0A0A">
              <a:alpha val="75000"/>
            </a:srgbClr>
          </a:solidFill>
          <a:ln w="381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8" name="TextBox 7"/>
          <p:cNvSpPr txBox="1"/>
          <p:nvPr/>
        </p:nvSpPr>
        <p:spPr>
          <a:xfrm>
            <a:off x="640080" y="1883664"/>
            <a:ext cx="10908792" cy="184666"/>
          </a:xfrm>
          <a:prstGeom prst="rect">
            <a:avLst/>
          </a:prstGeom>
          <a:noFill/>
        </p:spPr>
        <p:txBody>
          <a:bodyPr wrap="square" lIns="0" tIns="0" rIns="0" bIns="0">
            <a:spAutoFit/>
          </a:bodyPr>
          <a:lstStyle/>
          <a:p>
            <a:pPr algn="l"/>
            <a:r>
              <a:rPr sz="1200" b="1" dirty="0">
                <a:solidFill>
                  <a:srgbClr val="FFCC00"/>
                </a:solidFill>
                <a:latin typeface="Roboto Slab" pitchFamily="2" charset="0"/>
              </a:rPr>
              <a:t>EXPECTED OUTPUT</a:t>
            </a:r>
          </a:p>
        </p:txBody>
      </p:sp>
      <p:sp>
        <p:nvSpPr>
          <p:cNvPr id="9" name="Rectangle 8"/>
          <p:cNvSpPr/>
          <p:nvPr/>
        </p:nvSpPr>
        <p:spPr>
          <a:xfrm>
            <a:off x="640080" y="2157984"/>
            <a:ext cx="10908792" cy="16459"/>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10" name="Rectangle 9"/>
          <p:cNvSpPr/>
          <p:nvPr/>
        </p:nvSpPr>
        <p:spPr>
          <a:xfrm>
            <a:off x="640080" y="2249424"/>
            <a:ext cx="10908792" cy="3675888"/>
          </a:xfrm>
          <a:prstGeom prst="rect">
            <a:avLst/>
          </a:prstGeom>
          <a:solidFill>
            <a:srgbClr val="121212"/>
          </a:solidFill>
          <a:ln w="25400">
            <a:solidFill>
              <a:srgbClr val="FF6B1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11" name="TextBox 10"/>
          <p:cNvSpPr txBox="1"/>
          <p:nvPr/>
        </p:nvSpPr>
        <p:spPr>
          <a:xfrm>
            <a:off x="1097280" y="3858768"/>
            <a:ext cx="9994392" cy="329935"/>
          </a:xfrm>
          <a:prstGeom prst="rect">
            <a:avLst/>
          </a:prstGeom>
          <a:noFill/>
        </p:spPr>
        <p:txBody>
          <a:bodyPr wrap="square" lIns="36576" tIns="10972" rIns="36576" bIns="10972">
            <a:spAutoFit/>
          </a:bodyPr>
          <a:lstStyle/>
          <a:p>
            <a:pPr algn="ctr"/>
            <a:r>
              <a:rPr sz="2000" dirty="0">
                <a:solidFill>
                  <a:srgbClr val="FF6B1A"/>
                </a:solidFill>
                <a:latin typeface="Roboto Mono Medium" pitchFamily="2" charset="0"/>
              </a:rPr>
              <a:t>[ PNG GOES HERE ]</a:t>
            </a:r>
          </a:p>
        </p:txBody>
      </p:sp>
      <p:sp>
        <p:nvSpPr>
          <p:cNvPr id="12" name="TextBox 11"/>
          <p:cNvSpPr txBox="1"/>
          <p:nvPr/>
        </p:nvSpPr>
        <p:spPr>
          <a:xfrm>
            <a:off x="1097280" y="4334256"/>
            <a:ext cx="9994392" cy="191435"/>
          </a:xfrm>
          <a:prstGeom prst="rect">
            <a:avLst/>
          </a:prstGeom>
          <a:noFill/>
        </p:spPr>
        <p:txBody>
          <a:bodyPr wrap="square" lIns="36576" tIns="10972" rIns="36576" bIns="10972">
            <a:spAutoFit/>
          </a:bodyPr>
          <a:lstStyle/>
          <a:p>
            <a:pPr algn="ctr"/>
            <a:r>
              <a:rPr sz="1100" b="1" dirty="0">
                <a:solidFill>
                  <a:srgbClr val="B0B8C4"/>
                </a:solidFill>
                <a:latin typeface="Roboto Slab" pitchFamily="2" charset="0"/>
              </a:rPr>
              <a:t>Place rendered PNG at:  x=0.90"  y=1.90"  w=11.53"  h=4.80"</a:t>
            </a:r>
          </a:p>
        </p:txBody>
      </p:sp>
      <p:pic>
        <p:nvPicPr>
          <p:cNvPr id="14" name="Picture 13">
            <a:extLst>
              <a:ext uri="{FF2B5EF4-FFF2-40B4-BE49-F238E27FC236}">
                <a16:creationId xmlns:a16="http://schemas.microsoft.com/office/drawing/2014/main" id="{F473475B-C8D7-2F5F-C831-2AB6D42FCA05}"/>
              </a:ext>
            </a:extLst>
          </p:cNvPr>
          <p:cNvPicPr>
            <a:picLocks noChangeAspect="1"/>
          </p:cNvPicPr>
          <p:nvPr/>
        </p:nvPicPr>
        <p:blipFill>
          <a:blip r:embed="rId3"/>
          <a:srcRect/>
          <a:stretch/>
        </p:blipFill>
        <p:spPr>
          <a:xfrm>
            <a:off x="4725900" y="6473952"/>
            <a:ext cx="2526839" cy="365760"/>
          </a:xfrm>
          <a:prstGeom prst="rect">
            <a:avLst/>
          </a:prstGeom>
        </p:spPr>
      </p:pic>
      <p:pic>
        <p:nvPicPr>
          <p:cNvPr id="15" name="Picture 14">
            <a:extLst>
              <a:ext uri="{FF2B5EF4-FFF2-40B4-BE49-F238E27FC236}">
                <a16:creationId xmlns:a16="http://schemas.microsoft.com/office/drawing/2014/main" id="{A5B164E8-1435-5D33-05D1-B0549B3350D4}"/>
              </a:ext>
            </a:extLst>
          </p:cNvPr>
          <p:cNvPicPr>
            <a:picLocks noChangeAspect="1"/>
          </p:cNvPicPr>
          <p:nvPr/>
        </p:nvPicPr>
        <p:blipFill>
          <a:blip r:embed="rId4"/>
          <a:stretch>
            <a:fillRect/>
          </a:stretch>
        </p:blipFill>
        <p:spPr>
          <a:xfrm>
            <a:off x="9811911" y="274320"/>
            <a:ext cx="1992993" cy="130044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47472" y="274320"/>
            <a:ext cx="11676888" cy="6126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pic>
        <p:nvPicPr>
          <p:cNvPr id="3" name="Picture 2" descr="image.png"/>
          <p:cNvPicPr>
            <a:picLocks noChangeAspect="1"/>
          </p:cNvPicPr>
          <p:nvPr/>
        </p:nvPicPr>
        <p:blipFill>
          <a:blip r:embed="rId2"/>
          <a:stretch>
            <a:fillRect/>
          </a:stretch>
        </p:blipFill>
        <p:spPr>
          <a:xfrm>
            <a:off x="256032" y="182880"/>
            <a:ext cx="11676888" cy="6126480"/>
          </a:xfrm>
          <a:prstGeom prst="rect">
            <a:avLst/>
          </a:prstGeom>
          <a:ln w="50800">
            <a:solidFill>
              <a:srgbClr val="000000"/>
            </a:solidFill>
          </a:ln>
        </p:spPr>
      </p:pic>
      <p:sp>
        <p:nvSpPr>
          <p:cNvPr id="5" name="TextBox 4"/>
          <p:cNvSpPr txBox="1"/>
          <p:nvPr/>
        </p:nvSpPr>
        <p:spPr>
          <a:xfrm>
            <a:off x="512064" y="411480"/>
            <a:ext cx="8869680" cy="677108"/>
          </a:xfrm>
          <a:prstGeom prst="rect">
            <a:avLst/>
          </a:prstGeom>
          <a:noFill/>
        </p:spPr>
        <p:txBody>
          <a:bodyPr wrap="square" lIns="0" tIns="0" rIns="0" bIns="0">
            <a:spAutoFit/>
          </a:bodyPr>
          <a:lstStyle/>
          <a:p>
            <a:pPr algn="l"/>
            <a:r>
              <a:rPr sz="4400" b="1" dirty="0">
                <a:solidFill>
                  <a:srgbClr val="F5F5F5"/>
                </a:solidFill>
                <a:latin typeface="Roboto Slab" pitchFamily="2" charset="0"/>
              </a:rPr>
              <a:t>Time Guide</a:t>
            </a:r>
          </a:p>
        </p:txBody>
      </p:sp>
      <p:sp>
        <p:nvSpPr>
          <p:cNvPr id="6" name="Rectangle 5"/>
          <p:cNvSpPr/>
          <p:nvPr/>
        </p:nvSpPr>
        <p:spPr>
          <a:xfrm>
            <a:off x="384048" y="1719072"/>
            <a:ext cx="11420856" cy="4462272"/>
          </a:xfrm>
          <a:prstGeom prst="rect">
            <a:avLst/>
          </a:prstGeom>
          <a:solidFill>
            <a:srgbClr val="0A0A0A">
              <a:alpha val="75000"/>
            </a:srgbClr>
          </a:solidFill>
          <a:ln w="381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8" name="TextBox 7"/>
          <p:cNvSpPr txBox="1"/>
          <p:nvPr/>
        </p:nvSpPr>
        <p:spPr>
          <a:xfrm>
            <a:off x="640080" y="1883664"/>
            <a:ext cx="10908792" cy="184666"/>
          </a:xfrm>
          <a:prstGeom prst="rect">
            <a:avLst/>
          </a:prstGeom>
          <a:noFill/>
        </p:spPr>
        <p:txBody>
          <a:bodyPr wrap="square" lIns="0" tIns="0" rIns="0" bIns="0">
            <a:spAutoFit/>
          </a:bodyPr>
          <a:lstStyle/>
          <a:p>
            <a:pPr algn="l"/>
            <a:r>
              <a:rPr sz="1200" b="1" dirty="0">
                <a:solidFill>
                  <a:srgbClr val="FFCC00"/>
                </a:solidFill>
                <a:latin typeface="Roboto Slab" pitchFamily="2" charset="0"/>
              </a:rPr>
              <a:t>PLAN YOUR SESSION — 90–120 MINUTES</a:t>
            </a:r>
          </a:p>
        </p:txBody>
      </p:sp>
      <p:sp>
        <p:nvSpPr>
          <p:cNvPr id="9" name="Rectangle 8"/>
          <p:cNvSpPr/>
          <p:nvPr/>
        </p:nvSpPr>
        <p:spPr>
          <a:xfrm>
            <a:off x="640080" y="2157984"/>
            <a:ext cx="10908792" cy="16459"/>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10" name="Rectangle 9"/>
          <p:cNvSpPr/>
          <p:nvPr/>
        </p:nvSpPr>
        <p:spPr>
          <a:xfrm>
            <a:off x="640080" y="2295144"/>
            <a:ext cx="3657600" cy="402336"/>
          </a:xfrm>
          <a:prstGeom prst="rect">
            <a:avLst/>
          </a:prstGeom>
          <a:solidFill>
            <a:srgbClr val="190C00"/>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11" name="TextBox 10"/>
          <p:cNvSpPr txBox="1"/>
          <p:nvPr/>
        </p:nvSpPr>
        <p:spPr>
          <a:xfrm>
            <a:off x="713232" y="2368296"/>
            <a:ext cx="3511296" cy="153888"/>
          </a:xfrm>
          <a:prstGeom prst="rect">
            <a:avLst/>
          </a:prstGeom>
          <a:noFill/>
        </p:spPr>
        <p:txBody>
          <a:bodyPr wrap="square" lIns="0" tIns="0" rIns="0" bIns="0">
            <a:spAutoFit/>
          </a:bodyPr>
          <a:lstStyle/>
          <a:p>
            <a:pPr algn="l"/>
            <a:r>
              <a:rPr sz="1000" dirty="0">
                <a:solidFill>
                  <a:srgbClr val="FF6B1A"/>
                </a:solidFill>
                <a:latin typeface="Roboto Medium" panose="02000000000000000000" pitchFamily="2" charset="0"/>
                <a:ea typeface="Roboto Medium" panose="02000000000000000000" pitchFamily="2" charset="0"/>
              </a:rPr>
              <a:t>CHECKPOINT</a:t>
            </a:r>
          </a:p>
        </p:txBody>
      </p:sp>
      <p:sp>
        <p:nvSpPr>
          <p:cNvPr id="12" name="Rectangle 11"/>
          <p:cNvSpPr/>
          <p:nvPr/>
        </p:nvSpPr>
        <p:spPr>
          <a:xfrm>
            <a:off x="4343400" y="2295144"/>
            <a:ext cx="1463040" cy="402336"/>
          </a:xfrm>
          <a:prstGeom prst="rect">
            <a:avLst/>
          </a:prstGeom>
          <a:solidFill>
            <a:srgbClr val="190C00"/>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13" name="TextBox 12"/>
          <p:cNvSpPr txBox="1"/>
          <p:nvPr/>
        </p:nvSpPr>
        <p:spPr>
          <a:xfrm>
            <a:off x="4416552" y="2368296"/>
            <a:ext cx="1316736" cy="153888"/>
          </a:xfrm>
          <a:prstGeom prst="rect">
            <a:avLst/>
          </a:prstGeom>
          <a:noFill/>
        </p:spPr>
        <p:txBody>
          <a:bodyPr wrap="square" lIns="0" tIns="0" rIns="0" bIns="0">
            <a:spAutoFit/>
          </a:bodyPr>
          <a:lstStyle/>
          <a:p>
            <a:pPr algn="l"/>
            <a:r>
              <a:rPr sz="1000" dirty="0">
                <a:solidFill>
                  <a:srgbClr val="FF6B1A"/>
                </a:solidFill>
                <a:latin typeface="Roboto Medium" panose="02000000000000000000" pitchFamily="2" charset="0"/>
                <a:ea typeface="Roboto Medium" panose="02000000000000000000" pitchFamily="2" charset="0"/>
              </a:rPr>
              <a:t>TIME</a:t>
            </a:r>
          </a:p>
        </p:txBody>
      </p:sp>
      <p:sp>
        <p:nvSpPr>
          <p:cNvPr id="14" name="Rectangle 13"/>
          <p:cNvSpPr/>
          <p:nvPr/>
        </p:nvSpPr>
        <p:spPr>
          <a:xfrm>
            <a:off x="5852160" y="2295144"/>
            <a:ext cx="5696712" cy="402336"/>
          </a:xfrm>
          <a:prstGeom prst="rect">
            <a:avLst/>
          </a:prstGeom>
          <a:solidFill>
            <a:srgbClr val="190C00"/>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15" name="TextBox 14"/>
          <p:cNvSpPr txBox="1"/>
          <p:nvPr/>
        </p:nvSpPr>
        <p:spPr>
          <a:xfrm>
            <a:off x="5925312" y="2368296"/>
            <a:ext cx="5550408" cy="153888"/>
          </a:xfrm>
          <a:prstGeom prst="rect">
            <a:avLst/>
          </a:prstGeom>
          <a:noFill/>
        </p:spPr>
        <p:txBody>
          <a:bodyPr wrap="square" lIns="0" tIns="0" rIns="0" bIns="0">
            <a:spAutoFit/>
          </a:bodyPr>
          <a:lstStyle/>
          <a:p>
            <a:pPr algn="l"/>
            <a:r>
              <a:rPr sz="1000" dirty="0">
                <a:solidFill>
                  <a:srgbClr val="FF6B1A"/>
                </a:solidFill>
                <a:latin typeface="Roboto Medium" panose="02000000000000000000" pitchFamily="2" charset="0"/>
                <a:ea typeface="Roboto Medium" panose="02000000000000000000" pitchFamily="2" charset="0"/>
              </a:rPr>
              <a:t>TASK</a:t>
            </a:r>
          </a:p>
        </p:txBody>
      </p:sp>
      <p:sp>
        <p:nvSpPr>
          <p:cNvPr id="16" name="Rectangle 15"/>
          <p:cNvSpPr/>
          <p:nvPr/>
        </p:nvSpPr>
        <p:spPr>
          <a:xfrm>
            <a:off x="640080" y="2697479"/>
            <a:ext cx="3657600" cy="402336"/>
          </a:xfrm>
          <a:prstGeom prst="rect">
            <a:avLst/>
          </a:prstGeom>
          <a:solidFill>
            <a:srgbClr val="141414"/>
          </a:solidFill>
          <a:ln w="12700">
            <a:solidFill>
              <a:srgbClr val="28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17" name="TextBox 16"/>
          <p:cNvSpPr txBox="1"/>
          <p:nvPr/>
        </p:nvSpPr>
        <p:spPr>
          <a:xfrm>
            <a:off x="713232" y="2770632"/>
            <a:ext cx="3511296" cy="169277"/>
          </a:xfrm>
          <a:prstGeom prst="rect">
            <a:avLst/>
          </a:prstGeom>
          <a:noFill/>
        </p:spPr>
        <p:txBody>
          <a:bodyPr wrap="square" lIns="0" tIns="0" rIns="0" bIns="0">
            <a:spAutoFit/>
          </a:bodyPr>
          <a:lstStyle/>
          <a:p>
            <a:pPr algn="l"/>
            <a:r>
              <a:rPr sz="1100" dirty="0">
                <a:solidFill>
                  <a:srgbClr val="F5F5F5"/>
                </a:solidFill>
                <a:latin typeface="Roboto Medium" panose="02000000000000000000" pitchFamily="2" charset="0"/>
                <a:ea typeface="Roboto Medium" panose="02000000000000000000" pitchFamily="2" charset="0"/>
              </a:rPr>
              <a:t>CP1: Load City Distances</a:t>
            </a:r>
          </a:p>
        </p:txBody>
      </p:sp>
      <p:sp>
        <p:nvSpPr>
          <p:cNvPr id="18" name="Rectangle 17"/>
          <p:cNvSpPr/>
          <p:nvPr/>
        </p:nvSpPr>
        <p:spPr>
          <a:xfrm>
            <a:off x="4343400" y="2697479"/>
            <a:ext cx="1463040" cy="402336"/>
          </a:xfrm>
          <a:prstGeom prst="rect">
            <a:avLst/>
          </a:prstGeom>
          <a:solidFill>
            <a:srgbClr val="141414"/>
          </a:solidFill>
          <a:ln w="12700">
            <a:solidFill>
              <a:srgbClr val="28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19" name="TextBox 18"/>
          <p:cNvSpPr txBox="1"/>
          <p:nvPr/>
        </p:nvSpPr>
        <p:spPr>
          <a:xfrm>
            <a:off x="4416552" y="2770632"/>
            <a:ext cx="1316736" cy="169277"/>
          </a:xfrm>
          <a:prstGeom prst="rect">
            <a:avLst/>
          </a:prstGeom>
          <a:noFill/>
        </p:spPr>
        <p:txBody>
          <a:bodyPr wrap="square" lIns="0" tIns="0" rIns="0" bIns="0">
            <a:spAutoFit/>
          </a:bodyPr>
          <a:lstStyle/>
          <a:p>
            <a:pPr algn="l"/>
            <a:r>
              <a:rPr sz="1100" dirty="0">
                <a:solidFill>
                  <a:srgbClr val="F5F5F5"/>
                </a:solidFill>
                <a:latin typeface="Roboto Medium" panose="02000000000000000000" pitchFamily="2" charset="0"/>
                <a:ea typeface="Roboto Medium" panose="02000000000000000000" pitchFamily="2" charset="0"/>
              </a:rPr>
              <a:t>25–30 min</a:t>
            </a:r>
          </a:p>
        </p:txBody>
      </p:sp>
      <p:sp>
        <p:nvSpPr>
          <p:cNvPr id="20" name="Rectangle 19"/>
          <p:cNvSpPr/>
          <p:nvPr/>
        </p:nvSpPr>
        <p:spPr>
          <a:xfrm>
            <a:off x="5852160" y="2697479"/>
            <a:ext cx="5696712" cy="402336"/>
          </a:xfrm>
          <a:prstGeom prst="rect">
            <a:avLst/>
          </a:prstGeom>
          <a:solidFill>
            <a:srgbClr val="141414"/>
          </a:solidFill>
          <a:ln w="12700">
            <a:solidFill>
              <a:srgbClr val="28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21" name="TextBox 20"/>
          <p:cNvSpPr txBox="1"/>
          <p:nvPr/>
        </p:nvSpPr>
        <p:spPr>
          <a:xfrm>
            <a:off x="5925312" y="2770632"/>
            <a:ext cx="5550408" cy="169277"/>
          </a:xfrm>
          <a:prstGeom prst="rect">
            <a:avLst/>
          </a:prstGeom>
          <a:noFill/>
        </p:spPr>
        <p:txBody>
          <a:bodyPr wrap="square" lIns="0" tIns="0" rIns="0" bIns="0">
            <a:spAutoFit/>
          </a:bodyPr>
          <a:lstStyle/>
          <a:p>
            <a:pPr algn="l"/>
            <a:r>
              <a:rPr sz="1100" dirty="0">
                <a:solidFill>
                  <a:srgbClr val="F5F5F5"/>
                </a:solidFill>
                <a:latin typeface="Roboto Medium" panose="02000000000000000000" pitchFamily="2" charset="0"/>
                <a:ea typeface="Roboto Medium" panose="02000000000000000000" pitchFamily="2" charset="0"/>
              </a:rPr>
              <a:t>Parse file into nested dictionary</a:t>
            </a:r>
          </a:p>
        </p:txBody>
      </p:sp>
      <p:sp>
        <p:nvSpPr>
          <p:cNvPr id="22" name="Rectangle 21"/>
          <p:cNvSpPr/>
          <p:nvPr/>
        </p:nvSpPr>
        <p:spPr>
          <a:xfrm>
            <a:off x="640080" y="3118103"/>
            <a:ext cx="3657600" cy="402336"/>
          </a:xfrm>
          <a:prstGeom prst="rect">
            <a:avLst/>
          </a:prstGeom>
          <a:solidFill>
            <a:srgbClr val="141414"/>
          </a:solidFill>
          <a:ln w="12700">
            <a:solidFill>
              <a:srgbClr val="28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23" name="TextBox 22"/>
          <p:cNvSpPr txBox="1"/>
          <p:nvPr/>
        </p:nvSpPr>
        <p:spPr>
          <a:xfrm>
            <a:off x="713232" y="3191256"/>
            <a:ext cx="3511296" cy="169277"/>
          </a:xfrm>
          <a:prstGeom prst="rect">
            <a:avLst/>
          </a:prstGeom>
          <a:noFill/>
        </p:spPr>
        <p:txBody>
          <a:bodyPr wrap="square" lIns="0" tIns="0" rIns="0" bIns="0">
            <a:spAutoFit/>
          </a:bodyPr>
          <a:lstStyle/>
          <a:p>
            <a:pPr algn="l"/>
            <a:r>
              <a:rPr sz="1100" dirty="0">
                <a:solidFill>
                  <a:srgbClr val="F5F5F5"/>
                </a:solidFill>
                <a:latin typeface="Roboto Medium" panose="02000000000000000000" pitchFamily="2" charset="0"/>
                <a:ea typeface="Roboto Medium" panose="02000000000000000000" pitchFamily="2" charset="0"/>
              </a:rPr>
              <a:t>CP2: Load City Info</a:t>
            </a:r>
          </a:p>
        </p:txBody>
      </p:sp>
      <p:sp>
        <p:nvSpPr>
          <p:cNvPr id="24" name="Rectangle 23"/>
          <p:cNvSpPr/>
          <p:nvPr/>
        </p:nvSpPr>
        <p:spPr>
          <a:xfrm>
            <a:off x="4343400" y="3118103"/>
            <a:ext cx="1463040" cy="402336"/>
          </a:xfrm>
          <a:prstGeom prst="rect">
            <a:avLst/>
          </a:prstGeom>
          <a:solidFill>
            <a:srgbClr val="141414"/>
          </a:solidFill>
          <a:ln w="12700">
            <a:solidFill>
              <a:srgbClr val="28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25" name="TextBox 24"/>
          <p:cNvSpPr txBox="1"/>
          <p:nvPr/>
        </p:nvSpPr>
        <p:spPr>
          <a:xfrm>
            <a:off x="4416552" y="3191256"/>
            <a:ext cx="1316736" cy="169277"/>
          </a:xfrm>
          <a:prstGeom prst="rect">
            <a:avLst/>
          </a:prstGeom>
          <a:noFill/>
        </p:spPr>
        <p:txBody>
          <a:bodyPr wrap="square" lIns="0" tIns="0" rIns="0" bIns="0">
            <a:spAutoFit/>
          </a:bodyPr>
          <a:lstStyle/>
          <a:p>
            <a:pPr algn="l"/>
            <a:r>
              <a:rPr sz="1100" dirty="0">
                <a:solidFill>
                  <a:srgbClr val="F5F5F5"/>
                </a:solidFill>
                <a:latin typeface="Roboto Medium" panose="02000000000000000000" pitchFamily="2" charset="0"/>
                <a:ea typeface="Roboto Medium" panose="02000000000000000000" pitchFamily="2" charset="0"/>
              </a:rPr>
              <a:t>20–25 min</a:t>
            </a:r>
          </a:p>
        </p:txBody>
      </p:sp>
      <p:sp>
        <p:nvSpPr>
          <p:cNvPr id="26" name="Rectangle 25"/>
          <p:cNvSpPr/>
          <p:nvPr/>
        </p:nvSpPr>
        <p:spPr>
          <a:xfrm>
            <a:off x="5852160" y="3118103"/>
            <a:ext cx="5696712" cy="402336"/>
          </a:xfrm>
          <a:prstGeom prst="rect">
            <a:avLst/>
          </a:prstGeom>
          <a:solidFill>
            <a:srgbClr val="141414"/>
          </a:solidFill>
          <a:ln w="12700">
            <a:solidFill>
              <a:srgbClr val="28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27" name="TextBox 26"/>
          <p:cNvSpPr txBox="1"/>
          <p:nvPr/>
        </p:nvSpPr>
        <p:spPr>
          <a:xfrm>
            <a:off x="5925312" y="3191256"/>
            <a:ext cx="5550408" cy="169277"/>
          </a:xfrm>
          <a:prstGeom prst="rect">
            <a:avLst/>
          </a:prstGeom>
          <a:noFill/>
        </p:spPr>
        <p:txBody>
          <a:bodyPr wrap="square" lIns="0" tIns="0" rIns="0" bIns="0">
            <a:spAutoFit/>
          </a:bodyPr>
          <a:lstStyle/>
          <a:p>
            <a:pPr algn="l"/>
            <a:r>
              <a:rPr sz="1100" dirty="0">
                <a:solidFill>
                  <a:srgbClr val="F5F5F5"/>
                </a:solidFill>
                <a:latin typeface="Roboto Medium" panose="02000000000000000000" pitchFamily="2" charset="0"/>
                <a:ea typeface="Roboto Medium" panose="02000000000000000000" pitchFamily="2" charset="0"/>
              </a:rPr>
              <a:t>Parse file into dictionary with nested data</a:t>
            </a:r>
          </a:p>
        </p:txBody>
      </p:sp>
      <p:sp>
        <p:nvSpPr>
          <p:cNvPr id="28" name="Rectangle 27"/>
          <p:cNvSpPr/>
          <p:nvPr/>
        </p:nvSpPr>
        <p:spPr>
          <a:xfrm>
            <a:off x="640080" y="3538728"/>
            <a:ext cx="3657600" cy="402336"/>
          </a:xfrm>
          <a:prstGeom prst="rect">
            <a:avLst/>
          </a:prstGeom>
          <a:solidFill>
            <a:srgbClr val="141414"/>
          </a:solidFill>
          <a:ln w="12700">
            <a:solidFill>
              <a:srgbClr val="28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29" name="TextBox 28"/>
          <p:cNvSpPr txBox="1"/>
          <p:nvPr/>
        </p:nvSpPr>
        <p:spPr>
          <a:xfrm>
            <a:off x="713232" y="3611880"/>
            <a:ext cx="3511296" cy="169277"/>
          </a:xfrm>
          <a:prstGeom prst="rect">
            <a:avLst/>
          </a:prstGeom>
          <a:noFill/>
        </p:spPr>
        <p:txBody>
          <a:bodyPr wrap="square" lIns="0" tIns="0" rIns="0" bIns="0">
            <a:spAutoFit/>
          </a:bodyPr>
          <a:lstStyle/>
          <a:p>
            <a:pPr algn="l"/>
            <a:r>
              <a:rPr sz="1100" dirty="0">
                <a:solidFill>
                  <a:srgbClr val="F5F5F5"/>
                </a:solidFill>
                <a:latin typeface="Roboto Medium" panose="02000000000000000000" pitchFamily="2" charset="0"/>
                <a:ea typeface="Roboto Medium" panose="02000000000000000000" pitchFamily="2" charset="0"/>
              </a:rPr>
              <a:t>CP3: Data-Driven Display</a:t>
            </a:r>
          </a:p>
        </p:txBody>
      </p:sp>
      <p:sp>
        <p:nvSpPr>
          <p:cNvPr id="30" name="Rectangle 29"/>
          <p:cNvSpPr/>
          <p:nvPr/>
        </p:nvSpPr>
        <p:spPr>
          <a:xfrm>
            <a:off x="4343400" y="3538728"/>
            <a:ext cx="1463040" cy="402336"/>
          </a:xfrm>
          <a:prstGeom prst="rect">
            <a:avLst/>
          </a:prstGeom>
          <a:solidFill>
            <a:srgbClr val="141414"/>
          </a:solidFill>
          <a:ln w="12700">
            <a:solidFill>
              <a:srgbClr val="28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31" name="TextBox 30"/>
          <p:cNvSpPr txBox="1"/>
          <p:nvPr/>
        </p:nvSpPr>
        <p:spPr>
          <a:xfrm>
            <a:off x="4416552" y="3611880"/>
            <a:ext cx="1316736" cy="169277"/>
          </a:xfrm>
          <a:prstGeom prst="rect">
            <a:avLst/>
          </a:prstGeom>
          <a:noFill/>
        </p:spPr>
        <p:txBody>
          <a:bodyPr wrap="square" lIns="0" tIns="0" rIns="0" bIns="0">
            <a:spAutoFit/>
          </a:bodyPr>
          <a:lstStyle/>
          <a:p>
            <a:pPr algn="l"/>
            <a:r>
              <a:rPr sz="1100" dirty="0">
                <a:solidFill>
                  <a:srgbClr val="F5F5F5"/>
                </a:solidFill>
                <a:latin typeface="Roboto Medium" panose="02000000000000000000" pitchFamily="2" charset="0"/>
                <a:ea typeface="Roboto Medium" panose="02000000000000000000" pitchFamily="2" charset="0"/>
              </a:rPr>
              <a:t>20–25 min</a:t>
            </a:r>
          </a:p>
        </p:txBody>
      </p:sp>
      <p:sp>
        <p:nvSpPr>
          <p:cNvPr id="32" name="Rectangle 31"/>
          <p:cNvSpPr/>
          <p:nvPr/>
        </p:nvSpPr>
        <p:spPr>
          <a:xfrm>
            <a:off x="5852160" y="3538728"/>
            <a:ext cx="5696712" cy="402336"/>
          </a:xfrm>
          <a:prstGeom prst="rect">
            <a:avLst/>
          </a:prstGeom>
          <a:solidFill>
            <a:srgbClr val="141414"/>
          </a:solidFill>
          <a:ln w="12700">
            <a:solidFill>
              <a:srgbClr val="28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33" name="TextBox 32"/>
          <p:cNvSpPr txBox="1"/>
          <p:nvPr/>
        </p:nvSpPr>
        <p:spPr>
          <a:xfrm>
            <a:off x="5925312" y="3611880"/>
            <a:ext cx="5550408" cy="169277"/>
          </a:xfrm>
          <a:prstGeom prst="rect">
            <a:avLst/>
          </a:prstGeom>
          <a:noFill/>
        </p:spPr>
        <p:txBody>
          <a:bodyPr wrap="square" lIns="0" tIns="0" rIns="0" bIns="0">
            <a:spAutoFit/>
          </a:bodyPr>
          <a:lstStyle/>
          <a:p>
            <a:pPr algn="l"/>
            <a:r>
              <a:rPr sz="1100" dirty="0">
                <a:solidFill>
                  <a:srgbClr val="F5F5F5"/>
                </a:solidFill>
                <a:latin typeface="Roboto Medium" panose="02000000000000000000" pitchFamily="2" charset="0"/>
                <a:ea typeface="Roboto Medium" panose="02000000000000000000" pitchFamily="2" charset="0"/>
              </a:rPr>
              <a:t>Display destinations from dictionary</a:t>
            </a:r>
          </a:p>
        </p:txBody>
      </p:sp>
      <p:sp>
        <p:nvSpPr>
          <p:cNvPr id="34" name="Rectangle 33"/>
          <p:cNvSpPr/>
          <p:nvPr/>
        </p:nvSpPr>
        <p:spPr>
          <a:xfrm>
            <a:off x="640080" y="3959351"/>
            <a:ext cx="3657600" cy="402336"/>
          </a:xfrm>
          <a:prstGeom prst="rect">
            <a:avLst/>
          </a:prstGeom>
          <a:solidFill>
            <a:srgbClr val="141414"/>
          </a:solidFill>
          <a:ln w="12700">
            <a:solidFill>
              <a:srgbClr val="28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35" name="TextBox 34"/>
          <p:cNvSpPr txBox="1"/>
          <p:nvPr/>
        </p:nvSpPr>
        <p:spPr>
          <a:xfrm>
            <a:off x="713232" y="4032503"/>
            <a:ext cx="3511296" cy="169277"/>
          </a:xfrm>
          <a:prstGeom prst="rect">
            <a:avLst/>
          </a:prstGeom>
          <a:noFill/>
        </p:spPr>
        <p:txBody>
          <a:bodyPr wrap="square" lIns="0" tIns="0" rIns="0" bIns="0">
            <a:spAutoFit/>
          </a:bodyPr>
          <a:lstStyle/>
          <a:p>
            <a:pPr algn="l"/>
            <a:r>
              <a:rPr sz="1100" dirty="0">
                <a:solidFill>
                  <a:srgbClr val="F5F5F5"/>
                </a:solidFill>
                <a:latin typeface="Roboto Medium" panose="02000000000000000000" pitchFamily="2" charset="0"/>
                <a:ea typeface="Roboto Medium" panose="02000000000000000000" pitchFamily="2" charset="0"/>
              </a:rPr>
              <a:t>CP4: Complete Game Loop</a:t>
            </a:r>
          </a:p>
        </p:txBody>
      </p:sp>
      <p:sp>
        <p:nvSpPr>
          <p:cNvPr id="36" name="Rectangle 35"/>
          <p:cNvSpPr/>
          <p:nvPr/>
        </p:nvSpPr>
        <p:spPr>
          <a:xfrm>
            <a:off x="4343400" y="3959351"/>
            <a:ext cx="1463040" cy="402336"/>
          </a:xfrm>
          <a:prstGeom prst="rect">
            <a:avLst/>
          </a:prstGeom>
          <a:solidFill>
            <a:srgbClr val="141414"/>
          </a:solidFill>
          <a:ln w="12700">
            <a:solidFill>
              <a:srgbClr val="28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37" name="TextBox 36"/>
          <p:cNvSpPr txBox="1"/>
          <p:nvPr/>
        </p:nvSpPr>
        <p:spPr>
          <a:xfrm>
            <a:off x="4416552" y="4032503"/>
            <a:ext cx="1316736" cy="169277"/>
          </a:xfrm>
          <a:prstGeom prst="rect">
            <a:avLst/>
          </a:prstGeom>
          <a:noFill/>
        </p:spPr>
        <p:txBody>
          <a:bodyPr wrap="square" lIns="0" tIns="0" rIns="0" bIns="0">
            <a:spAutoFit/>
          </a:bodyPr>
          <a:lstStyle/>
          <a:p>
            <a:pPr algn="l"/>
            <a:r>
              <a:rPr sz="1100" dirty="0">
                <a:solidFill>
                  <a:srgbClr val="F5F5F5"/>
                </a:solidFill>
                <a:latin typeface="Roboto Medium" panose="02000000000000000000" pitchFamily="2" charset="0"/>
                <a:ea typeface="Roboto Medium" panose="02000000000000000000" pitchFamily="2" charset="0"/>
              </a:rPr>
              <a:t>25–30 min</a:t>
            </a:r>
          </a:p>
        </p:txBody>
      </p:sp>
      <p:sp>
        <p:nvSpPr>
          <p:cNvPr id="38" name="Rectangle 37"/>
          <p:cNvSpPr/>
          <p:nvPr/>
        </p:nvSpPr>
        <p:spPr>
          <a:xfrm>
            <a:off x="5852160" y="3959351"/>
            <a:ext cx="5696712" cy="402336"/>
          </a:xfrm>
          <a:prstGeom prst="rect">
            <a:avLst/>
          </a:prstGeom>
          <a:solidFill>
            <a:srgbClr val="141414"/>
          </a:solidFill>
          <a:ln w="12700">
            <a:solidFill>
              <a:srgbClr val="28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39" name="TextBox 38"/>
          <p:cNvSpPr txBox="1"/>
          <p:nvPr/>
        </p:nvSpPr>
        <p:spPr>
          <a:xfrm>
            <a:off x="5925312" y="4032503"/>
            <a:ext cx="5550408" cy="169277"/>
          </a:xfrm>
          <a:prstGeom prst="rect">
            <a:avLst/>
          </a:prstGeom>
          <a:noFill/>
        </p:spPr>
        <p:txBody>
          <a:bodyPr wrap="square" lIns="0" tIns="0" rIns="0" bIns="0">
            <a:spAutoFit/>
          </a:bodyPr>
          <a:lstStyle/>
          <a:p>
            <a:pPr algn="l"/>
            <a:r>
              <a:rPr sz="1100" dirty="0">
                <a:solidFill>
                  <a:srgbClr val="F5F5F5"/>
                </a:solidFill>
                <a:latin typeface="Roboto Medium" panose="02000000000000000000" pitchFamily="2" charset="0"/>
                <a:ea typeface="Roboto Medium" panose="02000000000000000000" pitchFamily="2" charset="0"/>
              </a:rPr>
              <a:t>Integrate all functions, clean input</a:t>
            </a:r>
          </a:p>
        </p:txBody>
      </p:sp>
      <p:sp>
        <p:nvSpPr>
          <p:cNvPr id="40" name="Rectangle 39"/>
          <p:cNvSpPr/>
          <p:nvPr/>
        </p:nvSpPr>
        <p:spPr>
          <a:xfrm>
            <a:off x="640080" y="4379976"/>
            <a:ext cx="3657600" cy="402336"/>
          </a:xfrm>
          <a:prstGeom prst="rect">
            <a:avLst/>
          </a:prstGeom>
          <a:solidFill>
            <a:srgbClr val="0F0F0F"/>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41" name="TextBox 40"/>
          <p:cNvSpPr txBox="1"/>
          <p:nvPr/>
        </p:nvSpPr>
        <p:spPr>
          <a:xfrm>
            <a:off x="713232" y="4453128"/>
            <a:ext cx="3511296" cy="169277"/>
          </a:xfrm>
          <a:prstGeom prst="rect">
            <a:avLst/>
          </a:prstGeom>
          <a:noFill/>
        </p:spPr>
        <p:txBody>
          <a:bodyPr wrap="square" lIns="0" tIns="0" rIns="0" bIns="0">
            <a:spAutoFit/>
          </a:bodyPr>
          <a:lstStyle/>
          <a:p>
            <a:pPr algn="l"/>
            <a:r>
              <a:rPr sz="1100" dirty="0">
                <a:solidFill>
                  <a:srgbClr val="FFCC00"/>
                </a:solidFill>
                <a:latin typeface="Roboto Medium" panose="02000000000000000000" pitchFamily="2" charset="0"/>
                <a:ea typeface="Roboto Medium" panose="02000000000000000000" pitchFamily="2" charset="0"/>
              </a:rPr>
              <a:t>Total Estimated Time</a:t>
            </a:r>
          </a:p>
        </p:txBody>
      </p:sp>
      <p:sp>
        <p:nvSpPr>
          <p:cNvPr id="42" name="Rectangle 41"/>
          <p:cNvSpPr/>
          <p:nvPr/>
        </p:nvSpPr>
        <p:spPr>
          <a:xfrm>
            <a:off x="4343400" y="4379976"/>
            <a:ext cx="1463040" cy="402336"/>
          </a:xfrm>
          <a:prstGeom prst="rect">
            <a:avLst/>
          </a:prstGeom>
          <a:solidFill>
            <a:srgbClr val="0F0F0F"/>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43" name="TextBox 42"/>
          <p:cNvSpPr txBox="1"/>
          <p:nvPr/>
        </p:nvSpPr>
        <p:spPr>
          <a:xfrm>
            <a:off x="4416552" y="4453128"/>
            <a:ext cx="1316736" cy="276999"/>
          </a:xfrm>
          <a:prstGeom prst="rect">
            <a:avLst/>
          </a:prstGeom>
          <a:noFill/>
        </p:spPr>
        <p:txBody>
          <a:bodyPr wrap="square" lIns="0" tIns="0" rIns="0" bIns="0">
            <a:spAutoFit/>
          </a:bodyPr>
          <a:lstStyle/>
          <a:p>
            <a:pPr algn="l"/>
            <a:endParaRPr dirty="0">
              <a:latin typeface="Roboto Medium" panose="02000000000000000000" pitchFamily="2" charset="0"/>
              <a:ea typeface="Roboto Medium" panose="02000000000000000000" pitchFamily="2" charset="0"/>
            </a:endParaRPr>
          </a:p>
        </p:txBody>
      </p:sp>
      <p:sp>
        <p:nvSpPr>
          <p:cNvPr id="44" name="Rectangle 43"/>
          <p:cNvSpPr/>
          <p:nvPr/>
        </p:nvSpPr>
        <p:spPr>
          <a:xfrm>
            <a:off x="5852160" y="4379976"/>
            <a:ext cx="5696712" cy="402336"/>
          </a:xfrm>
          <a:prstGeom prst="rect">
            <a:avLst/>
          </a:prstGeom>
          <a:solidFill>
            <a:srgbClr val="0F0F0F"/>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45" name="TextBox 44"/>
          <p:cNvSpPr txBox="1"/>
          <p:nvPr/>
        </p:nvSpPr>
        <p:spPr>
          <a:xfrm>
            <a:off x="5925312" y="4453128"/>
            <a:ext cx="5550408" cy="169277"/>
          </a:xfrm>
          <a:prstGeom prst="rect">
            <a:avLst/>
          </a:prstGeom>
          <a:noFill/>
        </p:spPr>
        <p:txBody>
          <a:bodyPr wrap="square" lIns="0" tIns="0" rIns="0" bIns="0">
            <a:spAutoFit/>
          </a:bodyPr>
          <a:lstStyle/>
          <a:p>
            <a:pPr algn="l"/>
            <a:r>
              <a:rPr sz="1100" dirty="0">
                <a:solidFill>
                  <a:srgbClr val="FFCC00"/>
                </a:solidFill>
                <a:latin typeface="Roboto Medium" panose="02000000000000000000" pitchFamily="2" charset="0"/>
                <a:ea typeface="Roboto Medium" panose="02000000000000000000" pitchFamily="2" charset="0"/>
              </a:rPr>
              <a:t>90–120 Minutes</a:t>
            </a:r>
          </a:p>
        </p:txBody>
      </p:sp>
      <p:sp>
        <p:nvSpPr>
          <p:cNvPr id="46" name="Oval 45"/>
          <p:cNvSpPr/>
          <p:nvPr/>
        </p:nvSpPr>
        <p:spPr>
          <a:xfrm>
            <a:off x="640080" y="5393224"/>
            <a:ext cx="384048" cy="384048"/>
          </a:xfrm>
          <a:prstGeom prst="ellipse">
            <a:avLst/>
          </a:prstGeom>
          <a:solidFill>
            <a:srgbClr val="00FFFF"/>
          </a:solidFill>
          <a:ln w="381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47" name="TextBox 46"/>
          <p:cNvSpPr txBox="1"/>
          <p:nvPr/>
        </p:nvSpPr>
        <p:spPr>
          <a:xfrm>
            <a:off x="722376" y="5464525"/>
            <a:ext cx="256032" cy="268380"/>
          </a:xfrm>
          <a:prstGeom prst="rect">
            <a:avLst/>
          </a:prstGeom>
          <a:noFill/>
        </p:spPr>
        <p:txBody>
          <a:bodyPr wrap="square" lIns="36576" tIns="10972" rIns="36576" bIns="10972">
            <a:spAutoFit/>
          </a:bodyPr>
          <a:lstStyle/>
          <a:p>
            <a:pPr algn="ctr"/>
            <a:r>
              <a:rPr sz="1600" b="1" dirty="0">
                <a:solidFill>
                  <a:srgbClr val="F5F5F5"/>
                </a:solidFill>
                <a:latin typeface="Roboto Slab" pitchFamily="2" charset="0"/>
              </a:rPr>
              <a:t>💡</a:t>
            </a:r>
          </a:p>
        </p:txBody>
      </p:sp>
      <p:sp>
        <p:nvSpPr>
          <p:cNvPr id="48" name="Rectangle 47"/>
          <p:cNvSpPr/>
          <p:nvPr/>
        </p:nvSpPr>
        <p:spPr>
          <a:xfrm>
            <a:off x="1143000" y="5320072"/>
            <a:ext cx="10314432" cy="658368"/>
          </a:xfrm>
          <a:prstGeom prst="rect">
            <a:avLst/>
          </a:prstGeom>
          <a:solidFill>
            <a:srgbClr val="0F1919"/>
          </a:solidFill>
          <a:ln w="25400">
            <a:solidFill>
              <a:srgbClr val="00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49" name="TextBox 48"/>
          <p:cNvSpPr txBox="1"/>
          <p:nvPr/>
        </p:nvSpPr>
        <p:spPr>
          <a:xfrm>
            <a:off x="1280160" y="5374935"/>
            <a:ext cx="10177272" cy="169277"/>
          </a:xfrm>
          <a:prstGeom prst="rect">
            <a:avLst/>
          </a:prstGeom>
          <a:noFill/>
        </p:spPr>
        <p:txBody>
          <a:bodyPr wrap="square" lIns="0" tIns="0" rIns="0" bIns="0">
            <a:spAutoFit/>
          </a:bodyPr>
          <a:lstStyle/>
          <a:p>
            <a:pPr algn="l"/>
            <a:r>
              <a:rPr sz="1100" b="1" dirty="0">
                <a:solidFill>
                  <a:srgbClr val="00FFFF"/>
                </a:solidFill>
                <a:latin typeface="Roboto Slab" pitchFamily="2" charset="0"/>
              </a:rPr>
              <a:t>STRATEGY</a:t>
            </a:r>
          </a:p>
        </p:txBody>
      </p:sp>
      <p:sp>
        <p:nvSpPr>
          <p:cNvPr id="50" name="TextBox 49"/>
          <p:cNvSpPr txBox="1"/>
          <p:nvPr/>
        </p:nvSpPr>
        <p:spPr>
          <a:xfrm>
            <a:off x="1280160" y="5594392"/>
            <a:ext cx="10177272" cy="169277"/>
          </a:xfrm>
          <a:prstGeom prst="rect">
            <a:avLst/>
          </a:prstGeom>
          <a:noFill/>
        </p:spPr>
        <p:txBody>
          <a:bodyPr wrap="square" lIns="0" tIns="0" rIns="0" bIns="0">
            <a:spAutoFit/>
          </a:bodyPr>
          <a:lstStyle/>
          <a:p>
            <a:pPr algn="l"/>
            <a:r>
              <a:rPr sz="1100" b="1" dirty="0">
                <a:solidFill>
                  <a:srgbClr val="F5F5F5"/>
                </a:solidFill>
                <a:latin typeface="Roboto Slab" pitchFamily="2" charset="0"/>
              </a:rPr>
              <a:t>Focus on getting the data structure right before wiring it into the game. Test each function in isolation.</a:t>
            </a:r>
          </a:p>
        </p:txBody>
      </p:sp>
      <p:pic>
        <p:nvPicPr>
          <p:cNvPr id="52" name="Picture 51">
            <a:extLst>
              <a:ext uri="{FF2B5EF4-FFF2-40B4-BE49-F238E27FC236}">
                <a16:creationId xmlns:a16="http://schemas.microsoft.com/office/drawing/2014/main" id="{61A55A1A-ACCE-A59A-4924-24C29726FCE7}"/>
              </a:ext>
            </a:extLst>
          </p:cNvPr>
          <p:cNvPicPr>
            <a:picLocks noChangeAspect="1"/>
          </p:cNvPicPr>
          <p:nvPr/>
        </p:nvPicPr>
        <p:blipFill>
          <a:blip r:embed="rId3"/>
          <a:srcRect/>
          <a:stretch/>
        </p:blipFill>
        <p:spPr>
          <a:xfrm>
            <a:off x="4725900" y="6473952"/>
            <a:ext cx="2526839" cy="365760"/>
          </a:xfrm>
          <a:prstGeom prst="rect">
            <a:avLst/>
          </a:prstGeom>
        </p:spPr>
      </p:pic>
      <p:pic>
        <p:nvPicPr>
          <p:cNvPr id="53" name="Picture 52">
            <a:extLst>
              <a:ext uri="{FF2B5EF4-FFF2-40B4-BE49-F238E27FC236}">
                <a16:creationId xmlns:a16="http://schemas.microsoft.com/office/drawing/2014/main" id="{BFBCA2E2-6491-5254-6805-8E0CBC52FBE8}"/>
              </a:ext>
            </a:extLst>
          </p:cNvPr>
          <p:cNvPicPr>
            <a:picLocks noChangeAspect="1"/>
          </p:cNvPicPr>
          <p:nvPr/>
        </p:nvPicPr>
        <p:blipFill>
          <a:blip r:embed="rId4"/>
          <a:stretch>
            <a:fillRect/>
          </a:stretch>
        </p:blipFill>
        <p:spPr>
          <a:xfrm>
            <a:off x="9811911" y="274320"/>
            <a:ext cx="1992993" cy="130044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47472" y="274320"/>
            <a:ext cx="11676888" cy="6126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pic>
        <p:nvPicPr>
          <p:cNvPr id="3" name="Picture 2" descr="image.png"/>
          <p:cNvPicPr>
            <a:picLocks noChangeAspect="1"/>
          </p:cNvPicPr>
          <p:nvPr/>
        </p:nvPicPr>
        <p:blipFill>
          <a:blip r:embed="rId2"/>
          <a:stretch>
            <a:fillRect/>
          </a:stretch>
        </p:blipFill>
        <p:spPr>
          <a:xfrm>
            <a:off x="256032" y="182880"/>
            <a:ext cx="11676888" cy="6126480"/>
          </a:xfrm>
          <a:prstGeom prst="rect">
            <a:avLst/>
          </a:prstGeom>
          <a:ln w="50800">
            <a:solidFill>
              <a:srgbClr val="000000"/>
            </a:solidFill>
          </a:ln>
        </p:spPr>
      </p:pic>
      <p:sp>
        <p:nvSpPr>
          <p:cNvPr id="5" name="TextBox 4"/>
          <p:cNvSpPr txBox="1"/>
          <p:nvPr/>
        </p:nvSpPr>
        <p:spPr>
          <a:xfrm>
            <a:off x="512064" y="411480"/>
            <a:ext cx="8869680" cy="677108"/>
          </a:xfrm>
          <a:prstGeom prst="rect">
            <a:avLst/>
          </a:prstGeom>
          <a:noFill/>
        </p:spPr>
        <p:txBody>
          <a:bodyPr wrap="square" lIns="0" tIns="0" rIns="0" bIns="0">
            <a:spAutoFit/>
          </a:bodyPr>
          <a:lstStyle/>
          <a:p>
            <a:pPr algn="l"/>
            <a:r>
              <a:rPr sz="4400" b="1" dirty="0">
                <a:solidFill>
                  <a:srgbClr val="F5F5F5"/>
                </a:solidFill>
                <a:latin typeface="Roboto Slab" pitchFamily="2" charset="0"/>
              </a:rPr>
              <a:t>Final Checklist</a:t>
            </a:r>
          </a:p>
        </p:txBody>
      </p:sp>
      <p:sp>
        <p:nvSpPr>
          <p:cNvPr id="6" name="Rectangle 5"/>
          <p:cNvSpPr/>
          <p:nvPr/>
        </p:nvSpPr>
        <p:spPr>
          <a:xfrm>
            <a:off x="384048" y="1719072"/>
            <a:ext cx="11420856" cy="4462272"/>
          </a:xfrm>
          <a:prstGeom prst="rect">
            <a:avLst/>
          </a:prstGeom>
          <a:solidFill>
            <a:srgbClr val="0A0A0A">
              <a:alpha val="75000"/>
            </a:srgbClr>
          </a:solidFill>
          <a:ln w="381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8" name="TextBox 7"/>
          <p:cNvSpPr txBox="1"/>
          <p:nvPr/>
        </p:nvSpPr>
        <p:spPr>
          <a:xfrm>
            <a:off x="640080" y="1883664"/>
            <a:ext cx="10908792" cy="184666"/>
          </a:xfrm>
          <a:prstGeom prst="rect">
            <a:avLst/>
          </a:prstGeom>
          <a:noFill/>
        </p:spPr>
        <p:txBody>
          <a:bodyPr wrap="square" lIns="0" tIns="0" rIns="0" bIns="0">
            <a:spAutoFit/>
          </a:bodyPr>
          <a:lstStyle/>
          <a:p>
            <a:pPr algn="l"/>
            <a:r>
              <a:rPr sz="1200" b="1" dirty="0">
                <a:solidFill>
                  <a:srgbClr val="FFCC00"/>
                </a:solidFill>
                <a:latin typeface="Roboto Slab" pitchFamily="2" charset="0"/>
              </a:rPr>
              <a:t>BEFORE YOU SUBMIT</a:t>
            </a:r>
          </a:p>
        </p:txBody>
      </p:sp>
      <p:sp>
        <p:nvSpPr>
          <p:cNvPr id="9" name="Rectangle 8"/>
          <p:cNvSpPr/>
          <p:nvPr/>
        </p:nvSpPr>
        <p:spPr>
          <a:xfrm>
            <a:off x="640080" y="2157984"/>
            <a:ext cx="10908792" cy="16459"/>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10" name="Rectangle 9"/>
          <p:cNvSpPr/>
          <p:nvPr/>
        </p:nvSpPr>
        <p:spPr>
          <a:xfrm>
            <a:off x="640080" y="2286000"/>
            <a:ext cx="256032" cy="256032"/>
          </a:xfrm>
          <a:prstGeom prst="rect">
            <a:avLst/>
          </a:prstGeom>
          <a:solidFill>
            <a:srgbClr val="0A0A0A"/>
          </a:solidFill>
          <a:ln w="25400">
            <a:solidFill>
              <a:srgbClr val="FF17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11" name="TextBox 10"/>
          <p:cNvSpPr txBox="1"/>
          <p:nvPr/>
        </p:nvSpPr>
        <p:spPr>
          <a:xfrm>
            <a:off x="1024128" y="2286000"/>
            <a:ext cx="10469880" cy="276999"/>
          </a:xfrm>
          <a:prstGeom prst="rect">
            <a:avLst/>
          </a:prstGeom>
          <a:noFill/>
        </p:spPr>
        <p:txBody>
          <a:bodyPr wrap="square" lIns="0" tIns="0" rIns="0" bIns="0">
            <a:spAutoFit/>
          </a:bodyPr>
          <a:lstStyle/>
          <a:p>
            <a:pPr algn="l"/>
            <a:r>
              <a:rPr sz="1800" dirty="0">
                <a:solidFill>
                  <a:srgbClr val="F5F5F5"/>
                </a:solidFill>
                <a:latin typeface="Roboto Medium" panose="02000000000000000000" pitchFamily="2" charset="0"/>
                <a:ea typeface="Roboto Medium" panose="02000000000000000000" pitchFamily="2" charset="0"/>
              </a:rPr>
              <a:t>File is named exactly `lab-4-1.py`</a:t>
            </a:r>
          </a:p>
        </p:txBody>
      </p:sp>
      <p:sp>
        <p:nvSpPr>
          <p:cNvPr id="12" name="Rectangle 11"/>
          <p:cNvSpPr/>
          <p:nvPr/>
        </p:nvSpPr>
        <p:spPr>
          <a:xfrm>
            <a:off x="640080" y="2761488"/>
            <a:ext cx="256032" cy="256032"/>
          </a:xfrm>
          <a:prstGeom prst="rect">
            <a:avLst/>
          </a:prstGeom>
          <a:solidFill>
            <a:srgbClr val="0A0A0A"/>
          </a:solidFill>
          <a:ln w="25400">
            <a:solidFill>
              <a:srgbClr val="FF17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13" name="TextBox 12"/>
          <p:cNvSpPr txBox="1"/>
          <p:nvPr/>
        </p:nvSpPr>
        <p:spPr>
          <a:xfrm>
            <a:off x="1024128" y="2761488"/>
            <a:ext cx="10469880" cy="276999"/>
          </a:xfrm>
          <a:prstGeom prst="rect">
            <a:avLst/>
          </a:prstGeom>
          <a:noFill/>
        </p:spPr>
        <p:txBody>
          <a:bodyPr wrap="square" lIns="0" tIns="0" rIns="0" bIns="0">
            <a:spAutoFit/>
          </a:bodyPr>
          <a:lstStyle/>
          <a:p>
            <a:pPr algn="l"/>
            <a:r>
              <a:rPr sz="1800" dirty="0">
                <a:solidFill>
                  <a:srgbClr val="F5F5F5"/>
                </a:solidFill>
                <a:latin typeface="Roboto Medium" panose="02000000000000000000" pitchFamily="2" charset="0"/>
                <a:ea typeface="Roboto Medium" panose="02000000000000000000" pitchFamily="2" charset="0"/>
              </a:rPr>
              <a:t>Docstring includes your name, abc123, section, and description</a:t>
            </a:r>
          </a:p>
        </p:txBody>
      </p:sp>
      <p:sp>
        <p:nvSpPr>
          <p:cNvPr id="14" name="Rectangle 13"/>
          <p:cNvSpPr/>
          <p:nvPr/>
        </p:nvSpPr>
        <p:spPr>
          <a:xfrm>
            <a:off x="640080" y="3236976"/>
            <a:ext cx="256032" cy="256032"/>
          </a:xfrm>
          <a:prstGeom prst="rect">
            <a:avLst/>
          </a:prstGeom>
          <a:solidFill>
            <a:srgbClr val="0A0A0A"/>
          </a:solidFill>
          <a:ln w="25400">
            <a:solidFill>
              <a:srgbClr val="FF17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15" name="TextBox 14"/>
          <p:cNvSpPr txBox="1"/>
          <p:nvPr/>
        </p:nvSpPr>
        <p:spPr>
          <a:xfrm>
            <a:off x="1024128" y="3236976"/>
            <a:ext cx="10469880" cy="276999"/>
          </a:xfrm>
          <a:prstGeom prst="rect">
            <a:avLst/>
          </a:prstGeom>
          <a:noFill/>
        </p:spPr>
        <p:txBody>
          <a:bodyPr wrap="square" lIns="0" tIns="0" rIns="0" bIns="0">
            <a:spAutoFit/>
          </a:bodyPr>
          <a:lstStyle/>
          <a:p>
            <a:pPr algn="l"/>
            <a:r>
              <a:rPr sz="1800" dirty="0">
                <a:solidFill>
                  <a:srgbClr val="F5F5F5"/>
                </a:solidFill>
                <a:latin typeface="Roboto Medium" panose="02000000000000000000" pitchFamily="2" charset="0"/>
                <a:ea typeface="Roboto Medium" panose="02000000000000000000" pitchFamily="2" charset="0"/>
              </a:rPr>
              <a:t>Uses `.strip()` and `.split(',')` to parse file data</a:t>
            </a:r>
          </a:p>
        </p:txBody>
      </p:sp>
      <p:sp>
        <p:nvSpPr>
          <p:cNvPr id="16" name="Rectangle 15"/>
          <p:cNvSpPr/>
          <p:nvPr/>
        </p:nvSpPr>
        <p:spPr>
          <a:xfrm>
            <a:off x="640080" y="3712463"/>
            <a:ext cx="256032" cy="256032"/>
          </a:xfrm>
          <a:prstGeom prst="rect">
            <a:avLst/>
          </a:prstGeom>
          <a:solidFill>
            <a:srgbClr val="0A0A0A"/>
          </a:solidFill>
          <a:ln w="25400">
            <a:solidFill>
              <a:srgbClr val="FF17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17" name="TextBox 16"/>
          <p:cNvSpPr txBox="1"/>
          <p:nvPr/>
        </p:nvSpPr>
        <p:spPr>
          <a:xfrm>
            <a:off x="1024128" y="3712463"/>
            <a:ext cx="10469880" cy="276999"/>
          </a:xfrm>
          <a:prstGeom prst="rect">
            <a:avLst/>
          </a:prstGeom>
          <a:noFill/>
        </p:spPr>
        <p:txBody>
          <a:bodyPr wrap="square" lIns="0" tIns="0" rIns="0" bIns="0">
            <a:spAutoFit/>
          </a:bodyPr>
          <a:lstStyle/>
          <a:p>
            <a:pPr algn="l"/>
            <a:r>
              <a:rPr sz="1800" dirty="0">
                <a:solidFill>
                  <a:srgbClr val="F5F5F5"/>
                </a:solidFill>
                <a:latin typeface="Roboto Medium" panose="02000000000000000000" pitchFamily="2" charset="0"/>
                <a:ea typeface="Roboto Medium" panose="02000000000000000000" pitchFamily="2" charset="0"/>
              </a:rPr>
              <a:t>Uses dictionaries (not hardcoded constants) to store city data</a:t>
            </a:r>
          </a:p>
        </p:txBody>
      </p:sp>
      <p:sp>
        <p:nvSpPr>
          <p:cNvPr id="18" name="Rectangle 17"/>
          <p:cNvSpPr/>
          <p:nvPr/>
        </p:nvSpPr>
        <p:spPr>
          <a:xfrm>
            <a:off x="640080" y="4187952"/>
            <a:ext cx="256032" cy="256032"/>
          </a:xfrm>
          <a:prstGeom prst="rect">
            <a:avLst/>
          </a:prstGeom>
          <a:solidFill>
            <a:srgbClr val="0A0A0A"/>
          </a:solidFill>
          <a:ln w="25400">
            <a:solidFill>
              <a:srgbClr val="FF17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19" name="TextBox 18"/>
          <p:cNvSpPr txBox="1"/>
          <p:nvPr/>
        </p:nvSpPr>
        <p:spPr>
          <a:xfrm>
            <a:off x="1024128" y="4187952"/>
            <a:ext cx="10469880" cy="276999"/>
          </a:xfrm>
          <a:prstGeom prst="rect">
            <a:avLst/>
          </a:prstGeom>
          <a:noFill/>
        </p:spPr>
        <p:txBody>
          <a:bodyPr wrap="square" lIns="0" tIns="0" rIns="0" bIns="0">
            <a:spAutoFit/>
          </a:bodyPr>
          <a:lstStyle/>
          <a:p>
            <a:pPr algn="l"/>
            <a:r>
              <a:rPr sz="1800" dirty="0">
                <a:solidFill>
                  <a:srgbClr val="F5F5F5"/>
                </a:solidFill>
                <a:latin typeface="Roboto Medium" panose="02000000000000000000" pitchFamily="2" charset="0"/>
                <a:ea typeface="Roboto Medium" panose="02000000000000000000" pitchFamily="2" charset="0"/>
              </a:rPr>
              <a:t>All DEBUG/test code has been removed</a:t>
            </a:r>
          </a:p>
        </p:txBody>
      </p:sp>
      <p:sp>
        <p:nvSpPr>
          <p:cNvPr id="20" name="Rectangle 19"/>
          <p:cNvSpPr/>
          <p:nvPr/>
        </p:nvSpPr>
        <p:spPr>
          <a:xfrm>
            <a:off x="640080" y="4663440"/>
            <a:ext cx="256032" cy="256032"/>
          </a:xfrm>
          <a:prstGeom prst="rect">
            <a:avLst/>
          </a:prstGeom>
          <a:solidFill>
            <a:srgbClr val="0A0A0A"/>
          </a:solidFill>
          <a:ln w="25400">
            <a:solidFill>
              <a:srgbClr val="FF17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21" name="TextBox 20"/>
          <p:cNvSpPr txBox="1"/>
          <p:nvPr/>
        </p:nvSpPr>
        <p:spPr>
          <a:xfrm>
            <a:off x="1024128" y="4663440"/>
            <a:ext cx="10469880" cy="276999"/>
          </a:xfrm>
          <a:prstGeom prst="rect">
            <a:avLst/>
          </a:prstGeom>
          <a:noFill/>
        </p:spPr>
        <p:txBody>
          <a:bodyPr wrap="square" lIns="0" tIns="0" rIns="0" bIns="0">
            <a:spAutoFit/>
          </a:bodyPr>
          <a:lstStyle/>
          <a:p>
            <a:pPr algn="l"/>
            <a:r>
              <a:rPr sz="1800" dirty="0">
                <a:solidFill>
                  <a:srgbClr val="F5F5F5"/>
                </a:solidFill>
                <a:latin typeface="Roboto Medium" panose="02000000000000000000" pitchFamily="2" charset="0"/>
                <a:ea typeface="Roboto Medium" panose="02000000000000000000" pitchFamily="2" charset="0"/>
              </a:rPr>
              <a:t>No syntax errors when you run the program</a:t>
            </a:r>
          </a:p>
        </p:txBody>
      </p:sp>
      <p:sp>
        <p:nvSpPr>
          <p:cNvPr id="22" name="Rectangle 21"/>
          <p:cNvSpPr/>
          <p:nvPr/>
        </p:nvSpPr>
        <p:spPr>
          <a:xfrm>
            <a:off x="640080" y="5138928"/>
            <a:ext cx="256032" cy="256032"/>
          </a:xfrm>
          <a:prstGeom prst="rect">
            <a:avLst/>
          </a:prstGeom>
          <a:solidFill>
            <a:srgbClr val="0A0A0A"/>
          </a:solidFill>
          <a:ln w="25400">
            <a:solidFill>
              <a:srgbClr val="FF17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23" name="TextBox 22"/>
          <p:cNvSpPr txBox="1"/>
          <p:nvPr/>
        </p:nvSpPr>
        <p:spPr>
          <a:xfrm>
            <a:off x="1024128" y="5138928"/>
            <a:ext cx="10469880" cy="276999"/>
          </a:xfrm>
          <a:prstGeom prst="rect">
            <a:avLst/>
          </a:prstGeom>
          <a:noFill/>
        </p:spPr>
        <p:txBody>
          <a:bodyPr wrap="square" lIns="0" tIns="0" rIns="0" bIns="0">
            <a:spAutoFit/>
          </a:bodyPr>
          <a:lstStyle/>
          <a:p>
            <a:pPr algn="l"/>
            <a:r>
              <a:rPr sz="1800" dirty="0">
                <a:solidFill>
                  <a:srgbClr val="F5F5F5"/>
                </a:solidFill>
                <a:latin typeface="Roboto Medium" panose="02000000000000000000" pitchFamily="2" charset="0"/>
                <a:ea typeface="Roboto Medium" panose="02000000000000000000" pitchFamily="2" charset="0"/>
              </a:rPr>
              <a:t>Unlimited submissions — submit early, submit often</a:t>
            </a:r>
          </a:p>
        </p:txBody>
      </p:sp>
      <p:pic>
        <p:nvPicPr>
          <p:cNvPr id="25" name="Picture 24">
            <a:extLst>
              <a:ext uri="{FF2B5EF4-FFF2-40B4-BE49-F238E27FC236}">
                <a16:creationId xmlns:a16="http://schemas.microsoft.com/office/drawing/2014/main" id="{1579F150-E42B-B825-14E7-24B27A3A0FDE}"/>
              </a:ext>
            </a:extLst>
          </p:cNvPr>
          <p:cNvPicPr>
            <a:picLocks noChangeAspect="1"/>
          </p:cNvPicPr>
          <p:nvPr/>
        </p:nvPicPr>
        <p:blipFill>
          <a:blip r:embed="rId3"/>
          <a:srcRect/>
          <a:stretch/>
        </p:blipFill>
        <p:spPr>
          <a:xfrm>
            <a:off x="4725900" y="6473952"/>
            <a:ext cx="2526839" cy="365760"/>
          </a:xfrm>
          <a:prstGeom prst="rect">
            <a:avLst/>
          </a:prstGeom>
        </p:spPr>
      </p:pic>
      <p:pic>
        <p:nvPicPr>
          <p:cNvPr id="26" name="Picture 25">
            <a:extLst>
              <a:ext uri="{FF2B5EF4-FFF2-40B4-BE49-F238E27FC236}">
                <a16:creationId xmlns:a16="http://schemas.microsoft.com/office/drawing/2014/main" id="{F1A2C8C4-6996-2E4A-7A2E-41474E8B622C}"/>
              </a:ext>
            </a:extLst>
          </p:cNvPr>
          <p:cNvPicPr>
            <a:picLocks noChangeAspect="1"/>
          </p:cNvPicPr>
          <p:nvPr/>
        </p:nvPicPr>
        <p:blipFill>
          <a:blip r:embed="rId4"/>
          <a:stretch>
            <a:fillRect/>
          </a:stretch>
        </p:blipFill>
        <p:spPr>
          <a:xfrm>
            <a:off x="9811911" y="274320"/>
            <a:ext cx="1992993" cy="130044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47472" y="274320"/>
            <a:ext cx="11676888" cy="6126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pic>
        <p:nvPicPr>
          <p:cNvPr id="3" name="Picture 2" descr="image.png"/>
          <p:cNvPicPr>
            <a:picLocks noChangeAspect="1"/>
          </p:cNvPicPr>
          <p:nvPr/>
        </p:nvPicPr>
        <p:blipFill>
          <a:blip r:embed="rId2"/>
          <a:stretch>
            <a:fillRect/>
          </a:stretch>
        </p:blipFill>
        <p:spPr>
          <a:xfrm>
            <a:off x="256032" y="182880"/>
            <a:ext cx="11676888" cy="6126480"/>
          </a:xfrm>
          <a:prstGeom prst="rect">
            <a:avLst/>
          </a:prstGeom>
          <a:ln w="50800">
            <a:solidFill>
              <a:srgbClr val="000000"/>
            </a:solidFill>
          </a:ln>
        </p:spPr>
      </p:pic>
      <p:sp>
        <p:nvSpPr>
          <p:cNvPr id="5" name="TextBox 4"/>
          <p:cNvSpPr txBox="1"/>
          <p:nvPr/>
        </p:nvSpPr>
        <p:spPr>
          <a:xfrm>
            <a:off x="512064" y="411480"/>
            <a:ext cx="8869680" cy="677108"/>
          </a:xfrm>
          <a:prstGeom prst="rect">
            <a:avLst/>
          </a:prstGeom>
          <a:noFill/>
        </p:spPr>
        <p:txBody>
          <a:bodyPr wrap="square" lIns="0" tIns="0" rIns="0" bIns="0">
            <a:spAutoFit/>
          </a:bodyPr>
          <a:lstStyle/>
          <a:p>
            <a:pPr algn="l"/>
            <a:r>
              <a:rPr sz="4400" b="1" dirty="0">
                <a:solidFill>
                  <a:srgbClr val="F5F5F5"/>
                </a:solidFill>
                <a:latin typeface="Roboto Slab" pitchFamily="2" charset="0"/>
              </a:rPr>
              <a:t>Save Your Code</a:t>
            </a:r>
          </a:p>
        </p:txBody>
      </p:sp>
      <p:sp>
        <p:nvSpPr>
          <p:cNvPr id="6" name="Rectangle 5"/>
          <p:cNvSpPr/>
          <p:nvPr/>
        </p:nvSpPr>
        <p:spPr>
          <a:xfrm>
            <a:off x="384048" y="1719072"/>
            <a:ext cx="11420856" cy="4462272"/>
          </a:xfrm>
          <a:prstGeom prst="rect">
            <a:avLst/>
          </a:prstGeom>
          <a:solidFill>
            <a:srgbClr val="0A0A0A">
              <a:alpha val="75000"/>
            </a:srgbClr>
          </a:solidFill>
          <a:ln w="381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8" name="TextBox 7"/>
          <p:cNvSpPr txBox="1"/>
          <p:nvPr/>
        </p:nvSpPr>
        <p:spPr>
          <a:xfrm>
            <a:off x="640080" y="1883664"/>
            <a:ext cx="10908792" cy="184666"/>
          </a:xfrm>
          <a:prstGeom prst="rect">
            <a:avLst/>
          </a:prstGeom>
          <a:noFill/>
        </p:spPr>
        <p:txBody>
          <a:bodyPr wrap="square" lIns="0" tIns="0" rIns="0" bIns="0">
            <a:spAutoFit/>
          </a:bodyPr>
          <a:lstStyle/>
          <a:p>
            <a:pPr algn="l"/>
            <a:r>
              <a:rPr sz="1200" b="1" dirty="0">
                <a:solidFill>
                  <a:srgbClr val="FFCC00"/>
                </a:solidFill>
                <a:latin typeface="Roboto Slab" pitchFamily="2" charset="0"/>
              </a:rPr>
              <a:t>SUCCESS CALLOUT</a:t>
            </a:r>
          </a:p>
        </p:txBody>
      </p:sp>
      <p:sp>
        <p:nvSpPr>
          <p:cNvPr id="9" name="Rectangle 8"/>
          <p:cNvSpPr/>
          <p:nvPr/>
        </p:nvSpPr>
        <p:spPr>
          <a:xfrm>
            <a:off x="640080" y="2157984"/>
            <a:ext cx="10908792" cy="16459"/>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10" name="Oval 9"/>
          <p:cNvSpPr/>
          <p:nvPr/>
        </p:nvSpPr>
        <p:spPr>
          <a:xfrm>
            <a:off x="640080" y="2304288"/>
            <a:ext cx="502920" cy="502920"/>
          </a:xfrm>
          <a:prstGeom prst="ellipse">
            <a:avLst/>
          </a:prstGeom>
          <a:solidFill>
            <a:srgbClr val="39FF14"/>
          </a:solidFill>
          <a:ln w="381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11" name="TextBox 10"/>
          <p:cNvSpPr txBox="1"/>
          <p:nvPr/>
        </p:nvSpPr>
        <p:spPr>
          <a:xfrm>
            <a:off x="685800" y="2340864"/>
            <a:ext cx="411480" cy="299157"/>
          </a:xfrm>
          <a:prstGeom prst="rect">
            <a:avLst/>
          </a:prstGeom>
          <a:noFill/>
        </p:spPr>
        <p:txBody>
          <a:bodyPr wrap="square" lIns="36576" tIns="10972" rIns="36576" bIns="10972">
            <a:spAutoFit/>
          </a:bodyPr>
          <a:lstStyle/>
          <a:p>
            <a:pPr algn="ctr"/>
            <a:r>
              <a:rPr sz="1800" b="1" dirty="0">
                <a:solidFill>
                  <a:srgbClr val="000000"/>
                </a:solidFill>
                <a:latin typeface="Roboto Slab" pitchFamily="2" charset="0"/>
              </a:rPr>
              <a:t>✓</a:t>
            </a:r>
          </a:p>
        </p:txBody>
      </p:sp>
      <p:sp>
        <p:nvSpPr>
          <p:cNvPr id="12" name="Rectangle 11"/>
          <p:cNvSpPr/>
          <p:nvPr/>
        </p:nvSpPr>
        <p:spPr>
          <a:xfrm>
            <a:off x="1325880" y="2249424"/>
            <a:ext cx="10177272" cy="1463040"/>
          </a:xfrm>
          <a:prstGeom prst="rect">
            <a:avLst/>
          </a:prstGeom>
          <a:solidFill>
            <a:srgbClr val="0F0F0F"/>
          </a:solidFill>
          <a:ln w="25400">
            <a:solidFill>
              <a:srgbClr val="39FF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13" name="TextBox 12"/>
          <p:cNvSpPr txBox="1"/>
          <p:nvPr/>
        </p:nvSpPr>
        <p:spPr>
          <a:xfrm>
            <a:off x="1472184" y="2340864"/>
            <a:ext cx="9884663" cy="184666"/>
          </a:xfrm>
          <a:prstGeom prst="rect">
            <a:avLst/>
          </a:prstGeom>
          <a:noFill/>
        </p:spPr>
        <p:txBody>
          <a:bodyPr wrap="square" lIns="0" tIns="0" rIns="0" bIns="0">
            <a:spAutoFit/>
          </a:bodyPr>
          <a:lstStyle/>
          <a:p>
            <a:pPr algn="l"/>
            <a:r>
              <a:rPr sz="1200" b="1" dirty="0">
                <a:solidFill>
                  <a:srgbClr val="39FF14"/>
                </a:solidFill>
                <a:latin typeface="Roboto Slab" pitchFamily="2" charset="0"/>
              </a:rPr>
              <a:t>SAVE YOUR CODE</a:t>
            </a:r>
          </a:p>
        </p:txBody>
      </p:sp>
      <p:sp>
        <p:nvSpPr>
          <p:cNvPr id="14" name="TextBox 13"/>
          <p:cNvSpPr txBox="1"/>
          <p:nvPr/>
        </p:nvSpPr>
        <p:spPr>
          <a:xfrm>
            <a:off x="1472184" y="2651760"/>
            <a:ext cx="9884663" cy="215444"/>
          </a:xfrm>
          <a:prstGeom prst="rect">
            <a:avLst/>
          </a:prstGeom>
          <a:noFill/>
        </p:spPr>
        <p:txBody>
          <a:bodyPr wrap="square" lIns="0" tIns="0" rIns="0" bIns="0">
            <a:spAutoFit/>
          </a:bodyPr>
          <a:lstStyle/>
          <a:p>
            <a:pPr algn="l"/>
            <a:r>
              <a:rPr sz="1400" dirty="0">
                <a:solidFill>
                  <a:srgbClr val="F5F5F5"/>
                </a:solidFill>
                <a:latin typeface="Roboto Medium" panose="02000000000000000000" pitchFamily="2" charset="0"/>
                <a:ea typeface="Roboto Medium" panose="02000000000000000000" pitchFamily="2" charset="0"/>
              </a:rPr>
              <a:t>Keep `lab-4-1.py` — the next lab adds string method input handling directly on top of your file-loading foundation.</a:t>
            </a:r>
          </a:p>
        </p:txBody>
      </p:sp>
      <p:pic>
        <p:nvPicPr>
          <p:cNvPr id="16" name="Picture 15">
            <a:extLst>
              <a:ext uri="{FF2B5EF4-FFF2-40B4-BE49-F238E27FC236}">
                <a16:creationId xmlns:a16="http://schemas.microsoft.com/office/drawing/2014/main" id="{1E0FF590-C0A7-D49A-3AE1-BD5ADF3244FE}"/>
              </a:ext>
            </a:extLst>
          </p:cNvPr>
          <p:cNvPicPr>
            <a:picLocks noChangeAspect="1"/>
          </p:cNvPicPr>
          <p:nvPr/>
        </p:nvPicPr>
        <p:blipFill>
          <a:blip r:embed="rId3"/>
          <a:srcRect/>
          <a:stretch/>
        </p:blipFill>
        <p:spPr>
          <a:xfrm>
            <a:off x="4725900" y="6473952"/>
            <a:ext cx="2526839" cy="365760"/>
          </a:xfrm>
          <a:prstGeom prst="rect">
            <a:avLst/>
          </a:prstGeom>
        </p:spPr>
      </p:pic>
      <p:pic>
        <p:nvPicPr>
          <p:cNvPr id="17" name="Picture 16">
            <a:extLst>
              <a:ext uri="{FF2B5EF4-FFF2-40B4-BE49-F238E27FC236}">
                <a16:creationId xmlns:a16="http://schemas.microsoft.com/office/drawing/2014/main" id="{62EA5752-39CA-CF27-C71E-0D7E63B82C08}"/>
              </a:ext>
            </a:extLst>
          </p:cNvPr>
          <p:cNvPicPr>
            <a:picLocks noChangeAspect="1"/>
          </p:cNvPicPr>
          <p:nvPr/>
        </p:nvPicPr>
        <p:blipFill>
          <a:blip r:embed="rId4"/>
          <a:stretch>
            <a:fillRect/>
          </a:stretch>
        </p:blipFill>
        <p:spPr>
          <a:xfrm>
            <a:off x="9811911" y="274320"/>
            <a:ext cx="1992993" cy="130044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47472" y="274320"/>
            <a:ext cx="11676888" cy="6126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pic>
        <p:nvPicPr>
          <p:cNvPr id="3" name="Picture 2" descr="image.png"/>
          <p:cNvPicPr>
            <a:picLocks noChangeAspect="1"/>
          </p:cNvPicPr>
          <p:nvPr/>
        </p:nvPicPr>
        <p:blipFill>
          <a:blip r:embed="rId2"/>
          <a:stretch>
            <a:fillRect/>
          </a:stretch>
        </p:blipFill>
        <p:spPr>
          <a:xfrm>
            <a:off x="256032" y="182880"/>
            <a:ext cx="11676888" cy="6126480"/>
          </a:xfrm>
          <a:prstGeom prst="rect">
            <a:avLst/>
          </a:prstGeom>
          <a:ln w="50800">
            <a:solidFill>
              <a:srgbClr val="000000"/>
            </a:solidFill>
          </a:ln>
        </p:spPr>
      </p:pic>
      <p:sp>
        <p:nvSpPr>
          <p:cNvPr id="5" name="TextBox 4"/>
          <p:cNvSpPr txBox="1"/>
          <p:nvPr/>
        </p:nvSpPr>
        <p:spPr>
          <a:xfrm>
            <a:off x="512064" y="411480"/>
            <a:ext cx="8869680" cy="677108"/>
          </a:xfrm>
          <a:prstGeom prst="rect">
            <a:avLst/>
          </a:prstGeom>
          <a:noFill/>
        </p:spPr>
        <p:txBody>
          <a:bodyPr wrap="square" lIns="0" tIns="0" rIns="0" bIns="0">
            <a:spAutoFit/>
          </a:bodyPr>
          <a:lstStyle/>
          <a:p>
            <a:pPr algn="l"/>
            <a:r>
              <a:rPr sz="4400" b="1" dirty="0">
                <a:solidFill>
                  <a:srgbClr val="F5F5F5"/>
                </a:solidFill>
                <a:latin typeface="Roboto Slab" pitchFamily="2" charset="0"/>
              </a:rPr>
              <a:t>Heads Up!</a:t>
            </a:r>
          </a:p>
        </p:txBody>
      </p:sp>
      <p:sp>
        <p:nvSpPr>
          <p:cNvPr id="6" name="Rectangle 5"/>
          <p:cNvSpPr/>
          <p:nvPr/>
        </p:nvSpPr>
        <p:spPr>
          <a:xfrm>
            <a:off x="384048" y="1719072"/>
            <a:ext cx="11420856" cy="4462272"/>
          </a:xfrm>
          <a:prstGeom prst="rect">
            <a:avLst/>
          </a:prstGeom>
          <a:solidFill>
            <a:srgbClr val="0A0A0A">
              <a:alpha val="75000"/>
            </a:srgbClr>
          </a:solidFill>
          <a:ln w="381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8" name="TextBox 7"/>
          <p:cNvSpPr txBox="1"/>
          <p:nvPr/>
        </p:nvSpPr>
        <p:spPr>
          <a:xfrm>
            <a:off x="640080" y="1883664"/>
            <a:ext cx="10908792" cy="184666"/>
          </a:xfrm>
          <a:prstGeom prst="rect">
            <a:avLst/>
          </a:prstGeom>
          <a:noFill/>
        </p:spPr>
        <p:txBody>
          <a:bodyPr wrap="square" lIns="0" tIns="0" rIns="0" bIns="0">
            <a:spAutoFit/>
          </a:bodyPr>
          <a:lstStyle/>
          <a:p>
            <a:pPr algn="l"/>
            <a:r>
              <a:rPr sz="1200" b="1" dirty="0">
                <a:solidFill>
                  <a:srgbClr val="FFCC00"/>
                </a:solidFill>
                <a:latin typeface="Roboto Slab" pitchFamily="2" charset="0"/>
              </a:rPr>
              <a:t>WARNING CALLOUT</a:t>
            </a:r>
          </a:p>
        </p:txBody>
      </p:sp>
      <p:sp>
        <p:nvSpPr>
          <p:cNvPr id="9" name="Rectangle 8"/>
          <p:cNvSpPr/>
          <p:nvPr/>
        </p:nvSpPr>
        <p:spPr>
          <a:xfrm>
            <a:off x="640080" y="2157984"/>
            <a:ext cx="10908792" cy="16459"/>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10" name="Oval 9"/>
          <p:cNvSpPr/>
          <p:nvPr/>
        </p:nvSpPr>
        <p:spPr>
          <a:xfrm>
            <a:off x="640080" y="2304288"/>
            <a:ext cx="502920" cy="502920"/>
          </a:xfrm>
          <a:prstGeom prst="ellipse">
            <a:avLst/>
          </a:prstGeom>
          <a:solidFill>
            <a:srgbClr val="FF1744"/>
          </a:solidFill>
          <a:ln w="381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11" name="TextBox 10"/>
          <p:cNvSpPr txBox="1"/>
          <p:nvPr/>
        </p:nvSpPr>
        <p:spPr>
          <a:xfrm>
            <a:off x="685800" y="2410314"/>
            <a:ext cx="411480" cy="299157"/>
          </a:xfrm>
          <a:prstGeom prst="rect">
            <a:avLst/>
          </a:prstGeom>
          <a:noFill/>
        </p:spPr>
        <p:txBody>
          <a:bodyPr wrap="square" lIns="36576" tIns="10972" rIns="36576" bIns="10972">
            <a:spAutoFit/>
          </a:bodyPr>
          <a:lstStyle/>
          <a:p>
            <a:pPr algn="ctr"/>
            <a:r>
              <a:rPr sz="1800" b="1" dirty="0">
                <a:solidFill>
                  <a:srgbClr val="000000"/>
                </a:solidFill>
                <a:latin typeface="Roboto Slab" pitchFamily="2" charset="0"/>
              </a:rPr>
              <a:t>⚠</a:t>
            </a:r>
          </a:p>
        </p:txBody>
      </p:sp>
      <p:sp>
        <p:nvSpPr>
          <p:cNvPr id="12" name="Rectangle 11"/>
          <p:cNvSpPr/>
          <p:nvPr/>
        </p:nvSpPr>
        <p:spPr>
          <a:xfrm>
            <a:off x="1325880" y="2249424"/>
            <a:ext cx="10177272" cy="1463040"/>
          </a:xfrm>
          <a:prstGeom prst="rect">
            <a:avLst/>
          </a:prstGeom>
          <a:solidFill>
            <a:srgbClr val="0F0F0F"/>
          </a:solidFill>
          <a:ln w="25400">
            <a:solidFill>
              <a:srgbClr val="FF17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13" name="TextBox 12"/>
          <p:cNvSpPr txBox="1"/>
          <p:nvPr/>
        </p:nvSpPr>
        <p:spPr>
          <a:xfrm>
            <a:off x="1472184" y="2340864"/>
            <a:ext cx="9884663" cy="184666"/>
          </a:xfrm>
          <a:prstGeom prst="rect">
            <a:avLst/>
          </a:prstGeom>
          <a:noFill/>
        </p:spPr>
        <p:txBody>
          <a:bodyPr wrap="square" lIns="0" tIns="0" rIns="0" bIns="0">
            <a:spAutoFit/>
          </a:bodyPr>
          <a:lstStyle/>
          <a:p>
            <a:pPr algn="l"/>
            <a:r>
              <a:rPr sz="1200" b="1" dirty="0">
                <a:solidFill>
                  <a:srgbClr val="FF1744"/>
                </a:solidFill>
                <a:latin typeface="Roboto Slab" pitchFamily="2" charset="0"/>
              </a:rPr>
              <a:t>HEADS UP</a:t>
            </a:r>
          </a:p>
        </p:txBody>
      </p:sp>
      <p:sp>
        <p:nvSpPr>
          <p:cNvPr id="14" name="TextBox 13"/>
          <p:cNvSpPr txBox="1"/>
          <p:nvPr/>
        </p:nvSpPr>
        <p:spPr>
          <a:xfrm>
            <a:off x="1472184" y="2651760"/>
            <a:ext cx="9884663" cy="215444"/>
          </a:xfrm>
          <a:prstGeom prst="rect">
            <a:avLst/>
          </a:prstGeom>
          <a:noFill/>
        </p:spPr>
        <p:txBody>
          <a:bodyPr wrap="square" lIns="0" tIns="0" rIns="0" bIns="0">
            <a:spAutoFit/>
          </a:bodyPr>
          <a:lstStyle/>
          <a:p>
            <a:pPr algn="l"/>
            <a:r>
              <a:rPr sz="1400" dirty="0">
                <a:solidFill>
                  <a:srgbClr val="F5F5F5"/>
                </a:solidFill>
                <a:latin typeface="Roboto Medium" panose="02000000000000000000" pitchFamily="2" charset="0"/>
                <a:ea typeface="Roboto Medium" panose="02000000000000000000" pitchFamily="2" charset="0"/>
              </a:rPr>
              <a:t>This is a common mistake that causes </a:t>
            </a:r>
            <a:r>
              <a:rPr sz="1400" dirty="0" err="1">
                <a:solidFill>
                  <a:srgbClr val="F5F5F5"/>
                </a:solidFill>
                <a:latin typeface="Roboto Medium" panose="02000000000000000000" pitchFamily="2" charset="0"/>
                <a:ea typeface="Roboto Medium" panose="02000000000000000000" pitchFamily="2" charset="0"/>
              </a:rPr>
              <a:t>CodeGrade</a:t>
            </a:r>
            <a:r>
              <a:rPr sz="1400" dirty="0">
                <a:solidFill>
                  <a:srgbClr val="F5F5F5"/>
                </a:solidFill>
                <a:latin typeface="Roboto Medium" panose="02000000000000000000" pitchFamily="2" charset="0"/>
                <a:ea typeface="Roboto Medium" panose="02000000000000000000" pitchFamily="2" charset="0"/>
              </a:rPr>
              <a:t> to fail. Read the instructions carefully before writing any code.</a:t>
            </a:r>
          </a:p>
        </p:txBody>
      </p:sp>
      <p:pic>
        <p:nvPicPr>
          <p:cNvPr id="16" name="Picture 15">
            <a:extLst>
              <a:ext uri="{FF2B5EF4-FFF2-40B4-BE49-F238E27FC236}">
                <a16:creationId xmlns:a16="http://schemas.microsoft.com/office/drawing/2014/main" id="{BF07C2A6-6C0A-0805-8FFF-B811B4D16F62}"/>
              </a:ext>
            </a:extLst>
          </p:cNvPr>
          <p:cNvPicPr>
            <a:picLocks noChangeAspect="1"/>
          </p:cNvPicPr>
          <p:nvPr/>
        </p:nvPicPr>
        <p:blipFill>
          <a:blip r:embed="rId3"/>
          <a:srcRect/>
          <a:stretch/>
        </p:blipFill>
        <p:spPr>
          <a:xfrm>
            <a:off x="4725900" y="6473952"/>
            <a:ext cx="2526839" cy="365760"/>
          </a:xfrm>
          <a:prstGeom prst="rect">
            <a:avLst/>
          </a:prstGeom>
        </p:spPr>
      </p:pic>
      <p:pic>
        <p:nvPicPr>
          <p:cNvPr id="17" name="Picture 16">
            <a:extLst>
              <a:ext uri="{FF2B5EF4-FFF2-40B4-BE49-F238E27FC236}">
                <a16:creationId xmlns:a16="http://schemas.microsoft.com/office/drawing/2014/main" id="{4BAB2843-320F-BA1C-EEEF-8F22C80E8321}"/>
              </a:ext>
            </a:extLst>
          </p:cNvPr>
          <p:cNvPicPr>
            <a:picLocks noChangeAspect="1"/>
          </p:cNvPicPr>
          <p:nvPr/>
        </p:nvPicPr>
        <p:blipFill>
          <a:blip r:embed="rId4"/>
          <a:stretch>
            <a:fillRect/>
          </a:stretch>
        </p:blipFill>
        <p:spPr>
          <a:xfrm>
            <a:off x="9811911" y="274320"/>
            <a:ext cx="1992993" cy="130044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47472" y="274320"/>
            <a:ext cx="11676888" cy="6126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pic>
        <p:nvPicPr>
          <p:cNvPr id="3" name="Picture 2" descr="image.png"/>
          <p:cNvPicPr>
            <a:picLocks noChangeAspect="1"/>
          </p:cNvPicPr>
          <p:nvPr/>
        </p:nvPicPr>
        <p:blipFill>
          <a:blip r:embed="rId2"/>
          <a:stretch>
            <a:fillRect/>
          </a:stretch>
        </p:blipFill>
        <p:spPr>
          <a:xfrm>
            <a:off x="256032" y="182880"/>
            <a:ext cx="11676888" cy="6126480"/>
          </a:xfrm>
          <a:prstGeom prst="rect">
            <a:avLst/>
          </a:prstGeom>
          <a:ln w="50800">
            <a:solidFill>
              <a:srgbClr val="000000"/>
            </a:solidFill>
          </a:ln>
        </p:spPr>
      </p:pic>
      <p:sp>
        <p:nvSpPr>
          <p:cNvPr id="5" name="TextBox 4"/>
          <p:cNvSpPr txBox="1"/>
          <p:nvPr/>
        </p:nvSpPr>
        <p:spPr>
          <a:xfrm>
            <a:off x="512064" y="411480"/>
            <a:ext cx="8869680" cy="677108"/>
          </a:xfrm>
          <a:prstGeom prst="rect">
            <a:avLst/>
          </a:prstGeom>
          <a:noFill/>
        </p:spPr>
        <p:txBody>
          <a:bodyPr wrap="square" lIns="0" tIns="0" rIns="0" bIns="0">
            <a:spAutoFit/>
          </a:bodyPr>
          <a:lstStyle/>
          <a:p>
            <a:pPr algn="l"/>
            <a:r>
              <a:rPr sz="4400" b="1" dirty="0">
                <a:solidFill>
                  <a:srgbClr val="F5F5F5"/>
                </a:solidFill>
                <a:latin typeface="Roboto Slab" pitchFamily="2" charset="0"/>
              </a:rPr>
              <a:t>Pro Tip</a:t>
            </a:r>
          </a:p>
        </p:txBody>
      </p:sp>
      <p:sp>
        <p:nvSpPr>
          <p:cNvPr id="6" name="Rectangle 5"/>
          <p:cNvSpPr/>
          <p:nvPr/>
        </p:nvSpPr>
        <p:spPr>
          <a:xfrm>
            <a:off x="384048" y="1719072"/>
            <a:ext cx="11420856" cy="4462272"/>
          </a:xfrm>
          <a:prstGeom prst="rect">
            <a:avLst/>
          </a:prstGeom>
          <a:solidFill>
            <a:srgbClr val="0A0A0A">
              <a:alpha val="75000"/>
            </a:srgbClr>
          </a:solidFill>
          <a:ln w="381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8" name="TextBox 7"/>
          <p:cNvSpPr txBox="1"/>
          <p:nvPr/>
        </p:nvSpPr>
        <p:spPr>
          <a:xfrm>
            <a:off x="640080" y="1883664"/>
            <a:ext cx="10908792" cy="184666"/>
          </a:xfrm>
          <a:prstGeom prst="rect">
            <a:avLst/>
          </a:prstGeom>
          <a:noFill/>
        </p:spPr>
        <p:txBody>
          <a:bodyPr wrap="square" lIns="0" tIns="0" rIns="0" bIns="0">
            <a:spAutoFit/>
          </a:bodyPr>
          <a:lstStyle/>
          <a:p>
            <a:pPr algn="l"/>
            <a:r>
              <a:rPr sz="1200" b="1" dirty="0">
                <a:solidFill>
                  <a:srgbClr val="FFCC00"/>
                </a:solidFill>
                <a:latin typeface="Roboto Slab" pitchFamily="2" charset="0"/>
              </a:rPr>
              <a:t>TIP CALLOUT</a:t>
            </a:r>
          </a:p>
        </p:txBody>
      </p:sp>
      <p:sp>
        <p:nvSpPr>
          <p:cNvPr id="9" name="Rectangle 8"/>
          <p:cNvSpPr/>
          <p:nvPr/>
        </p:nvSpPr>
        <p:spPr>
          <a:xfrm>
            <a:off x="640080" y="2157984"/>
            <a:ext cx="10908792" cy="16459"/>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10" name="Oval 9"/>
          <p:cNvSpPr/>
          <p:nvPr/>
        </p:nvSpPr>
        <p:spPr>
          <a:xfrm>
            <a:off x="640080" y="2304288"/>
            <a:ext cx="502920" cy="502920"/>
          </a:xfrm>
          <a:prstGeom prst="ellipse">
            <a:avLst/>
          </a:prstGeom>
          <a:solidFill>
            <a:srgbClr val="00FFFF"/>
          </a:solidFill>
          <a:ln w="381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11" name="TextBox 10"/>
          <p:cNvSpPr txBox="1"/>
          <p:nvPr/>
        </p:nvSpPr>
        <p:spPr>
          <a:xfrm>
            <a:off x="685800" y="2410314"/>
            <a:ext cx="411480" cy="299157"/>
          </a:xfrm>
          <a:prstGeom prst="rect">
            <a:avLst/>
          </a:prstGeom>
          <a:noFill/>
        </p:spPr>
        <p:txBody>
          <a:bodyPr wrap="square" lIns="36576" tIns="10972" rIns="36576" bIns="10972">
            <a:spAutoFit/>
          </a:bodyPr>
          <a:lstStyle/>
          <a:p>
            <a:pPr algn="ctr"/>
            <a:r>
              <a:rPr sz="1800" b="1" dirty="0">
                <a:solidFill>
                  <a:srgbClr val="000000"/>
                </a:solidFill>
                <a:latin typeface="Roboto Slab" pitchFamily="2" charset="0"/>
              </a:rPr>
              <a:t>★</a:t>
            </a:r>
          </a:p>
        </p:txBody>
      </p:sp>
      <p:sp>
        <p:nvSpPr>
          <p:cNvPr id="12" name="Rectangle 11"/>
          <p:cNvSpPr/>
          <p:nvPr/>
        </p:nvSpPr>
        <p:spPr>
          <a:xfrm>
            <a:off x="1325880" y="2249424"/>
            <a:ext cx="10177272" cy="1463040"/>
          </a:xfrm>
          <a:prstGeom prst="rect">
            <a:avLst/>
          </a:prstGeom>
          <a:solidFill>
            <a:srgbClr val="0F0F0F"/>
          </a:solidFill>
          <a:ln w="25400">
            <a:solidFill>
              <a:srgbClr val="00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13" name="TextBox 12"/>
          <p:cNvSpPr txBox="1"/>
          <p:nvPr/>
        </p:nvSpPr>
        <p:spPr>
          <a:xfrm>
            <a:off x="1472184" y="2340864"/>
            <a:ext cx="9884663" cy="184666"/>
          </a:xfrm>
          <a:prstGeom prst="rect">
            <a:avLst/>
          </a:prstGeom>
          <a:noFill/>
        </p:spPr>
        <p:txBody>
          <a:bodyPr wrap="square" lIns="0" tIns="0" rIns="0" bIns="0">
            <a:spAutoFit/>
          </a:bodyPr>
          <a:lstStyle/>
          <a:p>
            <a:pPr algn="l"/>
            <a:r>
              <a:rPr sz="1200" b="1" dirty="0">
                <a:solidFill>
                  <a:srgbClr val="00FFFF"/>
                </a:solidFill>
                <a:latin typeface="Roboto Slab" pitchFamily="2" charset="0"/>
              </a:rPr>
              <a:t>PRO TIP</a:t>
            </a:r>
          </a:p>
        </p:txBody>
      </p:sp>
      <p:sp>
        <p:nvSpPr>
          <p:cNvPr id="14" name="TextBox 13"/>
          <p:cNvSpPr txBox="1"/>
          <p:nvPr/>
        </p:nvSpPr>
        <p:spPr>
          <a:xfrm>
            <a:off x="1472184" y="2651760"/>
            <a:ext cx="9884663" cy="215444"/>
          </a:xfrm>
          <a:prstGeom prst="rect">
            <a:avLst/>
          </a:prstGeom>
          <a:noFill/>
        </p:spPr>
        <p:txBody>
          <a:bodyPr wrap="square" lIns="0" tIns="0" rIns="0" bIns="0">
            <a:spAutoFit/>
          </a:bodyPr>
          <a:lstStyle/>
          <a:p>
            <a:pPr algn="l"/>
            <a:r>
              <a:rPr sz="1400" dirty="0">
                <a:solidFill>
                  <a:srgbClr val="F5F5F5"/>
                </a:solidFill>
                <a:latin typeface="Roboto Medium" panose="02000000000000000000" pitchFamily="2" charset="0"/>
                <a:ea typeface="Roboto Medium" panose="02000000000000000000" pitchFamily="2" charset="0"/>
              </a:rPr>
              <a:t>This technique will save you time across all your future checkpoints. Add it to your toolkit now.</a:t>
            </a:r>
          </a:p>
        </p:txBody>
      </p:sp>
      <p:pic>
        <p:nvPicPr>
          <p:cNvPr id="16" name="Picture 15">
            <a:extLst>
              <a:ext uri="{FF2B5EF4-FFF2-40B4-BE49-F238E27FC236}">
                <a16:creationId xmlns:a16="http://schemas.microsoft.com/office/drawing/2014/main" id="{80F221E4-EF52-D79C-3518-1AB6E705A4BB}"/>
              </a:ext>
            </a:extLst>
          </p:cNvPr>
          <p:cNvPicPr>
            <a:picLocks noChangeAspect="1"/>
          </p:cNvPicPr>
          <p:nvPr/>
        </p:nvPicPr>
        <p:blipFill>
          <a:blip r:embed="rId3"/>
          <a:srcRect/>
          <a:stretch/>
        </p:blipFill>
        <p:spPr>
          <a:xfrm>
            <a:off x="4725900" y="6473952"/>
            <a:ext cx="2526839" cy="365760"/>
          </a:xfrm>
          <a:prstGeom prst="rect">
            <a:avLst/>
          </a:prstGeom>
        </p:spPr>
      </p:pic>
      <p:pic>
        <p:nvPicPr>
          <p:cNvPr id="17" name="Picture 16">
            <a:extLst>
              <a:ext uri="{FF2B5EF4-FFF2-40B4-BE49-F238E27FC236}">
                <a16:creationId xmlns:a16="http://schemas.microsoft.com/office/drawing/2014/main" id="{CA958304-867D-F944-70E6-C68E4550FB19}"/>
              </a:ext>
            </a:extLst>
          </p:cNvPr>
          <p:cNvPicPr>
            <a:picLocks noChangeAspect="1"/>
          </p:cNvPicPr>
          <p:nvPr/>
        </p:nvPicPr>
        <p:blipFill>
          <a:blip r:embed="rId4"/>
          <a:stretch>
            <a:fillRect/>
          </a:stretch>
        </p:blipFill>
        <p:spPr>
          <a:xfrm>
            <a:off x="9811911" y="274320"/>
            <a:ext cx="1992993" cy="130044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47472" y="274320"/>
            <a:ext cx="11676888" cy="6126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pic>
        <p:nvPicPr>
          <p:cNvPr id="3" name="Picture 2" descr="image.png"/>
          <p:cNvPicPr>
            <a:picLocks noChangeAspect="1"/>
          </p:cNvPicPr>
          <p:nvPr/>
        </p:nvPicPr>
        <p:blipFill>
          <a:blip r:embed="rId2"/>
          <a:stretch>
            <a:fillRect/>
          </a:stretch>
        </p:blipFill>
        <p:spPr>
          <a:xfrm>
            <a:off x="256032" y="182880"/>
            <a:ext cx="11676888" cy="6126480"/>
          </a:xfrm>
          <a:prstGeom prst="rect">
            <a:avLst/>
          </a:prstGeom>
          <a:ln w="50800">
            <a:solidFill>
              <a:srgbClr val="000000"/>
            </a:solidFill>
          </a:ln>
        </p:spPr>
      </p:pic>
      <p:sp>
        <p:nvSpPr>
          <p:cNvPr id="5" name="TextBox 4"/>
          <p:cNvSpPr txBox="1"/>
          <p:nvPr/>
        </p:nvSpPr>
        <p:spPr>
          <a:xfrm>
            <a:off x="512064" y="411480"/>
            <a:ext cx="8869680" cy="677108"/>
          </a:xfrm>
          <a:prstGeom prst="rect">
            <a:avLst/>
          </a:prstGeom>
          <a:noFill/>
        </p:spPr>
        <p:txBody>
          <a:bodyPr wrap="square" lIns="0" tIns="0" rIns="0" bIns="0">
            <a:spAutoFit/>
          </a:bodyPr>
          <a:lstStyle/>
          <a:p>
            <a:pPr algn="l"/>
            <a:r>
              <a:rPr sz="4400" b="1" dirty="0" err="1">
                <a:solidFill>
                  <a:srgbClr val="F5F5F5"/>
                </a:solidFill>
                <a:latin typeface="Roboto Slab" pitchFamily="2" charset="0"/>
              </a:rPr>
              <a:t>BookEx</a:t>
            </a:r>
            <a:r>
              <a:rPr sz="4400" b="1" dirty="0">
                <a:solidFill>
                  <a:srgbClr val="F5F5F5"/>
                </a:solidFill>
                <a:latin typeface="Roboto Slab" pitchFamily="2" charset="0"/>
              </a:rPr>
              <a:t> Patterns</a:t>
            </a:r>
          </a:p>
        </p:txBody>
      </p:sp>
      <p:sp>
        <p:nvSpPr>
          <p:cNvPr id="6" name="Rectangle 5"/>
          <p:cNvSpPr/>
          <p:nvPr/>
        </p:nvSpPr>
        <p:spPr>
          <a:xfrm>
            <a:off x="384048" y="1719072"/>
            <a:ext cx="11420856" cy="4462272"/>
          </a:xfrm>
          <a:prstGeom prst="rect">
            <a:avLst/>
          </a:prstGeom>
          <a:solidFill>
            <a:srgbClr val="0A0A0A">
              <a:alpha val="75000"/>
            </a:srgbClr>
          </a:solidFill>
          <a:ln w="381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8" name="TextBox 7"/>
          <p:cNvSpPr txBox="1"/>
          <p:nvPr/>
        </p:nvSpPr>
        <p:spPr>
          <a:xfrm>
            <a:off x="640080" y="1883664"/>
            <a:ext cx="10908792" cy="184666"/>
          </a:xfrm>
          <a:prstGeom prst="rect">
            <a:avLst/>
          </a:prstGeom>
          <a:noFill/>
        </p:spPr>
        <p:txBody>
          <a:bodyPr wrap="square" lIns="0" tIns="0" rIns="0" bIns="0">
            <a:spAutoFit/>
          </a:bodyPr>
          <a:lstStyle/>
          <a:p>
            <a:pPr algn="l"/>
            <a:r>
              <a:rPr sz="1200" b="1" dirty="0">
                <a:solidFill>
                  <a:srgbClr val="FFCC00"/>
                </a:solidFill>
                <a:latin typeface="Roboto Slab" pitchFamily="2" charset="0"/>
              </a:rPr>
              <a:t>BOOKEX REFERENCE</a:t>
            </a:r>
          </a:p>
        </p:txBody>
      </p:sp>
      <p:sp>
        <p:nvSpPr>
          <p:cNvPr id="9" name="Rectangle 8"/>
          <p:cNvSpPr/>
          <p:nvPr/>
        </p:nvSpPr>
        <p:spPr>
          <a:xfrm>
            <a:off x="640080" y="2157984"/>
            <a:ext cx="10908792" cy="16459"/>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10" name="Oval 9"/>
          <p:cNvSpPr/>
          <p:nvPr/>
        </p:nvSpPr>
        <p:spPr>
          <a:xfrm>
            <a:off x="640080" y="2304288"/>
            <a:ext cx="502920" cy="502920"/>
          </a:xfrm>
          <a:prstGeom prst="ellipse">
            <a:avLst/>
          </a:prstGeom>
          <a:solidFill>
            <a:srgbClr val="BF40FF"/>
          </a:solidFill>
          <a:ln w="381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11" name="TextBox 10"/>
          <p:cNvSpPr txBox="1"/>
          <p:nvPr/>
        </p:nvSpPr>
        <p:spPr>
          <a:xfrm>
            <a:off x="685800" y="2421888"/>
            <a:ext cx="411480" cy="299157"/>
          </a:xfrm>
          <a:prstGeom prst="rect">
            <a:avLst/>
          </a:prstGeom>
          <a:noFill/>
        </p:spPr>
        <p:txBody>
          <a:bodyPr wrap="square" lIns="36576" tIns="10972" rIns="36576" bIns="10972">
            <a:spAutoFit/>
          </a:bodyPr>
          <a:lstStyle/>
          <a:p>
            <a:pPr algn="ctr"/>
            <a:r>
              <a:rPr sz="1800" b="1" dirty="0">
                <a:solidFill>
                  <a:srgbClr val="000000"/>
                </a:solidFill>
                <a:latin typeface="Roboto Slab" pitchFamily="2" charset="0"/>
              </a:rPr>
              <a:t>📖</a:t>
            </a:r>
          </a:p>
        </p:txBody>
      </p:sp>
      <p:sp>
        <p:nvSpPr>
          <p:cNvPr id="12" name="Rectangle 11"/>
          <p:cNvSpPr/>
          <p:nvPr/>
        </p:nvSpPr>
        <p:spPr>
          <a:xfrm>
            <a:off x="1325880" y="2249424"/>
            <a:ext cx="10177272" cy="1463040"/>
          </a:xfrm>
          <a:prstGeom prst="rect">
            <a:avLst/>
          </a:prstGeom>
          <a:solidFill>
            <a:srgbClr val="0F0F0F"/>
          </a:solidFill>
          <a:ln w="25400">
            <a:solidFill>
              <a:srgbClr val="BF4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13" name="TextBox 12"/>
          <p:cNvSpPr txBox="1"/>
          <p:nvPr/>
        </p:nvSpPr>
        <p:spPr>
          <a:xfrm>
            <a:off x="1472184" y="2340864"/>
            <a:ext cx="9884663" cy="184666"/>
          </a:xfrm>
          <a:prstGeom prst="rect">
            <a:avLst/>
          </a:prstGeom>
          <a:noFill/>
        </p:spPr>
        <p:txBody>
          <a:bodyPr wrap="square" lIns="0" tIns="0" rIns="0" bIns="0">
            <a:spAutoFit/>
          </a:bodyPr>
          <a:lstStyle/>
          <a:p>
            <a:pPr algn="l"/>
            <a:r>
              <a:rPr sz="1200" b="1" dirty="0">
                <a:solidFill>
                  <a:srgbClr val="BF40FF"/>
                </a:solidFill>
                <a:latin typeface="Roboto Slab" pitchFamily="2" charset="0"/>
              </a:rPr>
              <a:t>BOOKEX PATTERNS</a:t>
            </a:r>
          </a:p>
        </p:txBody>
      </p:sp>
      <p:sp>
        <p:nvSpPr>
          <p:cNvPr id="14" name="TextBox 13"/>
          <p:cNvSpPr txBox="1"/>
          <p:nvPr/>
        </p:nvSpPr>
        <p:spPr>
          <a:xfrm>
            <a:off x="1472184" y="2651760"/>
            <a:ext cx="9884663" cy="430887"/>
          </a:xfrm>
          <a:prstGeom prst="rect">
            <a:avLst/>
          </a:prstGeom>
          <a:noFill/>
        </p:spPr>
        <p:txBody>
          <a:bodyPr wrap="square" lIns="0" tIns="0" rIns="0" bIns="0">
            <a:spAutoFit/>
          </a:bodyPr>
          <a:lstStyle/>
          <a:p>
            <a:pPr algn="l"/>
            <a:r>
              <a:rPr sz="1400" dirty="0">
                <a:solidFill>
                  <a:srgbClr val="F5F5F5"/>
                </a:solidFill>
                <a:latin typeface="Roboto Medium" panose="02000000000000000000" pitchFamily="2" charset="0"/>
                <a:ea typeface="Roboto Medium" panose="02000000000000000000" pitchFamily="2" charset="0"/>
              </a:rPr>
              <a:t>Program 8-10 (</a:t>
            </a:r>
            <a:r>
              <a:rPr sz="1400" dirty="0" err="1">
                <a:solidFill>
                  <a:srgbClr val="F5F5F5"/>
                </a:solidFill>
                <a:latin typeface="Roboto Medium" panose="02000000000000000000" pitchFamily="2" charset="0"/>
                <a:ea typeface="Roboto Medium" panose="02000000000000000000" pitchFamily="2" charset="0"/>
              </a:rPr>
              <a:t>split_date.py</a:t>
            </a:r>
            <a:r>
              <a:rPr sz="1400" dirty="0">
                <a:solidFill>
                  <a:srgbClr val="F5F5F5"/>
                </a:solidFill>
                <a:latin typeface="Roboto Medium" panose="02000000000000000000" pitchFamily="2" charset="0"/>
                <a:ea typeface="Roboto Medium" panose="02000000000000000000" pitchFamily="2" charset="0"/>
              </a:rPr>
              <a:t>) — You used .split('/') to break a date string into parts. Now use .split(',') to break each CSV line.
Program 9-1 (</a:t>
            </a:r>
            <a:r>
              <a:rPr sz="1400" dirty="0" err="1">
                <a:solidFill>
                  <a:srgbClr val="F5F5F5"/>
                </a:solidFill>
                <a:latin typeface="Roboto Medium" panose="02000000000000000000" pitchFamily="2" charset="0"/>
                <a:ea typeface="Roboto Medium" panose="02000000000000000000" pitchFamily="2" charset="0"/>
              </a:rPr>
              <a:t>card_dealer.py</a:t>
            </a:r>
            <a:r>
              <a:rPr sz="1400" dirty="0">
                <a:solidFill>
                  <a:srgbClr val="F5F5F5"/>
                </a:solidFill>
                <a:latin typeface="Roboto Medium" panose="02000000000000000000" pitchFamily="2" charset="0"/>
                <a:ea typeface="Roboto Medium" panose="02000000000000000000" pitchFamily="2" charset="0"/>
              </a:rPr>
              <a:t>) — You created a dictionary with key-value pairs. Now build a nested dictionary.</a:t>
            </a:r>
          </a:p>
        </p:txBody>
      </p:sp>
      <p:pic>
        <p:nvPicPr>
          <p:cNvPr id="16" name="Picture 15">
            <a:extLst>
              <a:ext uri="{FF2B5EF4-FFF2-40B4-BE49-F238E27FC236}">
                <a16:creationId xmlns:a16="http://schemas.microsoft.com/office/drawing/2014/main" id="{ABB5CCA9-6722-FB19-541E-48194E5A7F82}"/>
              </a:ext>
            </a:extLst>
          </p:cNvPr>
          <p:cNvPicPr>
            <a:picLocks noChangeAspect="1"/>
          </p:cNvPicPr>
          <p:nvPr/>
        </p:nvPicPr>
        <p:blipFill>
          <a:blip r:embed="rId3"/>
          <a:srcRect/>
          <a:stretch/>
        </p:blipFill>
        <p:spPr>
          <a:xfrm>
            <a:off x="4725900" y="6473952"/>
            <a:ext cx="2526839" cy="365760"/>
          </a:xfrm>
          <a:prstGeom prst="rect">
            <a:avLst/>
          </a:prstGeom>
        </p:spPr>
      </p:pic>
      <p:pic>
        <p:nvPicPr>
          <p:cNvPr id="17" name="Picture 16">
            <a:extLst>
              <a:ext uri="{FF2B5EF4-FFF2-40B4-BE49-F238E27FC236}">
                <a16:creationId xmlns:a16="http://schemas.microsoft.com/office/drawing/2014/main" id="{05DD9908-F3A7-8691-3C94-A1FB3D7023CD}"/>
              </a:ext>
            </a:extLst>
          </p:cNvPr>
          <p:cNvPicPr>
            <a:picLocks noChangeAspect="1"/>
          </p:cNvPicPr>
          <p:nvPr/>
        </p:nvPicPr>
        <p:blipFill>
          <a:blip r:embed="rId4"/>
          <a:stretch>
            <a:fillRect/>
          </a:stretch>
        </p:blipFill>
        <p:spPr>
          <a:xfrm>
            <a:off x="9811911" y="274320"/>
            <a:ext cx="1992993" cy="130044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47472" y="274320"/>
            <a:ext cx="11676888" cy="6126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pic>
        <p:nvPicPr>
          <p:cNvPr id="3" name="Picture 2" descr="image.png"/>
          <p:cNvPicPr>
            <a:picLocks noChangeAspect="1"/>
          </p:cNvPicPr>
          <p:nvPr/>
        </p:nvPicPr>
        <p:blipFill>
          <a:blip r:embed="rId2"/>
          <a:stretch>
            <a:fillRect/>
          </a:stretch>
        </p:blipFill>
        <p:spPr>
          <a:xfrm>
            <a:off x="256032" y="182880"/>
            <a:ext cx="11676888" cy="6126480"/>
          </a:xfrm>
          <a:prstGeom prst="rect">
            <a:avLst/>
          </a:prstGeom>
          <a:ln w="50800">
            <a:solidFill>
              <a:srgbClr val="000000"/>
            </a:solidFill>
          </a:ln>
        </p:spPr>
      </p:pic>
      <p:sp>
        <p:nvSpPr>
          <p:cNvPr id="5" name="TextBox 4"/>
          <p:cNvSpPr txBox="1"/>
          <p:nvPr/>
        </p:nvSpPr>
        <p:spPr>
          <a:xfrm>
            <a:off x="512064" y="411480"/>
            <a:ext cx="8869680" cy="677108"/>
          </a:xfrm>
          <a:prstGeom prst="rect">
            <a:avLst/>
          </a:prstGeom>
          <a:noFill/>
        </p:spPr>
        <p:txBody>
          <a:bodyPr wrap="square" lIns="0" tIns="0" rIns="0" bIns="0">
            <a:spAutoFit/>
          </a:bodyPr>
          <a:lstStyle/>
          <a:p>
            <a:pPr algn="l"/>
            <a:r>
              <a:rPr sz="4400" b="1" dirty="0">
                <a:solidFill>
                  <a:srgbClr val="F5F5F5"/>
                </a:solidFill>
                <a:latin typeface="Roboto Slab" pitchFamily="2" charset="0"/>
              </a:rPr>
              <a:t>Need Help?</a:t>
            </a:r>
          </a:p>
        </p:txBody>
      </p:sp>
      <p:sp>
        <p:nvSpPr>
          <p:cNvPr id="6" name="Rectangle 5"/>
          <p:cNvSpPr/>
          <p:nvPr/>
        </p:nvSpPr>
        <p:spPr>
          <a:xfrm>
            <a:off x="384048" y="1719072"/>
            <a:ext cx="11420856" cy="4462272"/>
          </a:xfrm>
          <a:prstGeom prst="rect">
            <a:avLst/>
          </a:prstGeom>
          <a:solidFill>
            <a:srgbClr val="0A0A0A">
              <a:alpha val="75000"/>
            </a:srgbClr>
          </a:solidFill>
          <a:ln w="381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8" name="TextBox 7"/>
          <p:cNvSpPr txBox="1"/>
          <p:nvPr/>
        </p:nvSpPr>
        <p:spPr>
          <a:xfrm>
            <a:off x="640080" y="1883664"/>
            <a:ext cx="10908792" cy="184666"/>
          </a:xfrm>
          <a:prstGeom prst="rect">
            <a:avLst/>
          </a:prstGeom>
          <a:noFill/>
        </p:spPr>
        <p:txBody>
          <a:bodyPr wrap="square" lIns="0" tIns="0" rIns="0" bIns="0">
            <a:spAutoFit/>
          </a:bodyPr>
          <a:lstStyle/>
          <a:p>
            <a:pPr algn="l"/>
            <a:r>
              <a:rPr sz="1200" b="1" dirty="0">
                <a:solidFill>
                  <a:srgbClr val="FFCC00"/>
                </a:solidFill>
                <a:latin typeface="Roboto Slab" pitchFamily="2" charset="0"/>
              </a:rPr>
              <a:t>CONTACT &amp; RESOURCES</a:t>
            </a:r>
          </a:p>
        </p:txBody>
      </p:sp>
      <p:sp>
        <p:nvSpPr>
          <p:cNvPr id="9" name="Rectangle 8"/>
          <p:cNvSpPr/>
          <p:nvPr/>
        </p:nvSpPr>
        <p:spPr>
          <a:xfrm>
            <a:off x="640080" y="2157984"/>
            <a:ext cx="10908792" cy="16459"/>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10" name="TextBox 9"/>
          <p:cNvSpPr txBox="1"/>
          <p:nvPr/>
        </p:nvSpPr>
        <p:spPr>
          <a:xfrm>
            <a:off x="640080" y="2249424"/>
            <a:ext cx="10908792" cy="1114765"/>
          </a:xfrm>
          <a:prstGeom prst="rect">
            <a:avLst/>
          </a:prstGeom>
          <a:noFill/>
        </p:spPr>
        <p:txBody>
          <a:bodyPr wrap="square" lIns="36576" tIns="10972" rIns="36576" bIns="10972">
            <a:spAutoFit/>
          </a:bodyPr>
          <a:lstStyle/>
          <a:p>
            <a:pPr algn="l">
              <a:spcBef>
                <a:spcPts val="400"/>
              </a:spcBef>
              <a:spcAft>
                <a:spcPts val="200"/>
              </a:spcAft>
              <a:buChar char="•"/>
            </a:pPr>
            <a:r>
              <a:rPr sz="1400" dirty="0">
                <a:solidFill>
                  <a:srgbClr val="F5F5F5"/>
                </a:solidFill>
                <a:latin typeface="Roboto Medium" panose="02000000000000000000" pitchFamily="2" charset="0"/>
                <a:ea typeface="Roboto Medium" panose="02000000000000000000" pitchFamily="2" charset="0"/>
              </a:rPr>
              <a:t>Re-read the </a:t>
            </a:r>
            <a:r>
              <a:rPr sz="1400" dirty="0" err="1">
                <a:solidFill>
                  <a:srgbClr val="F5F5F5"/>
                </a:solidFill>
                <a:latin typeface="Roboto Medium" panose="02000000000000000000" pitchFamily="2" charset="0"/>
                <a:ea typeface="Roboto Medium" panose="02000000000000000000" pitchFamily="2" charset="0"/>
              </a:rPr>
              <a:t>BookEx</a:t>
            </a:r>
            <a:r>
              <a:rPr sz="1400" dirty="0">
                <a:solidFill>
                  <a:srgbClr val="F5F5F5"/>
                </a:solidFill>
                <a:latin typeface="Roboto Medium" panose="02000000000000000000" pitchFamily="2" charset="0"/>
                <a:ea typeface="Roboto Medium" panose="02000000000000000000" pitchFamily="2" charset="0"/>
              </a:rPr>
              <a:t> programs — the patterns are exactly what you need here</a:t>
            </a:r>
          </a:p>
          <a:p>
            <a:pPr>
              <a:spcBef>
                <a:spcPts val="400"/>
              </a:spcBef>
              <a:spcAft>
                <a:spcPts val="200"/>
              </a:spcAft>
              <a:buChar char="•"/>
            </a:pPr>
            <a:r>
              <a:rPr sz="1400" dirty="0">
                <a:solidFill>
                  <a:srgbClr val="F5F5F5"/>
                </a:solidFill>
                <a:latin typeface="Roboto Medium" panose="02000000000000000000" pitchFamily="2" charset="0"/>
                <a:ea typeface="Roboto Medium" panose="02000000000000000000" pitchFamily="2" charset="0"/>
              </a:rPr>
              <a:t>Test each function independently before wiring into the game</a:t>
            </a:r>
          </a:p>
          <a:p>
            <a:pPr>
              <a:spcBef>
                <a:spcPts val="400"/>
              </a:spcBef>
              <a:spcAft>
                <a:spcPts val="200"/>
              </a:spcAft>
              <a:buChar char="•"/>
            </a:pPr>
            <a:r>
              <a:rPr sz="1400" dirty="0">
                <a:solidFill>
                  <a:srgbClr val="F5F5F5"/>
                </a:solidFill>
                <a:latin typeface="Roboto Medium" panose="02000000000000000000" pitchFamily="2" charset="0"/>
                <a:ea typeface="Roboto Medium" panose="02000000000000000000" pitchFamily="2" charset="0"/>
              </a:rPr>
              <a:t>Submit to </a:t>
            </a:r>
            <a:r>
              <a:rPr sz="1400" dirty="0" err="1">
                <a:solidFill>
                  <a:srgbClr val="F5F5F5"/>
                </a:solidFill>
                <a:latin typeface="Roboto Medium" panose="02000000000000000000" pitchFamily="2" charset="0"/>
                <a:ea typeface="Roboto Medium" panose="02000000000000000000" pitchFamily="2" charset="0"/>
              </a:rPr>
              <a:t>CodeGrade</a:t>
            </a:r>
            <a:r>
              <a:rPr sz="1400" dirty="0">
                <a:solidFill>
                  <a:srgbClr val="F5F5F5"/>
                </a:solidFill>
                <a:latin typeface="Roboto Medium" panose="02000000000000000000" pitchFamily="2" charset="0"/>
                <a:ea typeface="Roboto Medium" panose="02000000000000000000" pitchFamily="2" charset="0"/>
              </a:rPr>
              <a:t> early — it shows exactly which tests pass or fail</a:t>
            </a:r>
          </a:p>
          <a:p>
            <a:pPr>
              <a:spcBef>
                <a:spcPts val="400"/>
              </a:spcBef>
              <a:spcAft>
                <a:spcPts val="200"/>
              </a:spcAft>
              <a:buChar char="•"/>
            </a:pPr>
            <a:r>
              <a:rPr sz="1400" dirty="0">
                <a:solidFill>
                  <a:srgbClr val="F5F5F5"/>
                </a:solidFill>
                <a:latin typeface="Roboto Medium" panose="02000000000000000000" pitchFamily="2" charset="0"/>
                <a:ea typeface="Roboto Medium" panose="02000000000000000000" pitchFamily="2" charset="0"/>
              </a:rPr>
              <a:t>Use DEBUG prints to verify what you're parsing from each line</a:t>
            </a:r>
          </a:p>
        </p:txBody>
      </p:sp>
      <p:sp>
        <p:nvSpPr>
          <p:cNvPr id="11" name="Rectangle 10"/>
          <p:cNvSpPr/>
          <p:nvPr/>
        </p:nvSpPr>
        <p:spPr>
          <a:xfrm>
            <a:off x="640080" y="3823978"/>
            <a:ext cx="2108606" cy="2101334"/>
          </a:xfrm>
          <a:prstGeom prst="rect">
            <a:avLst/>
          </a:prstGeom>
          <a:solidFill>
            <a:schemeClr val="bg1">
              <a:alpha val="9963"/>
            </a:schemeClr>
          </a:solidFill>
          <a:ln w="12700">
            <a:solidFill>
              <a:srgbClr val="3C1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12" name="TextBox 11"/>
          <p:cNvSpPr txBox="1"/>
          <p:nvPr/>
        </p:nvSpPr>
        <p:spPr>
          <a:xfrm>
            <a:off x="713232" y="3956458"/>
            <a:ext cx="1962302" cy="138499"/>
          </a:xfrm>
          <a:prstGeom prst="rect">
            <a:avLst/>
          </a:prstGeom>
          <a:noFill/>
        </p:spPr>
        <p:txBody>
          <a:bodyPr wrap="square" lIns="0" tIns="0" rIns="0" bIns="0">
            <a:spAutoFit/>
          </a:bodyPr>
          <a:lstStyle/>
          <a:p>
            <a:pPr algn="l"/>
            <a:r>
              <a:rPr sz="900" dirty="0">
                <a:solidFill>
                  <a:srgbClr val="BF40FF"/>
                </a:solidFill>
                <a:latin typeface="Roboto Medium" panose="02000000000000000000" pitchFamily="2" charset="0"/>
                <a:ea typeface="Roboto Medium" panose="02000000000000000000" pitchFamily="2" charset="0"/>
              </a:rPr>
              <a:t>ZOOM OFFICE HOURS</a:t>
            </a:r>
          </a:p>
        </p:txBody>
      </p:sp>
      <p:sp>
        <p:nvSpPr>
          <p:cNvPr id="13" name="TextBox 12"/>
          <p:cNvSpPr txBox="1"/>
          <p:nvPr/>
        </p:nvSpPr>
        <p:spPr>
          <a:xfrm>
            <a:off x="713232" y="4249066"/>
            <a:ext cx="1962302" cy="184666"/>
          </a:xfrm>
          <a:prstGeom prst="rect">
            <a:avLst/>
          </a:prstGeom>
          <a:noFill/>
        </p:spPr>
        <p:txBody>
          <a:bodyPr wrap="square" lIns="0" tIns="0" rIns="0" bIns="0">
            <a:spAutoFit/>
          </a:bodyPr>
          <a:lstStyle/>
          <a:p>
            <a:pPr algn="l"/>
            <a:r>
              <a:rPr sz="1200" dirty="0">
                <a:solidFill>
                  <a:srgbClr val="F5F5F5"/>
                </a:solidFill>
                <a:latin typeface="Roboto Medium" panose="02000000000000000000" pitchFamily="2" charset="0"/>
                <a:ea typeface="Roboto Medium" panose="02000000000000000000" pitchFamily="2" charset="0"/>
              </a:rPr>
              <a:t>Tuesdays 6–7 PM</a:t>
            </a:r>
          </a:p>
        </p:txBody>
      </p:sp>
      <p:sp>
        <p:nvSpPr>
          <p:cNvPr id="14" name="Rectangle 13"/>
          <p:cNvSpPr/>
          <p:nvPr/>
        </p:nvSpPr>
        <p:spPr>
          <a:xfrm>
            <a:off x="2821838" y="3823978"/>
            <a:ext cx="2108606" cy="2101334"/>
          </a:xfrm>
          <a:prstGeom prst="rect">
            <a:avLst/>
          </a:prstGeom>
          <a:solidFill>
            <a:schemeClr val="bg1">
              <a:alpha val="9963"/>
            </a:schemeClr>
          </a:solidFill>
          <a:ln w="12700">
            <a:solidFill>
              <a:srgbClr val="3C1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15" name="TextBox 14"/>
          <p:cNvSpPr txBox="1"/>
          <p:nvPr/>
        </p:nvSpPr>
        <p:spPr>
          <a:xfrm>
            <a:off x="2894990" y="3956458"/>
            <a:ext cx="1962302" cy="138499"/>
          </a:xfrm>
          <a:prstGeom prst="rect">
            <a:avLst/>
          </a:prstGeom>
          <a:noFill/>
        </p:spPr>
        <p:txBody>
          <a:bodyPr wrap="square" lIns="0" tIns="0" rIns="0" bIns="0">
            <a:spAutoFit/>
          </a:bodyPr>
          <a:lstStyle/>
          <a:p>
            <a:pPr algn="l"/>
            <a:r>
              <a:rPr sz="900" dirty="0">
                <a:solidFill>
                  <a:srgbClr val="BF40FF"/>
                </a:solidFill>
                <a:latin typeface="Roboto Medium" panose="02000000000000000000" pitchFamily="2" charset="0"/>
                <a:ea typeface="Roboto Medium" panose="02000000000000000000" pitchFamily="2" charset="0"/>
              </a:rPr>
              <a:t>SCHEDULE A MEETING</a:t>
            </a:r>
          </a:p>
        </p:txBody>
      </p:sp>
      <p:sp>
        <p:nvSpPr>
          <p:cNvPr id="16" name="TextBox 15"/>
          <p:cNvSpPr txBox="1"/>
          <p:nvPr/>
        </p:nvSpPr>
        <p:spPr>
          <a:xfrm>
            <a:off x="2894990" y="4249066"/>
            <a:ext cx="1962302" cy="184666"/>
          </a:xfrm>
          <a:prstGeom prst="rect">
            <a:avLst/>
          </a:prstGeom>
          <a:noFill/>
        </p:spPr>
        <p:txBody>
          <a:bodyPr wrap="square" lIns="0" tIns="0" rIns="0" bIns="0">
            <a:spAutoFit/>
          </a:bodyPr>
          <a:lstStyle/>
          <a:p>
            <a:pPr algn="l"/>
            <a:r>
              <a:rPr sz="1200" dirty="0">
                <a:solidFill>
                  <a:srgbClr val="F5F5F5"/>
                </a:solidFill>
                <a:latin typeface="Roboto Medium" panose="02000000000000000000" pitchFamily="2" charset="0"/>
                <a:ea typeface="Roboto Medium" panose="02000000000000000000" pitchFamily="2" charset="0"/>
              </a:rPr>
              <a:t>Book via Calendly</a:t>
            </a:r>
          </a:p>
        </p:txBody>
      </p:sp>
      <p:sp>
        <p:nvSpPr>
          <p:cNvPr id="17" name="Rectangle 16"/>
          <p:cNvSpPr/>
          <p:nvPr/>
        </p:nvSpPr>
        <p:spPr>
          <a:xfrm>
            <a:off x="5003596" y="3823978"/>
            <a:ext cx="2108606" cy="2101334"/>
          </a:xfrm>
          <a:prstGeom prst="rect">
            <a:avLst/>
          </a:prstGeom>
          <a:solidFill>
            <a:schemeClr val="bg1">
              <a:alpha val="9963"/>
            </a:schemeClr>
          </a:solidFill>
          <a:ln w="12700">
            <a:solidFill>
              <a:srgbClr val="3C1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18" name="TextBox 17"/>
          <p:cNvSpPr txBox="1"/>
          <p:nvPr/>
        </p:nvSpPr>
        <p:spPr>
          <a:xfrm>
            <a:off x="5076748" y="3956458"/>
            <a:ext cx="1962302" cy="138499"/>
          </a:xfrm>
          <a:prstGeom prst="rect">
            <a:avLst/>
          </a:prstGeom>
          <a:noFill/>
        </p:spPr>
        <p:txBody>
          <a:bodyPr wrap="square" lIns="0" tIns="0" rIns="0" bIns="0">
            <a:spAutoFit/>
          </a:bodyPr>
          <a:lstStyle/>
          <a:p>
            <a:pPr algn="l"/>
            <a:r>
              <a:rPr sz="900" dirty="0">
                <a:solidFill>
                  <a:srgbClr val="BF40FF"/>
                </a:solidFill>
                <a:latin typeface="Roboto Medium" panose="02000000000000000000" pitchFamily="2" charset="0"/>
                <a:ea typeface="Roboto Medium" panose="02000000000000000000" pitchFamily="2" charset="0"/>
              </a:rPr>
              <a:t>COURSE DISCORD</a:t>
            </a:r>
          </a:p>
        </p:txBody>
      </p:sp>
      <p:sp>
        <p:nvSpPr>
          <p:cNvPr id="19" name="TextBox 18"/>
          <p:cNvSpPr txBox="1"/>
          <p:nvPr/>
        </p:nvSpPr>
        <p:spPr>
          <a:xfrm>
            <a:off x="5076748" y="4249066"/>
            <a:ext cx="1962302" cy="184666"/>
          </a:xfrm>
          <a:prstGeom prst="rect">
            <a:avLst/>
          </a:prstGeom>
          <a:noFill/>
        </p:spPr>
        <p:txBody>
          <a:bodyPr wrap="square" lIns="0" tIns="0" rIns="0" bIns="0">
            <a:spAutoFit/>
          </a:bodyPr>
          <a:lstStyle/>
          <a:p>
            <a:pPr algn="l"/>
            <a:r>
              <a:rPr sz="1200" dirty="0">
                <a:solidFill>
                  <a:srgbClr val="F5F5F5"/>
                </a:solidFill>
                <a:latin typeface="Roboto Medium" panose="02000000000000000000" pitchFamily="2" charset="0"/>
                <a:ea typeface="Roboto Medium" panose="02000000000000000000" pitchFamily="2" charset="0"/>
              </a:rPr>
              <a:t>Post in #help</a:t>
            </a:r>
          </a:p>
        </p:txBody>
      </p:sp>
      <p:sp>
        <p:nvSpPr>
          <p:cNvPr id="20" name="Rectangle 19"/>
          <p:cNvSpPr/>
          <p:nvPr/>
        </p:nvSpPr>
        <p:spPr>
          <a:xfrm>
            <a:off x="7185355" y="3823978"/>
            <a:ext cx="2108606" cy="2101334"/>
          </a:xfrm>
          <a:prstGeom prst="rect">
            <a:avLst/>
          </a:prstGeom>
          <a:solidFill>
            <a:schemeClr val="bg1">
              <a:alpha val="9963"/>
            </a:schemeClr>
          </a:solidFill>
          <a:ln w="12700">
            <a:solidFill>
              <a:srgbClr val="3C1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21" name="TextBox 20"/>
          <p:cNvSpPr txBox="1"/>
          <p:nvPr/>
        </p:nvSpPr>
        <p:spPr>
          <a:xfrm>
            <a:off x="7258507" y="3956458"/>
            <a:ext cx="1962302" cy="138499"/>
          </a:xfrm>
          <a:prstGeom prst="rect">
            <a:avLst/>
          </a:prstGeom>
          <a:noFill/>
        </p:spPr>
        <p:txBody>
          <a:bodyPr wrap="square" lIns="0" tIns="0" rIns="0" bIns="0">
            <a:spAutoFit/>
          </a:bodyPr>
          <a:lstStyle/>
          <a:p>
            <a:pPr algn="l"/>
            <a:r>
              <a:rPr sz="900" dirty="0">
                <a:solidFill>
                  <a:srgbClr val="BF40FF"/>
                </a:solidFill>
                <a:latin typeface="Roboto Medium" panose="02000000000000000000" pitchFamily="2" charset="0"/>
                <a:ea typeface="Roboto Medium" panose="02000000000000000000" pitchFamily="2" charset="0"/>
              </a:rPr>
              <a:t>EMAIL</a:t>
            </a:r>
          </a:p>
        </p:txBody>
      </p:sp>
      <p:sp>
        <p:nvSpPr>
          <p:cNvPr id="22" name="TextBox 21"/>
          <p:cNvSpPr txBox="1"/>
          <p:nvPr/>
        </p:nvSpPr>
        <p:spPr>
          <a:xfrm>
            <a:off x="7258507" y="4249066"/>
            <a:ext cx="1962302" cy="184666"/>
          </a:xfrm>
          <a:prstGeom prst="rect">
            <a:avLst/>
          </a:prstGeom>
          <a:noFill/>
        </p:spPr>
        <p:txBody>
          <a:bodyPr wrap="square" lIns="0" tIns="0" rIns="0" bIns="0">
            <a:spAutoFit/>
          </a:bodyPr>
          <a:lstStyle/>
          <a:p>
            <a:pPr algn="l"/>
            <a:r>
              <a:rPr sz="1200" dirty="0" err="1">
                <a:solidFill>
                  <a:srgbClr val="F5F5F5"/>
                </a:solidFill>
                <a:latin typeface="Roboto Medium" panose="02000000000000000000" pitchFamily="2" charset="0"/>
                <a:ea typeface="Roboto Medium" panose="02000000000000000000" pitchFamily="2" charset="0"/>
              </a:rPr>
              <a:t>john.newsom@utsa.edu</a:t>
            </a:r>
            <a:endParaRPr sz="1200" dirty="0">
              <a:solidFill>
                <a:srgbClr val="F5F5F5"/>
              </a:solidFill>
              <a:latin typeface="Roboto Medium" panose="02000000000000000000" pitchFamily="2" charset="0"/>
              <a:ea typeface="Roboto Medium" panose="02000000000000000000" pitchFamily="2" charset="0"/>
            </a:endParaRPr>
          </a:p>
        </p:txBody>
      </p:sp>
      <p:sp>
        <p:nvSpPr>
          <p:cNvPr id="23" name="Rectangle 22"/>
          <p:cNvSpPr/>
          <p:nvPr/>
        </p:nvSpPr>
        <p:spPr>
          <a:xfrm>
            <a:off x="9367113" y="3823978"/>
            <a:ext cx="2108606" cy="2101334"/>
          </a:xfrm>
          <a:prstGeom prst="rect">
            <a:avLst/>
          </a:prstGeom>
          <a:solidFill>
            <a:schemeClr val="bg1">
              <a:alpha val="9963"/>
            </a:schemeClr>
          </a:solidFill>
          <a:ln w="12700">
            <a:solidFill>
              <a:srgbClr val="3C1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24" name="TextBox 23"/>
          <p:cNvSpPr txBox="1"/>
          <p:nvPr/>
        </p:nvSpPr>
        <p:spPr>
          <a:xfrm>
            <a:off x="9440265" y="3956458"/>
            <a:ext cx="1962302" cy="138499"/>
          </a:xfrm>
          <a:prstGeom prst="rect">
            <a:avLst/>
          </a:prstGeom>
          <a:noFill/>
        </p:spPr>
        <p:txBody>
          <a:bodyPr wrap="square" lIns="0" tIns="0" rIns="0" bIns="0">
            <a:spAutoFit/>
          </a:bodyPr>
          <a:lstStyle/>
          <a:p>
            <a:pPr algn="l"/>
            <a:r>
              <a:rPr sz="900" dirty="0">
                <a:solidFill>
                  <a:srgbClr val="BF40FF"/>
                </a:solidFill>
                <a:latin typeface="Roboto Medium" panose="02000000000000000000" pitchFamily="2" charset="0"/>
                <a:ea typeface="Roboto Medium" panose="02000000000000000000" pitchFamily="2" charset="0"/>
              </a:rPr>
              <a:t>CODEGRADE</a:t>
            </a:r>
          </a:p>
        </p:txBody>
      </p:sp>
      <p:sp>
        <p:nvSpPr>
          <p:cNvPr id="25" name="TextBox 24"/>
          <p:cNvSpPr txBox="1"/>
          <p:nvPr/>
        </p:nvSpPr>
        <p:spPr>
          <a:xfrm>
            <a:off x="9440265" y="4249066"/>
            <a:ext cx="1962302" cy="184666"/>
          </a:xfrm>
          <a:prstGeom prst="rect">
            <a:avLst/>
          </a:prstGeom>
          <a:noFill/>
        </p:spPr>
        <p:txBody>
          <a:bodyPr wrap="square" lIns="0" tIns="0" rIns="0" bIns="0">
            <a:spAutoFit/>
          </a:bodyPr>
          <a:lstStyle/>
          <a:p>
            <a:pPr algn="l"/>
            <a:r>
              <a:rPr sz="1200" dirty="0">
                <a:solidFill>
                  <a:srgbClr val="F5F5F5"/>
                </a:solidFill>
                <a:latin typeface="Roboto Medium" panose="02000000000000000000" pitchFamily="2" charset="0"/>
                <a:ea typeface="Roboto Medium" panose="02000000000000000000" pitchFamily="2" charset="0"/>
              </a:rPr>
              <a:t>Submit early &amp; often</a:t>
            </a:r>
          </a:p>
        </p:txBody>
      </p:sp>
      <p:pic>
        <p:nvPicPr>
          <p:cNvPr id="27" name="Picture 26">
            <a:extLst>
              <a:ext uri="{FF2B5EF4-FFF2-40B4-BE49-F238E27FC236}">
                <a16:creationId xmlns:a16="http://schemas.microsoft.com/office/drawing/2014/main" id="{491A23F8-DD20-F793-4589-81338E0BD8B8}"/>
              </a:ext>
            </a:extLst>
          </p:cNvPr>
          <p:cNvPicPr>
            <a:picLocks noChangeAspect="1"/>
          </p:cNvPicPr>
          <p:nvPr/>
        </p:nvPicPr>
        <p:blipFill>
          <a:blip r:embed="rId3"/>
          <a:srcRect/>
          <a:stretch/>
        </p:blipFill>
        <p:spPr>
          <a:xfrm>
            <a:off x="4725900" y="6473952"/>
            <a:ext cx="2526839" cy="365760"/>
          </a:xfrm>
          <a:prstGeom prst="rect">
            <a:avLst/>
          </a:prstGeom>
        </p:spPr>
      </p:pic>
      <p:pic>
        <p:nvPicPr>
          <p:cNvPr id="28" name="Picture 27">
            <a:extLst>
              <a:ext uri="{FF2B5EF4-FFF2-40B4-BE49-F238E27FC236}">
                <a16:creationId xmlns:a16="http://schemas.microsoft.com/office/drawing/2014/main" id="{491D7886-DB78-C5C8-5001-6077C9AC1C67}"/>
              </a:ext>
            </a:extLst>
          </p:cNvPr>
          <p:cNvPicPr>
            <a:picLocks noChangeAspect="1"/>
          </p:cNvPicPr>
          <p:nvPr/>
        </p:nvPicPr>
        <p:blipFill>
          <a:blip r:embed="rId4"/>
          <a:stretch>
            <a:fillRect/>
          </a:stretch>
        </p:blipFill>
        <p:spPr>
          <a:xfrm>
            <a:off x="9811911" y="274320"/>
            <a:ext cx="1992993" cy="130044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47472" y="274320"/>
            <a:ext cx="11676888" cy="6126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pic>
        <p:nvPicPr>
          <p:cNvPr id="3" name="Picture 2" descr="image.png"/>
          <p:cNvPicPr>
            <a:picLocks noChangeAspect="1"/>
          </p:cNvPicPr>
          <p:nvPr/>
        </p:nvPicPr>
        <p:blipFill>
          <a:blip r:embed="rId2"/>
          <a:stretch>
            <a:fillRect/>
          </a:stretch>
        </p:blipFill>
        <p:spPr>
          <a:xfrm>
            <a:off x="256032" y="182880"/>
            <a:ext cx="11676888" cy="6126480"/>
          </a:xfrm>
          <a:prstGeom prst="rect">
            <a:avLst/>
          </a:prstGeom>
          <a:ln w="50800">
            <a:solidFill>
              <a:srgbClr val="000000"/>
            </a:solidFill>
          </a:ln>
        </p:spPr>
      </p:pic>
      <p:sp>
        <p:nvSpPr>
          <p:cNvPr id="5" name="TextBox 4"/>
          <p:cNvSpPr txBox="1"/>
          <p:nvPr/>
        </p:nvSpPr>
        <p:spPr>
          <a:xfrm>
            <a:off x="512064" y="411480"/>
            <a:ext cx="8869680" cy="677108"/>
          </a:xfrm>
          <a:prstGeom prst="rect">
            <a:avLst/>
          </a:prstGeom>
          <a:noFill/>
        </p:spPr>
        <p:txBody>
          <a:bodyPr wrap="square" lIns="0" tIns="0" rIns="0" bIns="0">
            <a:spAutoFit/>
          </a:bodyPr>
          <a:lstStyle/>
          <a:p>
            <a:pPr algn="l"/>
            <a:r>
              <a:rPr sz="4400" b="1" dirty="0">
                <a:solidFill>
                  <a:srgbClr val="F5F5F5"/>
                </a:solidFill>
                <a:latin typeface="Roboto Slab" pitchFamily="2" charset="0"/>
              </a:rPr>
              <a:t>Learning Objectives</a:t>
            </a:r>
          </a:p>
        </p:txBody>
      </p:sp>
      <p:sp>
        <p:nvSpPr>
          <p:cNvPr id="6" name="Rectangle 5"/>
          <p:cNvSpPr/>
          <p:nvPr/>
        </p:nvSpPr>
        <p:spPr>
          <a:xfrm>
            <a:off x="384048" y="1719072"/>
            <a:ext cx="11420856" cy="4462272"/>
          </a:xfrm>
          <a:prstGeom prst="rect">
            <a:avLst/>
          </a:prstGeom>
          <a:solidFill>
            <a:srgbClr val="0A0A0A">
              <a:alpha val="75000"/>
            </a:srgbClr>
          </a:solidFill>
          <a:ln w="381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8" name="TextBox 7"/>
          <p:cNvSpPr txBox="1"/>
          <p:nvPr/>
        </p:nvSpPr>
        <p:spPr>
          <a:xfrm>
            <a:off x="640080" y="1883664"/>
            <a:ext cx="10908792" cy="184666"/>
          </a:xfrm>
          <a:prstGeom prst="rect">
            <a:avLst/>
          </a:prstGeom>
          <a:noFill/>
        </p:spPr>
        <p:txBody>
          <a:bodyPr wrap="square" lIns="0" tIns="0" rIns="0" bIns="0">
            <a:spAutoFit/>
          </a:bodyPr>
          <a:lstStyle/>
          <a:p>
            <a:pPr algn="l"/>
            <a:r>
              <a:rPr sz="1200" b="1" dirty="0">
                <a:solidFill>
                  <a:srgbClr val="FFCC00"/>
                </a:solidFill>
                <a:latin typeface="Roboto Slab" pitchFamily="2" charset="0"/>
              </a:rPr>
              <a:t>AFTER THIS UNIT YOU WILL BE ABLE TO</a:t>
            </a:r>
          </a:p>
        </p:txBody>
      </p:sp>
      <p:sp>
        <p:nvSpPr>
          <p:cNvPr id="9" name="Rectangle 8"/>
          <p:cNvSpPr/>
          <p:nvPr/>
        </p:nvSpPr>
        <p:spPr>
          <a:xfrm>
            <a:off x="640080" y="2157984"/>
            <a:ext cx="10908792" cy="16459"/>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10" name="TextBox 9"/>
          <p:cNvSpPr txBox="1"/>
          <p:nvPr/>
        </p:nvSpPr>
        <p:spPr>
          <a:xfrm>
            <a:off x="640080" y="2249424"/>
            <a:ext cx="10908792" cy="2510019"/>
          </a:xfrm>
          <a:prstGeom prst="rect">
            <a:avLst/>
          </a:prstGeom>
          <a:noFill/>
        </p:spPr>
        <p:txBody>
          <a:bodyPr wrap="square" lIns="36576" tIns="10972" rIns="36576" bIns="10972">
            <a:spAutoFit/>
          </a:bodyPr>
          <a:lstStyle/>
          <a:p>
            <a:pPr algn="l">
              <a:spcBef>
                <a:spcPts val="800"/>
              </a:spcBef>
              <a:spcAft>
                <a:spcPts val="200"/>
              </a:spcAft>
            </a:pPr>
            <a:r>
              <a:rPr sz="2000" dirty="0">
                <a:solidFill>
                  <a:schemeClr val="bg1"/>
                </a:solidFill>
                <a:latin typeface="Roboto Medium" panose="02000000000000000000" pitchFamily="2" charset="0"/>
                <a:ea typeface="Roboto Medium" panose="02000000000000000000" pitchFamily="2" charset="0"/>
              </a:rPr>
              <a:t>1.  Create dictionaries with key-value pairs using curly brace syntax</a:t>
            </a:r>
          </a:p>
          <a:p>
            <a:pPr>
              <a:spcBef>
                <a:spcPts val="800"/>
              </a:spcBef>
              <a:spcAft>
                <a:spcPts val="200"/>
              </a:spcAft>
            </a:pPr>
            <a:r>
              <a:rPr sz="2000" dirty="0">
                <a:solidFill>
                  <a:schemeClr val="bg1"/>
                </a:solidFill>
                <a:latin typeface="Roboto Medium" panose="02000000000000000000" pitchFamily="2" charset="0"/>
                <a:ea typeface="Roboto Medium" panose="02000000000000000000" pitchFamily="2" charset="0"/>
              </a:rPr>
              <a:t>2.  Access, add, and remove dictionary entries by key name</a:t>
            </a:r>
          </a:p>
          <a:p>
            <a:pPr>
              <a:spcBef>
                <a:spcPts val="800"/>
              </a:spcBef>
              <a:spcAft>
                <a:spcPts val="200"/>
              </a:spcAft>
            </a:pPr>
            <a:r>
              <a:rPr sz="2000" dirty="0">
                <a:solidFill>
                  <a:schemeClr val="bg1"/>
                </a:solidFill>
                <a:latin typeface="Roboto Medium" panose="02000000000000000000" pitchFamily="2" charset="0"/>
                <a:ea typeface="Roboto Medium" panose="02000000000000000000" pitchFamily="2" charset="0"/>
              </a:rPr>
              <a:t>3.  Use `.keys()`, `.values()`, and `.items()` to iterate dictionaries</a:t>
            </a:r>
          </a:p>
          <a:p>
            <a:pPr>
              <a:spcBef>
                <a:spcPts val="800"/>
              </a:spcBef>
              <a:spcAft>
                <a:spcPts val="200"/>
              </a:spcAft>
            </a:pPr>
            <a:r>
              <a:rPr sz="2000" dirty="0">
                <a:solidFill>
                  <a:schemeClr val="bg1"/>
                </a:solidFill>
                <a:latin typeface="Roboto Medium" panose="02000000000000000000" pitchFamily="2" charset="0"/>
                <a:ea typeface="Roboto Medium" panose="02000000000000000000" pitchFamily="2" charset="0"/>
              </a:rPr>
              <a:t>4.  Handle missing keys safely with `.get(key, default)`</a:t>
            </a:r>
          </a:p>
          <a:p>
            <a:pPr>
              <a:spcBef>
                <a:spcPts val="800"/>
              </a:spcBef>
              <a:spcAft>
                <a:spcPts val="200"/>
              </a:spcAft>
            </a:pPr>
            <a:r>
              <a:rPr sz="2000" dirty="0">
                <a:solidFill>
                  <a:schemeClr val="bg1"/>
                </a:solidFill>
                <a:latin typeface="Roboto Medium" panose="02000000000000000000" pitchFamily="2" charset="0"/>
                <a:ea typeface="Roboto Medium" panose="02000000000000000000" pitchFamily="2" charset="0"/>
              </a:rPr>
              <a:t>5.  Build nested dictionaries to represent structured data</a:t>
            </a:r>
          </a:p>
          <a:p>
            <a:pPr>
              <a:spcBef>
                <a:spcPts val="800"/>
              </a:spcBef>
              <a:spcAft>
                <a:spcPts val="200"/>
              </a:spcAft>
            </a:pPr>
            <a:r>
              <a:rPr sz="2000" dirty="0">
                <a:solidFill>
                  <a:schemeClr val="bg1"/>
                </a:solidFill>
                <a:latin typeface="Roboto Medium" panose="02000000000000000000" pitchFamily="2" charset="0"/>
                <a:ea typeface="Roboto Medium" panose="02000000000000000000" pitchFamily="2" charset="0"/>
              </a:rPr>
              <a:t>6.  Use sets for automatic uniqueness and set operations</a:t>
            </a:r>
          </a:p>
        </p:txBody>
      </p:sp>
      <p:pic>
        <p:nvPicPr>
          <p:cNvPr id="12" name="Picture 11">
            <a:extLst>
              <a:ext uri="{FF2B5EF4-FFF2-40B4-BE49-F238E27FC236}">
                <a16:creationId xmlns:a16="http://schemas.microsoft.com/office/drawing/2014/main" id="{5288DADA-0A84-D03A-578E-313A799370BA}"/>
              </a:ext>
            </a:extLst>
          </p:cNvPr>
          <p:cNvPicPr>
            <a:picLocks noChangeAspect="1"/>
          </p:cNvPicPr>
          <p:nvPr/>
        </p:nvPicPr>
        <p:blipFill>
          <a:blip r:embed="rId3"/>
          <a:srcRect/>
          <a:stretch/>
        </p:blipFill>
        <p:spPr>
          <a:xfrm>
            <a:off x="4725900" y="6473952"/>
            <a:ext cx="2526839" cy="365760"/>
          </a:xfrm>
          <a:prstGeom prst="rect">
            <a:avLst/>
          </a:prstGeom>
        </p:spPr>
      </p:pic>
      <p:pic>
        <p:nvPicPr>
          <p:cNvPr id="13" name="Picture 12">
            <a:extLst>
              <a:ext uri="{FF2B5EF4-FFF2-40B4-BE49-F238E27FC236}">
                <a16:creationId xmlns:a16="http://schemas.microsoft.com/office/drawing/2014/main" id="{B5C22ACC-C5AA-AC76-CE4F-2C78E2B3973F}"/>
              </a:ext>
            </a:extLst>
          </p:cNvPr>
          <p:cNvPicPr>
            <a:picLocks noChangeAspect="1"/>
          </p:cNvPicPr>
          <p:nvPr/>
        </p:nvPicPr>
        <p:blipFill>
          <a:blip r:embed="rId4"/>
          <a:stretch>
            <a:fillRect/>
          </a:stretch>
        </p:blipFill>
        <p:spPr>
          <a:xfrm>
            <a:off x="9811911" y="274320"/>
            <a:ext cx="1992993" cy="130044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47472" y="274320"/>
            <a:ext cx="11676888" cy="6126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pic>
        <p:nvPicPr>
          <p:cNvPr id="3" name="Picture 2" descr="image.png"/>
          <p:cNvPicPr>
            <a:picLocks noChangeAspect="1"/>
          </p:cNvPicPr>
          <p:nvPr/>
        </p:nvPicPr>
        <p:blipFill>
          <a:blip r:embed="rId2"/>
          <a:stretch>
            <a:fillRect/>
          </a:stretch>
        </p:blipFill>
        <p:spPr>
          <a:xfrm>
            <a:off x="256032" y="182880"/>
            <a:ext cx="11676888" cy="6126480"/>
          </a:xfrm>
          <a:prstGeom prst="rect">
            <a:avLst/>
          </a:prstGeom>
          <a:ln w="50800">
            <a:solidFill>
              <a:srgbClr val="000000"/>
            </a:solidFill>
          </a:ln>
        </p:spPr>
      </p:pic>
      <p:sp>
        <p:nvSpPr>
          <p:cNvPr id="5" name="TextBox 4"/>
          <p:cNvSpPr txBox="1"/>
          <p:nvPr/>
        </p:nvSpPr>
        <p:spPr>
          <a:xfrm>
            <a:off x="512064" y="411480"/>
            <a:ext cx="8869680" cy="677108"/>
          </a:xfrm>
          <a:prstGeom prst="rect">
            <a:avLst/>
          </a:prstGeom>
          <a:noFill/>
        </p:spPr>
        <p:txBody>
          <a:bodyPr wrap="square" lIns="0" tIns="0" rIns="0" bIns="0">
            <a:spAutoFit/>
          </a:bodyPr>
          <a:lstStyle/>
          <a:p>
            <a:pPr algn="l"/>
            <a:r>
              <a:rPr sz="4400" b="1" dirty="0">
                <a:solidFill>
                  <a:srgbClr val="F5F5F5"/>
                </a:solidFill>
                <a:latin typeface="Roboto Slab" pitchFamily="2" charset="0"/>
              </a:rPr>
              <a:t>Mentor Moment</a:t>
            </a:r>
          </a:p>
        </p:txBody>
      </p:sp>
      <p:sp>
        <p:nvSpPr>
          <p:cNvPr id="6" name="Rectangle 5"/>
          <p:cNvSpPr/>
          <p:nvPr/>
        </p:nvSpPr>
        <p:spPr>
          <a:xfrm>
            <a:off x="384048" y="1719072"/>
            <a:ext cx="11420856" cy="4462272"/>
          </a:xfrm>
          <a:prstGeom prst="rect">
            <a:avLst/>
          </a:prstGeom>
          <a:solidFill>
            <a:srgbClr val="0A0A0A">
              <a:alpha val="75000"/>
            </a:srgbClr>
          </a:solidFill>
          <a:ln w="381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8" name="Oval 7"/>
          <p:cNvSpPr/>
          <p:nvPr/>
        </p:nvSpPr>
        <p:spPr>
          <a:xfrm>
            <a:off x="640080" y="1975104"/>
            <a:ext cx="658368" cy="658368"/>
          </a:xfrm>
          <a:prstGeom prst="ellipse">
            <a:avLst/>
          </a:prstGeom>
          <a:solidFill>
            <a:srgbClr val="282828"/>
          </a:solidFill>
          <a:ln w="254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9" name="TextBox 8"/>
          <p:cNvSpPr txBox="1"/>
          <p:nvPr/>
        </p:nvSpPr>
        <p:spPr>
          <a:xfrm>
            <a:off x="731520" y="2011680"/>
            <a:ext cx="521207" cy="391490"/>
          </a:xfrm>
          <a:prstGeom prst="rect">
            <a:avLst/>
          </a:prstGeom>
          <a:noFill/>
        </p:spPr>
        <p:txBody>
          <a:bodyPr wrap="square" lIns="36576" tIns="10972" rIns="36576" bIns="10972">
            <a:spAutoFit/>
          </a:bodyPr>
          <a:lstStyle/>
          <a:p>
            <a:pPr algn="ctr"/>
            <a:r>
              <a:rPr sz="2400" b="1" dirty="0">
                <a:solidFill>
                  <a:srgbClr val="F5F5F5"/>
                </a:solidFill>
                <a:latin typeface="Roboto Slab" pitchFamily="2" charset="0"/>
              </a:rPr>
              <a:t>👤</a:t>
            </a:r>
          </a:p>
        </p:txBody>
      </p:sp>
      <p:sp>
        <p:nvSpPr>
          <p:cNvPr id="10" name="Rectangle 9"/>
          <p:cNvSpPr/>
          <p:nvPr/>
        </p:nvSpPr>
        <p:spPr>
          <a:xfrm>
            <a:off x="1499616" y="1883664"/>
            <a:ext cx="9994392" cy="1097280"/>
          </a:xfrm>
          <a:prstGeom prst="rect">
            <a:avLst/>
          </a:prstGeom>
          <a:solidFill>
            <a:srgbClr val="121212"/>
          </a:solidFill>
          <a:ln w="25400">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11" name="TextBox 10"/>
          <p:cNvSpPr txBox="1"/>
          <p:nvPr/>
        </p:nvSpPr>
        <p:spPr>
          <a:xfrm>
            <a:off x="1645919" y="1993392"/>
            <a:ext cx="9701784" cy="553998"/>
          </a:xfrm>
          <a:prstGeom prst="rect">
            <a:avLst/>
          </a:prstGeom>
          <a:noFill/>
        </p:spPr>
        <p:txBody>
          <a:bodyPr wrap="square" lIns="0" tIns="0" rIns="0" bIns="0">
            <a:spAutoFit/>
          </a:bodyPr>
          <a:lstStyle/>
          <a:p>
            <a:pPr algn="l"/>
            <a:r>
              <a:rPr b="1" i="1" dirty="0">
                <a:solidFill>
                  <a:srgbClr val="F5F5F5"/>
                </a:solidFill>
                <a:latin typeface="Roboto SemiBold" panose="02000000000000000000" pitchFamily="2" charset="0"/>
                <a:ea typeface="Roboto SemiBold" panose="02000000000000000000" pitchFamily="2" charset="0"/>
              </a:rPr>
              <a:t>"If I asked you to add 20 new cities to the game using constants, how long would it take? Now imagine it's just adding 20 lines to a text file. That's why we use data files."</a:t>
            </a:r>
          </a:p>
        </p:txBody>
      </p:sp>
      <p:sp>
        <p:nvSpPr>
          <p:cNvPr id="12" name="TextBox 11"/>
          <p:cNvSpPr txBox="1"/>
          <p:nvPr/>
        </p:nvSpPr>
        <p:spPr>
          <a:xfrm>
            <a:off x="1499616" y="3081849"/>
            <a:ext cx="9994392" cy="230832"/>
          </a:xfrm>
          <a:prstGeom prst="rect">
            <a:avLst/>
          </a:prstGeom>
          <a:noFill/>
        </p:spPr>
        <p:txBody>
          <a:bodyPr wrap="square" lIns="0" tIns="0" rIns="0" bIns="0">
            <a:spAutoFit/>
          </a:bodyPr>
          <a:lstStyle/>
          <a:p>
            <a:pPr algn="l"/>
            <a:r>
              <a:rPr sz="1500" b="1" dirty="0">
                <a:solidFill>
                  <a:srgbClr val="FFCC00"/>
                </a:solidFill>
                <a:latin typeface="Roboto Slab" pitchFamily="2" charset="0"/>
              </a:rPr>
              <a:t>Mentor Name</a:t>
            </a:r>
          </a:p>
        </p:txBody>
      </p:sp>
      <p:sp>
        <p:nvSpPr>
          <p:cNvPr id="13" name="TextBox 12"/>
          <p:cNvSpPr txBox="1"/>
          <p:nvPr/>
        </p:nvSpPr>
        <p:spPr>
          <a:xfrm>
            <a:off x="1499616" y="3389846"/>
            <a:ext cx="9994392" cy="153888"/>
          </a:xfrm>
          <a:prstGeom prst="rect">
            <a:avLst/>
          </a:prstGeom>
          <a:noFill/>
        </p:spPr>
        <p:txBody>
          <a:bodyPr wrap="square" lIns="0" tIns="0" rIns="0" bIns="0">
            <a:spAutoFit/>
          </a:bodyPr>
          <a:lstStyle/>
          <a:p>
            <a:pPr algn="l"/>
            <a:r>
              <a:rPr sz="1000" dirty="0">
                <a:solidFill>
                  <a:srgbClr val="B0B8C4"/>
                </a:solidFill>
                <a:latin typeface="Roboto Medium" panose="02000000000000000000" pitchFamily="2" charset="0"/>
                <a:ea typeface="Roboto Medium" panose="02000000000000000000" pitchFamily="2" charset="0"/>
              </a:rPr>
              <a:t>ROLE, BAT CITY COLLECTIVE</a:t>
            </a:r>
          </a:p>
        </p:txBody>
      </p:sp>
      <p:sp>
        <p:nvSpPr>
          <p:cNvPr id="14" name="TextBox 13"/>
          <p:cNvSpPr txBox="1"/>
          <p:nvPr/>
        </p:nvSpPr>
        <p:spPr>
          <a:xfrm>
            <a:off x="640080" y="4243507"/>
            <a:ext cx="10908792" cy="184666"/>
          </a:xfrm>
          <a:prstGeom prst="rect">
            <a:avLst/>
          </a:prstGeom>
          <a:noFill/>
        </p:spPr>
        <p:txBody>
          <a:bodyPr wrap="square" lIns="0" tIns="0" rIns="0" bIns="0">
            <a:spAutoFit/>
          </a:bodyPr>
          <a:lstStyle/>
          <a:p>
            <a:pPr algn="l"/>
            <a:r>
              <a:rPr sz="1200" b="1" dirty="0">
                <a:solidFill>
                  <a:srgbClr val="FFCC00"/>
                </a:solidFill>
                <a:latin typeface="Roboto Slab" pitchFamily="2" charset="0"/>
              </a:rPr>
              <a:t>CONTEXT</a:t>
            </a:r>
          </a:p>
        </p:txBody>
      </p:sp>
      <p:sp>
        <p:nvSpPr>
          <p:cNvPr id="15" name="Rectangle 14"/>
          <p:cNvSpPr/>
          <p:nvPr/>
        </p:nvSpPr>
        <p:spPr>
          <a:xfrm>
            <a:off x="640080" y="4517827"/>
            <a:ext cx="10908792" cy="16459"/>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16" name="TextBox 15"/>
          <p:cNvSpPr txBox="1"/>
          <p:nvPr/>
        </p:nvSpPr>
        <p:spPr>
          <a:xfrm>
            <a:off x="640080" y="4609267"/>
            <a:ext cx="10908792" cy="246221"/>
          </a:xfrm>
          <a:prstGeom prst="rect">
            <a:avLst/>
          </a:prstGeom>
          <a:noFill/>
        </p:spPr>
        <p:txBody>
          <a:bodyPr wrap="square" lIns="0" tIns="0" rIns="0" bIns="0">
            <a:spAutoFit/>
          </a:bodyPr>
          <a:lstStyle/>
          <a:p>
            <a:pPr algn="l"/>
            <a:r>
              <a:rPr sz="1600" b="1" dirty="0">
                <a:solidFill>
                  <a:srgbClr val="F5F5F5"/>
                </a:solidFill>
                <a:latin typeface="Roboto Slab" pitchFamily="2" charset="0"/>
              </a:rPr>
              <a:t>Body text goes here — the setup, context, or additional instructor notes that accompany the mentor quote.</a:t>
            </a:r>
          </a:p>
        </p:txBody>
      </p:sp>
      <p:pic>
        <p:nvPicPr>
          <p:cNvPr id="18" name="Picture 17">
            <a:extLst>
              <a:ext uri="{FF2B5EF4-FFF2-40B4-BE49-F238E27FC236}">
                <a16:creationId xmlns:a16="http://schemas.microsoft.com/office/drawing/2014/main" id="{3F9FD34E-5522-3F53-3398-768B0F8BDEFD}"/>
              </a:ext>
            </a:extLst>
          </p:cNvPr>
          <p:cNvPicPr>
            <a:picLocks noChangeAspect="1"/>
          </p:cNvPicPr>
          <p:nvPr/>
        </p:nvPicPr>
        <p:blipFill>
          <a:blip r:embed="rId3"/>
          <a:srcRect/>
          <a:stretch/>
        </p:blipFill>
        <p:spPr>
          <a:xfrm>
            <a:off x="4725900" y="6473952"/>
            <a:ext cx="2526839" cy="365760"/>
          </a:xfrm>
          <a:prstGeom prst="rect">
            <a:avLst/>
          </a:prstGeom>
        </p:spPr>
      </p:pic>
      <p:pic>
        <p:nvPicPr>
          <p:cNvPr id="19" name="Picture 18">
            <a:extLst>
              <a:ext uri="{FF2B5EF4-FFF2-40B4-BE49-F238E27FC236}">
                <a16:creationId xmlns:a16="http://schemas.microsoft.com/office/drawing/2014/main" id="{1B4EC8D5-733F-8DF9-A50A-46E6B2A4852D}"/>
              </a:ext>
            </a:extLst>
          </p:cNvPr>
          <p:cNvPicPr>
            <a:picLocks noChangeAspect="1"/>
          </p:cNvPicPr>
          <p:nvPr/>
        </p:nvPicPr>
        <p:blipFill>
          <a:blip r:embed="rId4"/>
          <a:stretch>
            <a:fillRect/>
          </a:stretch>
        </p:blipFill>
        <p:spPr>
          <a:xfrm>
            <a:off x="9811911" y="274320"/>
            <a:ext cx="1992993" cy="130044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47472" y="274320"/>
            <a:ext cx="11676888" cy="6126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pic>
        <p:nvPicPr>
          <p:cNvPr id="3" name="Picture 2" descr="image.png"/>
          <p:cNvPicPr>
            <a:picLocks noChangeAspect="1"/>
          </p:cNvPicPr>
          <p:nvPr/>
        </p:nvPicPr>
        <p:blipFill>
          <a:blip r:embed="rId2"/>
          <a:stretch>
            <a:fillRect/>
          </a:stretch>
        </p:blipFill>
        <p:spPr>
          <a:xfrm>
            <a:off x="256032" y="182880"/>
            <a:ext cx="11676888" cy="6126480"/>
          </a:xfrm>
          <a:prstGeom prst="rect">
            <a:avLst/>
          </a:prstGeom>
          <a:ln w="50800">
            <a:solidFill>
              <a:srgbClr val="000000"/>
            </a:solidFill>
          </a:ln>
        </p:spPr>
      </p:pic>
      <p:sp>
        <p:nvSpPr>
          <p:cNvPr id="5" name="TextBox 4"/>
          <p:cNvSpPr txBox="1"/>
          <p:nvPr/>
        </p:nvSpPr>
        <p:spPr>
          <a:xfrm>
            <a:off x="512064" y="411480"/>
            <a:ext cx="8869680" cy="677108"/>
          </a:xfrm>
          <a:prstGeom prst="rect">
            <a:avLst/>
          </a:prstGeom>
          <a:noFill/>
        </p:spPr>
        <p:txBody>
          <a:bodyPr wrap="square" lIns="0" tIns="0" rIns="0" bIns="0">
            <a:spAutoFit/>
          </a:bodyPr>
          <a:lstStyle/>
          <a:p>
            <a:pPr algn="l"/>
            <a:r>
              <a:rPr sz="4400" b="1" dirty="0">
                <a:solidFill>
                  <a:srgbClr val="F5F5F5"/>
                </a:solidFill>
                <a:latin typeface="Roboto Slab" pitchFamily="2" charset="0"/>
              </a:rPr>
              <a:t>Architecture Overview</a:t>
            </a:r>
          </a:p>
        </p:txBody>
      </p:sp>
      <p:sp>
        <p:nvSpPr>
          <p:cNvPr id="6" name="Rectangle 5"/>
          <p:cNvSpPr/>
          <p:nvPr/>
        </p:nvSpPr>
        <p:spPr>
          <a:xfrm>
            <a:off x="384048" y="1719072"/>
            <a:ext cx="11420856" cy="4462272"/>
          </a:xfrm>
          <a:prstGeom prst="rect">
            <a:avLst/>
          </a:prstGeom>
          <a:solidFill>
            <a:srgbClr val="0A0A0A">
              <a:alpha val="75000"/>
            </a:srgbClr>
          </a:solidFill>
          <a:ln w="381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8" name="TextBox 7"/>
          <p:cNvSpPr txBox="1"/>
          <p:nvPr/>
        </p:nvSpPr>
        <p:spPr>
          <a:xfrm>
            <a:off x="640080" y="1883664"/>
            <a:ext cx="10908792" cy="184666"/>
          </a:xfrm>
          <a:prstGeom prst="rect">
            <a:avLst/>
          </a:prstGeom>
          <a:noFill/>
        </p:spPr>
        <p:txBody>
          <a:bodyPr wrap="square" lIns="0" tIns="0" rIns="0" bIns="0">
            <a:spAutoFit/>
          </a:bodyPr>
          <a:lstStyle/>
          <a:p>
            <a:pPr algn="l"/>
            <a:r>
              <a:rPr sz="1200" b="1" dirty="0">
                <a:solidFill>
                  <a:srgbClr val="FFCC00"/>
                </a:solidFill>
                <a:latin typeface="Roboto Slab" pitchFamily="2" charset="0"/>
              </a:rPr>
              <a:t>PROGRAM STRUCTURE</a:t>
            </a:r>
          </a:p>
        </p:txBody>
      </p:sp>
      <p:sp>
        <p:nvSpPr>
          <p:cNvPr id="9" name="Rectangle 8"/>
          <p:cNvSpPr/>
          <p:nvPr/>
        </p:nvSpPr>
        <p:spPr>
          <a:xfrm>
            <a:off x="640080" y="2157984"/>
            <a:ext cx="10908792" cy="16459"/>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10" name="Rectangle 9"/>
          <p:cNvSpPr/>
          <p:nvPr/>
        </p:nvSpPr>
        <p:spPr>
          <a:xfrm>
            <a:off x="640080" y="2249424"/>
            <a:ext cx="10908792" cy="3675888"/>
          </a:xfrm>
          <a:prstGeom prst="rect">
            <a:avLst/>
          </a:prstGeom>
          <a:solidFill>
            <a:srgbClr val="081208"/>
          </a:solidFill>
          <a:ln w="25400">
            <a:solidFill>
              <a:srgbClr val="39FF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11" name="TextBox 10"/>
          <p:cNvSpPr txBox="1"/>
          <p:nvPr/>
        </p:nvSpPr>
        <p:spPr>
          <a:xfrm>
            <a:off x="1097280" y="3858768"/>
            <a:ext cx="9994392" cy="299157"/>
          </a:xfrm>
          <a:prstGeom prst="rect">
            <a:avLst/>
          </a:prstGeom>
          <a:noFill/>
        </p:spPr>
        <p:txBody>
          <a:bodyPr wrap="square" lIns="36576" tIns="10972" rIns="36576" bIns="10972">
            <a:spAutoFit/>
          </a:bodyPr>
          <a:lstStyle/>
          <a:p>
            <a:pPr algn="ctr"/>
            <a:r>
              <a:rPr sz="1800" dirty="0">
                <a:solidFill>
                  <a:srgbClr val="39FF14"/>
                </a:solidFill>
                <a:latin typeface="Roboto Mono Medium" pitchFamily="2" charset="0"/>
              </a:rPr>
              <a:t>[ ARCHITECTURE PNG GOES HERE ]</a:t>
            </a:r>
          </a:p>
        </p:txBody>
      </p:sp>
      <p:sp>
        <p:nvSpPr>
          <p:cNvPr id="12" name="TextBox 11"/>
          <p:cNvSpPr txBox="1"/>
          <p:nvPr/>
        </p:nvSpPr>
        <p:spPr>
          <a:xfrm>
            <a:off x="1097280" y="4334256"/>
            <a:ext cx="9994392" cy="191435"/>
          </a:xfrm>
          <a:prstGeom prst="rect">
            <a:avLst/>
          </a:prstGeom>
          <a:noFill/>
        </p:spPr>
        <p:txBody>
          <a:bodyPr wrap="square" lIns="36576" tIns="10972" rIns="36576" bIns="10972">
            <a:spAutoFit/>
          </a:bodyPr>
          <a:lstStyle/>
          <a:p>
            <a:pPr algn="ctr"/>
            <a:r>
              <a:rPr sz="1100" b="1" dirty="0">
                <a:solidFill>
                  <a:srgbClr val="B0B8C4"/>
                </a:solidFill>
                <a:latin typeface="Roboto Slab" pitchFamily="2" charset="0"/>
              </a:rPr>
              <a:t>Place the architecture diagram PNG here</a:t>
            </a:r>
          </a:p>
        </p:txBody>
      </p:sp>
      <p:pic>
        <p:nvPicPr>
          <p:cNvPr id="14" name="Picture 13">
            <a:extLst>
              <a:ext uri="{FF2B5EF4-FFF2-40B4-BE49-F238E27FC236}">
                <a16:creationId xmlns:a16="http://schemas.microsoft.com/office/drawing/2014/main" id="{8E2BDE03-85B5-88C8-E0E6-0FF8AA5A2768}"/>
              </a:ext>
            </a:extLst>
          </p:cNvPr>
          <p:cNvPicPr>
            <a:picLocks noChangeAspect="1"/>
          </p:cNvPicPr>
          <p:nvPr/>
        </p:nvPicPr>
        <p:blipFill>
          <a:blip r:embed="rId3"/>
          <a:srcRect/>
          <a:stretch/>
        </p:blipFill>
        <p:spPr>
          <a:xfrm>
            <a:off x="4725900" y="6473952"/>
            <a:ext cx="2526839" cy="365760"/>
          </a:xfrm>
          <a:prstGeom prst="rect">
            <a:avLst/>
          </a:prstGeom>
        </p:spPr>
      </p:pic>
      <p:pic>
        <p:nvPicPr>
          <p:cNvPr id="15" name="Picture 14">
            <a:extLst>
              <a:ext uri="{FF2B5EF4-FFF2-40B4-BE49-F238E27FC236}">
                <a16:creationId xmlns:a16="http://schemas.microsoft.com/office/drawing/2014/main" id="{117D9C7C-FF8A-D1DF-E099-99A3D1F4FE3A}"/>
              </a:ext>
            </a:extLst>
          </p:cNvPr>
          <p:cNvPicPr>
            <a:picLocks noChangeAspect="1"/>
          </p:cNvPicPr>
          <p:nvPr/>
        </p:nvPicPr>
        <p:blipFill>
          <a:blip r:embed="rId4"/>
          <a:stretch>
            <a:fillRect/>
          </a:stretch>
        </p:blipFill>
        <p:spPr>
          <a:xfrm>
            <a:off x="9811911" y="274320"/>
            <a:ext cx="1992993" cy="130044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47472" y="274320"/>
            <a:ext cx="11676888" cy="6126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pic>
        <p:nvPicPr>
          <p:cNvPr id="3" name="Picture 2" descr="image.png"/>
          <p:cNvPicPr>
            <a:picLocks noChangeAspect="1"/>
          </p:cNvPicPr>
          <p:nvPr/>
        </p:nvPicPr>
        <p:blipFill>
          <a:blip r:embed="rId2"/>
          <a:stretch>
            <a:fillRect/>
          </a:stretch>
        </p:blipFill>
        <p:spPr>
          <a:xfrm>
            <a:off x="256032" y="182880"/>
            <a:ext cx="11676888" cy="6126480"/>
          </a:xfrm>
          <a:prstGeom prst="rect">
            <a:avLst/>
          </a:prstGeom>
          <a:ln w="50800">
            <a:solidFill>
              <a:srgbClr val="000000"/>
            </a:solidFill>
          </a:ln>
        </p:spPr>
      </p:pic>
      <p:sp>
        <p:nvSpPr>
          <p:cNvPr id="5" name="TextBox 4"/>
          <p:cNvSpPr txBox="1"/>
          <p:nvPr/>
        </p:nvSpPr>
        <p:spPr>
          <a:xfrm>
            <a:off x="512064" y="411480"/>
            <a:ext cx="8869680" cy="677108"/>
          </a:xfrm>
          <a:prstGeom prst="rect">
            <a:avLst/>
          </a:prstGeom>
          <a:noFill/>
        </p:spPr>
        <p:txBody>
          <a:bodyPr wrap="square" lIns="0" tIns="0" rIns="0" bIns="0">
            <a:spAutoFit/>
          </a:bodyPr>
          <a:lstStyle/>
          <a:p>
            <a:pPr algn="l"/>
            <a:r>
              <a:rPr sz="4400" b="1" dirty="0">
                <a:solidFill>
                  <a:srgbClr val="F5F5F5"/>
                </a:solidFill>
                <a:latin typeface="Roboto Slab" pitchFamily="2" charset="0"/>
              </a:rPr>
              <a:t>Overview</a:t>
            </a:r>
          </a:p>
        </p:txBody>
      </p:sp>
      <p:sp>
        <p:nvSpPr>
          <p:cNvPr id="6" name="Rectangle 5"/>
          <p:cNvSpPr/>
          <p:nvPr/>
        </p:nvSpPr>
        <p:spPr>
          <a:xfrm>
            <a:off x="384048" y="1719072"/>
            <a:ext cx="11420856" cy="4462272"/>
          </a:xfrm>
          <a:prstGeom prst="rect">
            <a:avLst/>
          </a:prstGeom>
          <a:solidFill>
            <a:srgbClr val="0A0A0A">
              <a:alpha val="75000"/>
            </a:srgbClr>
          </a:solidFill>
          <a:ln w="381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8" name="TextBox 7"/>
          <p:cNvSpPr txBox="1"/>
          <p:nvPr/>
        </p:nvSpPr>
        <p:spPr>
          <a:xfrm>
            <a:off x="640080" y="1883664"/>
            <a:ext cx="10908792" cy="184666"/>
          </a:xfrm>
          <a:prstGeom prst="rect">
            <a:avLst/>
          </a:prstGeom>
          <a:noFill/>
        </p:spPr>
        <p:txBody>
          <a:bodyPr wrap="square" lIns="0" tIns="0" rIns="0" bIns="0">
            <a:spAutoFit/>
          </a:bodyPr>
          <a:lstStyle/>
          <a:p>
            <a:pPr algn="l"/>
            <a:r>
              <a:rPr sz="1200" b="1" dirty="0">
                <a:solidFill>
                  <a:srgbClr val="FFCC00"/>
                </a:solidFill>
                <a:latin typeface="Roboto Slab" pitchFamily="2" charset="0"/>
              </a:rPr>
              <a:t>WELCOME</a:t>
            </a:r>
          </a:p>
        </p:txBody>
      </p:sp>
      <p:sp>
        <p:nvSpPr>
          <p:cNvPr id="9" name="Rectangle 8"/>
          <p:cNvSpPr/>
          <p:nvPr/>
        </p:nvSpPr>
        <p:spPr>
          <a:xfrm>
            <a:off x="640080" y="2157984"/>
            <a:ext cx="10908792" cy="16459"/>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10" name="TextBox 9"/>
          <p:cNvSpPr txBox="1"/>
          <p:nvPr/>
        </p:nvSpPr>
        <p:spPr>
          <a:xfrm>
            <a:off x="640080" y="2249424"/>
            <a:ext cx="10908792" cy="492443"/>
          </a:xfrm>
          <a:prstGeom prst="rect">
            <a:avLst/>
          </a:prstGeom>
          <a:noFill/>
        </p:spPr>
        <p:txBody>
          <a:bodyPr wrap="square" lIns="0" tIns="0" rIns="0" bIns="0">
            <a:spAutoFit/>
          </a:bodyPr>
          <a:lstStyle/>
          <a:p>
            <a:pPr algn="l"/>
            <a:r>
              <a:rPr sz="1600" b="1" dirty="0">
                <a:solidFill>
                  <a:srgbClr val="F5F5F5"/>
                </a:solidFill>
                <a:latin typeface="Roboto Slab" pitchFamily="2" charset="0"/>
              </a:rPr>
              <a:t>This semester you'll learn Python by building a complete video game for a fictional client. No prior programming experience required — just curiosity and a willingness to work through problems one step at a time.</a:t>
            </a:r>
          </a:p>
        </p:txBody>
      </p:sp>
      <p:sp>
        <p:nvSpPr>
          <p:cNvPr id="11" name="TextBox 10"/>
          <p:cNvSpPr txBox="1"/>
          <p:nvPr/>
        </p:nvSpPr>
        <p:spPr>
          <a:xfrm>
            <a:off x="640080" y="3145536"/>
            <a:ext cx="10908792" cy="738664"/>
          </a:xfrm>
          <a:prstGeom prst="rect">
            <a:avLst/>
          </a:prstGeom>
          <a:noFill/>
        </p:spPr>
        <p:txBody>
          <a:bodyPr wrap="square" lIns="0" tIns="0" rIns="0" bIns="0">
            <a:spAutoFit/>
          </a:bodyPr>
          <a:lstStyle/>
          <a:p>
            <a:pPr algn="l"/>
            <a:r>
              <a:rPr sz="1600" b="1" dirty="0">
                <a:solidFill>
                  <a:srgbClr val="F5F5F5"/>
                </a:solidFill>
                <a:latin typeface="Roboto Slab" pitchFamily="2" charset="0"/>
              </a:rPr>
              <a:t>Our textbook is Starting Out with Python, 6th Edition by Tony Gaddis. We cover Chapters 2–11 across five modules, each building on the last. Every lab adds to the same codebase — by the end of the semester you'll have a working game.</a:t>
            </a:r>
          </a:p>
        </p:txBody>
      </p:sp>
      <p:sp>
        <p:nvSpPr>
          <p:cNvPr id="12" name="TextBox 11"/>
          <p:cNvSpPr txBox="1"/>
          <p:nvPr/>
        </p:nvSpPr>
        <p:spPr>
          <a:xfrm>
            <a:off x="640080" y="4123944"/>
            <a:ext cx="10908792" cy="184666"/>
          </a:xfrm>
          <a:prstGeom prst="rect">
            <a:avLst/>
          </a:prstGeom>
          <a:noFill/>
        </p:spPr>
        <p:txBody>
          <a:bodyPr wrap="square" lIns="0" tIns="0" rIns="0" bIns="0">
            <a:spAutoFit/>
          </a:bodyPr>
          <a:lstStyle/>
          <a:p>
            <a:pPr algn="l"/>
            <a:r>
              <a:rPr sz="1200" b="1" dirty="0">
                <a:solidFill>
                  <a:srgbClr val="FFCC00"/>
                </a:solidFill>
                <a:latin typeface="Roboto Slab" pitchFamily="2" charset="0"/>
              </a:rPr>
              <a:t>WHAT YOU WILL BUILD</a:t>
            </a:r>
          </a:p>
        </p:txBody>
      </p:sp>
      <p:sp>
        <p:nvSpPr>
          <p:cNvPr id="13" name="Rectangle 12"/>
          <p:cNvSpPr/>
          <p:nvPr/>
        </p:nvSpPr>
        <p:spPr>
          <a:xfrm>
            <a:off x="640080" y="4398264"/>
            <a:ext cx="10908792" cy="16459"/>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14" name="TextBox 13"/>
          <p:cNvSpPr txBox="1"/>
          <p:nvPr/>
        </p:nvSpPr>
        <p:spPr>
          <a:xfrm>
            <a:off x="640080" y="4489704"/>
            <a:ext cx="10908792" cy="731520"/>
          </a:xfrm>
          <a:prstGeom prst="rect">
            <a:avLst/>
          </a:prstGeom>
          <a:noFill/>
        </p:spPr>
        <p:txBody>
          <a:bodyPr wrap="square" lIns="0" tIns="0" rIns="0" bIns="0">
            <a:spAutoFit/>
          </a:bodyPr>
          <a:lstStyle/>
          <a:p>
            <a:pPr algn="l"/>
            <a:r>
              <a:rPr sz="1600" b="1" dirty="0">
                <a:solidFill>
                  <a:srgbClr val="F5F5F5"/>
                </a:solidFill>
                <a:latin typeface="Roboto Slab" pitchFamily="2" charset="0"/>
              </a:rPr>
              <a:t>Deep in the Heart: A Lone Star Journey — a text-based Texas road trip game built incrementally across five modules using Python. Each module introduces new concepts that get applied directly to the game, so your code always does something real.</a:t>
            </a:r>
          </a:p>
        </p:txBody>
      </p:sp>
      <p:pic>
        <p:nvPicPr>
          <p:cNvPr id="16" name="Picture 15">
            <a:extLst>
              <a:ext uri="{FF2B5EF4-FFF2-40B4-BE49-F238E27FC236}">
                <a16:creationId xmlns:a16="http://schemas.microsoft.com/office/drawing/2014/main" id="{FB947579-0B19-5B82-2219-E3E3DE3C67E0}"/>
              </a:ext>
            </a:extLst>
          </p:cNvPr>
          <p:cNvPicPr>
            <a:picLocks noChangeAspect="1"/>
          </p:cNvPicPr>
          <p:nvPr/>
        </p:nvPicPr>
        <p:blipFill>
          <a:blip r:embed="rId3"/>
          <a:srcRect/>
          <a:stretch/>
        </p:blipFill>
        <p:spPr>
          <a:xfrm>
            <a:off x="4725900" y="6473952"/>
            <a:ext cx="2526839" cy="365760"/>
          </a:xfrm>
          <a:prstGeom prst="rect">
            <a:avLst/>
          </a:prstGeom>
        </p:spPr>
      </p:pic>
      <p:pic>
        <p:nvPicPr>
          <p:cNvPr id="17" name="Picture 16">
            <a:extLst>
              <a:ext uri="{FF2B5EF4-FFF2-40B4-BE49-F238E27FC236}">
                <a16:creationId xmlns:a16="http://schemas.microsoft.com/office/drawing/2014/main" id="{57AD9EE2-F5C4-02CE-BEFC-43FF318C4F5D}"/>
              </a:ext>
            </a:extLst>
          </p:cNvPr>
          <p:cNvPicPr>
            <a:picLocks noChangeAspect="1"/>
          </p:cNvPicPr>
          <p:nvPr/>
        </p:nvPicPr>
        <p:blipFill>
          <a:blip r:embed="rId4"/>
          <a:stretch>
            <a:fillRect/>
          </a:stretch>
        </p:blipFill>
        <p:spPr>
          <a:xfrm>
            <a:off x="9811911" y="274320"/>
            <a:ext cx="1992993" cy="130044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47472" y="274320"/>
            <a:ext cx="11676888" cy="6126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pic>
        <p:nvPicPr>
          <p:cNvPr id="3" name="Picture 2" descr="image.png"/>
          <p:cNvPicPr>
            <a:picLocks noChangeAspect="1"/>
          </p:cNvPicPr>
          <p:nvPr/>
        </p:nvPicPr>
        <p:blipFill>
          <a:blip r:embed="rId2"/>
          <a:stretch>
            <a:fillRect/>
          </a:stretch>
        </p:blipFill>
        <p:spPr>
          <a:xfrm>
            <a:off x="256032" y="182880"/>
            <a:ext cx="11676888" cy="6126480"/>
          </a:xfrm>
          <a:prstGeom prst="rect">
            <a:avLst/>
          </a:prstGeom>
          <a:ln w="50800">
            <a:solidFill>
              <a:srgbClr val="000000"/>
            </a:solidFill>
          </a:ln>
        </p:spPr>
      </p:pic>
      <p:sp>
        <p:nvSpPr>
          <p:cNvPr id="5" name="TextBox 4"/>
          <p:cNvSpPr txBox="1"/>
          <p:nvPr/>
        </p:nvSpPr>
        <p:spPr>
          <a:xfrm>
            <a:off x="512064" y="411480"/>
            <a:ext cx="8869680" cy="677108"/>
          </a:xfrm>
          <a:prstGeom prst="rect">
            <a:avLst/>
          </a:prstGeom>
          <a:noFill/>
        </p:spPr>
        <p:txBody>
          <a:bodyPr wrap="square" lIns="0" tIns="0" rIns="0" bIns="0">
            <a:spAutoFit/>
          </a:bodyPr>
          <a:lstStyle/>
          <a:p>
            <a:pPr algn="l"/>
            <a:r>
              <a:rPr sz="4400" b="1" dirty="0">
                <a:solidFill>
                  <a:srgbClr val="F5F5F5"/>
                </a:solidFill>
                <a:latin typeface="Roboto Slab" pitchFamily="2" charset="0"/>
              </a:rPr>
              <a:t>Meet Your Instructor</a:t>
            </a:r>
          </a:p>
        </p:txBody>
      </p:sp>
      <p:sp>
        <p:nvSpPr>
          <p:cNvPr id="6" name="Rectangle 5"/>
          <p:cNvSpPr/>
          <p:nvPr/>
        </p:nvSpPr>
        <p:spPr>
          <a:xfrm>
            <a:off x="384048" y="1719072"/>
            <a:ext cx="11420856" cy="4462272"/>
          </a:xfrm>
          <a:prstGeom prst="rect">
            <a:avLst/>
          </a:prstGeom>
          <a:solidFill>
            <a:srgbClr val="0A0A0A">
              <a:alpha val="75000"/>
            </a:srgbClr>
          </a:solidFill>
          <a:ln w="381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8" name="TextBox 7"/>
          <p:cNvSpPr txBox="1"/>
          <p:nvPr/>
        </p:nvSpPr>
        <p:spPr>
          <a:xfrm>
            <a:off x="640080" y="1883664"/>
            <a:ext cx="10908792" cy="184666"/>
          </a:xfrm>
          <a:prstGeom prst="rect">
            <a:avLst/>
          </a:prstGeom>
          <a:noFill/>
        </p:spPr>
        <p:txBody>
          <a:bodyPr wrap="square" lIns="0" tIns="0" rIns="0" bIns="0">
            <a:spAutoFit/>
          </a:bodyPr>
          <a:lstStyle/>
          <a:p>
            <a:pPr algn="l"/>
            <a:r>
              <a:rPr sz="1200" b="1" dirty="0">
                <a:solidFill>
                  <a:srgbClr val="FFCC00"/>
                </a:solidFill>
                <a:latin typeface="Roboto Slab" pitchFamily="2" charset="0"/>
              </a:rPr>
              <a:t>INSTRUCTOR</a:t>
            </a:r>
          </a:p>
        </p:txBody>
      </p:sp>
      <p:sp>
        <p:nvSpPr>
          <p:cNvPr id="9" name="Rectangle 8"/>
          <p:cNvSpPr/>
          <p:nvPr/>
        </p:nvSpPr>
        <p:spPr>
          <a:xfrm>
            <a:off x="640080" y="2157984"/>
            <a:ext cx="10908792" cy="16459"/>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13" name="TextBox 12"/>
          <p:cNvSpPr txBox="1"/>
          <p:nvPr/>
        </p:nvSpPr>
        <p:spPr>
          <a:xfrm>
            <a:off x="2011679" y="2295144"/>
            <a:ext cx="9491472" cy="384048"/>
          </a:xfrm>
          <a:prstGeom prst="rect">
            <a:avLst/>
          </a:prstGeom>
          <a:noFill/>
        </p:spPr>
        <p:txBody>
          <a:bodyPr wrap="square" lIns="0" tIns="0" rIns="0" bIns="0">
            <a:spAutoFit/>
          </a:bodyPr>
          <a:lstStyle/>
          <a:p>
            <a:pPr algn="l"/>
            <a:r>
              <a:rPr sz="2400" b="1" dirty="0">
                <a:solidFill>
                  <a:srgbClr val="FFCC00"/>
                </a:solidFill>
                <a:latin typeface="Roboto Slab" pitchFamily="2" charset="0"/>
              </a:rPr>
              <a:t>John Newsom</a:t>
            </a:r>
          </a:p>
        </p:txBody>
      </p:sp>
      <p:sp>
        <p:nvSpPr>
          <p:cNvPr id="14" name="TextBox 13"/>
          <p:cNvSpPr txBox="1"/>
          <p:nvPr/>
        </p:nvSpPr>
        <p:spPr>
          <a:xfrm>
            <a:off x="2011679" y="2697479"/>
            <a:ext cx="9491472" cy="153888"/>
          </a:xfrm>
          <a:prstGeom prst="rect">
            <a:avLst/>
          </a:prstGeom>
          <a:noFill/>
        </p:spPr>
        <p:txBody>
          <a:bodyPr wrap="square" lIns="0" tIns="0" rIns="0" bIns="0">
            <a:spAutoFit/>
          </a:bodyPr>
          <a:lstStyle/>
          <a:p>
            <a:pPr algn="l"/>
            <a:r>
              <a:rPr sz="1000" dirty="0">
                <a:solidFill>
                  <a:srgbClr val="B0B8C4"/>
                </a:solidFill>
                <a:latin typeface="Roboto Medium" panose="02000000000000000000" pitchFamily="2" charset="0"/>
                <a:ea typeface="Roboto Medium" panose="02000000000000000000" pitchFamily="2" charset="0"/>
              </a:rPr>
              <a:t>PROFESSOR  •  INFORMATION SYSTEMS &amp; CYBER SECURITY</a:t>
            </a:r>
          </a:p>
        </p:txBody>
      </p:sp>
      <p:sp>
        <p:nvSpPr>
          <p:cNvPr id="15" name="TextBox 14"/>
          <p:cNvSpPr txBox="1"/>
          <p:nvPr/>
        </p:nvSpPr>
        <p:spPr>
          <a:xfrm>
            <a:off x="2011679" y="3008376"/>
            <a:ext cx="9491472" cy="646331"/>
          </a:xfrm>
          <a:prstGeom prst="rect">
            <a:avLst/>
          </a:prstGeom>
          <a:noFill/>
        </p:spPr>
        <p:txBody>
          <a:bodyPr wrap="square" lIns="0" tIns="0" rIns="0" bIns="0">
            <a:spAutoFit/>
          </a:bodyPr>
          <a:lstStyle/>
          <a:p>
            <a:pPr algn="l"/>
            <a:r>
              <a:rPr sz="1400" dirty="0">
                <a:solidFill>
                  <a:srgbClr val="F5F5F5"/>
                </a:solidFill>
                <a:latin typeface="Roboto Medium" panose="02000000000000000000" pitchFamily="2" charset="0"/>
                <a:ea typeface="Roboto Medium" panose="02000000000000000000" pitchFamily="2" charset="0"/>
              </a:rPr>
              <a:t>I've been teaching programming at UT San Antonio since 2020. Before academia, I spent 15 years in industry as an IT manager at small companies — ad agencies and law firms — doing everything from database work to full-stack development.</a:t>
            </a:r>
          </a:p>
        </p:txBody>
      </p:sp>
      <p:sp>
        <p:nvSpPr>
          <p:cNvPr id="16" name="TextBox 15"/>
          <p:cNvSpPr txBox="1"/>
          <p:nvPr/>
        </p:nvSpPr>
        <p:spPr>
          <a:xfrm>
            <a:off x="2011679" y="3886200"/>
            <a:ext cx="9491472" cy="430887"/>
          </a:xfrm>
          <a:prstGeom prst="rect">
            <a:avLst/>
          </a:prstGeom>
          <a:noFill/>
        </p:spPr>
        <p:txBody>
          <a:bodyPr wrap="square" lIns="0" tIns="0" rIns="0" bIns="0">
            <a:spAutoFit/>
          </a:bodyPr>
          <a:lstStyle/>
          <a:p>
            <a:pPr algn="l"/>
            <a:r>
              <a:rPr sz="1400" dirty="0">
                <a:solidFill>
                  <a:srgbClr val="F5F5F5"/>
                </a:solidFill>
                <a:latin typeface="Roboto Medium" panose="02000000000000000000" pitchFamily="2" charset="0"/>
                <a:ea typeface="Roboto Medium" panose="02000000000000000000" pitchFamily="2" charset="0"/>
              </a:rPr>
              <a:t>My teaching philosophy: "Build a little, test it, fix it." We tackle Python one concept at a time, always with hands-on practice.</a:t>
            </a:r>
          </a:p>
        </p:txBody>
      </p:sp>
      <p:sp>
        <p:nvSpPr>
          <p:cNvPr id="17" name="TextBox 16"/>
          <p:cNvSpPr txBox="1"/>
          <p:nvPr/>
        </p:nvSpPr>
        <p:spPr>
          <a:xfrm>
            <a:off x="640080" y="4882336"/>
            <a:ext cx="10908792" cy="184666"/>
          </a:xfrm>
          <a:prstGeom prst="rect">
            <a:avLst/>
          </a:prstGeom>
          <a:noFill/>
        </p:spPr>
        <p:txBody>
          <a:bodyPr wrap="square" lIns="0" tIns="0" rIns="0" bIns="0">
            <a:spAutoFit/>
          </a:bodyPr>
          <a:lstStyle/>
          <a:p>
            <a:pPr algn="l"/>
            <a:r>
              <a:rPr sz="1200" b="1" dirty="0">
                <a:solidFill>
                  <a:srgbClr val="FFCC00"/>
                </a:solidFill>
                <a:latin typeface="Roboto Slab" pitchFamily="2" charset="0"/>
              </a:rPr>
              <a:t>CONTACT</a:t>
            </a:r>
          </a:p>
        </p:txBody>
      </p:sp>
      <p:sp>
        <p:nvSpPr>
          <p:cNvPr id="18" name="Rectangle 17"/>
          <p:cNvSpPr/>
          <p:nvPr/>
        </p:nvSpPr>
        <p:spPr>
          <a:xfrm>
            <a:off x="640080" y="5156656"/>
            <a:ext cx="10908792" cy="16459"/>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19" name="Rectangle 18"/>
          <p:cNvSpPr/>
          <p:nvPr/>
        </p:nvSpPr>
        <p:spPr>
          <a:xfrm>
            <a:off x="640080" y="5248096"/>
            <a:ext cx="2654046" cy="658368"/>
          </a:xfrm>
          <a:prstGeom prst="rect">
            <a:avLst/>
          </a:prstGeom>
          <a:solidFill>
            <a:schemeClr val="bg1">
              <a:alpha val="10000"/>
            </a:schemeClr>
          </a:solidFill>
          <a:ln w="12700">
            <a:solidFill>
              <a:srgbClr val="3232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20" name="TextBox 19"/>
          <p:cNvSpPr txBox="1"/>
          <p:nvPr/>
        </p:nvSpPr>
        <p:spPr>
          <a:xfrm>
            <a:off x="713232" y="5302960"/>
            <a:ext cx="2507741" cy="138499"/>
          </a:xfrm>
          <a:prstGeom prst="rect">
            <a:avLst/>
          </a:prstGeom>
          <a:noFill/>
        </p:spPr>
        <p:txBody>
          <a:bodyPr wrap="square" lIns="0" tIns="0" rIns="0" bIns="0">
            <a:spAutoFit/>
          </a:bodyPr>
          <a:lstStyle/>
          <a:p>
            <a:pPr algn="l"/>
            <a:r>
              <a:rPr sz="900" dirty="0">
                <a:solidFill>
                  <a:srgbClr val="0055FF"/>
                </a:solidFill>
                <a:latin typeface="Roboto Medium" panose="02000000000000000000" pitchFamily="2" charset="0"/>
                <a:ea typeface="Roboto Medium" panose="02000000000000000000" pitchFamily="2" charset="0"/>
              </a:rPr>
              <a:t>OFFICE HOURS</a:t>
            </a:r>
          </a:p>
        </p:txBody>
      </p:sp>
      <p:sp>
        <p:nvSpPr>
          <p:cNvPr id="21" name="TextBox 20"/>
          <p:cNvSpPr txBox="1"/>
          <p:nvPr/>
        </p:nvSpPr>
        <p:spPr>
          <a:xfrm>
            <a:off x="713232" y="5558992"/>
            <a:ext cx="2507741" cy="184666"/>
          </a:xfrm>
          <a:prstGeom prst="rect">
            <a:avLst/>
          </a:prstGeom>
          <a:noFill/>
        </p:spPr>
        <p:txBody>
          <a:bodyPr wrap="square" lIns="0" tIns="0" rIns="0" bIns="0">
            <a:spAutoFit/>
          </a:bodyPr>
          <a:lstStyle/>
          <a:p>
            <a:pPr algn="l"/>
            <a:r>
              <a:rPr sz="1200" dirty="0">
                <a:solidFill>
                  <a:srgbClr val="F5F5F5"/>
                </a:solidFill>
                <a:latin typeface="Roboto Medium" panose="02000000000000000000" pitchFamily="2" charset="0"/>
                <a:ea typeface="Roboto Medium" panose="02000000000000000000" pitchFamily="2" charset="0"/>
              </a:rPr>
              <a:t>Tuesdays 6:00 PM CT</a:t>
            </a:r>
          </a:p>
        </p:txBody>
      </p:sp>
      <p:sp>
        <p:nvSpPr>
          <p:cNvPr id="22" name="Rectangle 21"/>
          <p:cNvSpPr/>
          <p:nvPr/>
        </p:nvSpPr>
        <p:spPr>
          <a:xfrm>
            <a:off x="3367278" y="5248096"/>
            <a:ext cx="2654046" cy="658368"/>
          </a:xfrm>
          <a:prstGeom prst="rect">
            <a:avLst/>
          </a:prstGeom>
          <a:solidFill>
            <a:schemeClr val="bg1">
              <a:alpha val="10000"/>
            </a:schemeClr>
          </a:solidFill>
          <a:ln w="12700">
            <a:solidFill>
              <a:srgbClr val="3232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23" name="TextBox 22"/>
          <p:cNvSpPr txBox="1"/>
          <p:nvPr/>
        </p:nvSpPr>
        <p:spPr>
          <a:xfrm>
            <a:off x="3440430" y="5302960"/>
            <a:ext cx="2507741" cy="138499"/>
          </a:xfrm>
          <a:prstGeom prst="rect">
            <a:avLst/>
          </a:prstGeom>
          <a:noFill/>
        </p:spPr>
        <p:txBody>
          <a:bodyPr wrap="square" lIns="0" tIns="0" rIns="0" bIns="0">
            <a:spAutoFit/>
          </a:bodyPr>
          <a:lstStyle/>
          <a:p>
            <a:pPr algn="l"/>
            <a:r>
              <a:rPr sz="900" dirty="0">
                <a:solidFill>
                  <a:srgbClr val="0055FF"/>
                </a:solidFill>
                <a:latin typeface="Roboto Medium" panose="02000000000000000000" pitchFamily="2" charset="0"/>
                <a:ea typeface="Roboto Medium" panose="02000000000000000000" pitchFamily="2" charset="0"/>
              </a:rPr>
              <a:t>EMAIL</a:t>
            </a:r>
          </a:p>
        </p:txBody>
      </p:sp>
      <p:sp>
        <p:nvSpPr>
          <p:cNvPr id="24" name="TextBox 23"/>
          <p:cNvSpPr txBox="1"/>
          <p:nvPr/>
        </p:nvSpPr>
        <p:spPr>
          <a:xfrm>
            <a:off x="3440430" y="5558992"/>
            <a:ext cx="2507741" cy="184666"/>
          </a:xfrm>
          <a:prstGeom prst="rect">
            <a:avLst/>
          </a:prstGeom>
          <a:noFill/>
        </p:spPr>
        <p:txBody>
          <a:bodyPr wrap="square" lIns="0" tIns="0" rIns="0" bIns="0">
            <a:spAutoFit/>
          </a:bodyPr>
          <a:lstStyle/>
          <a:p>
            <a:pPr algn="l"/>
            <a:r>
              <a:rPr sz="1200" dirty="0" err="1">
                <a:solidFill>
                  <a:srgbClr val="F5F5F5"/>
                </a:solidFill>
                <a:latin typeface="Roboto Medium" panose="02000000000000000000" pitchFamily="2" charset="0"/>
                <a:ea typeface="Roboto Medium" panose="02000000000000000000" pitchFamily="2" charset="0"/>
              </a:rPr>
              <a:t>john.newsom@utsa.edu</a:t>
            </a:r>
            <a:endParaRPr sz="1200" dirty="0">
              <a:solidFill>
                <a:srgbClr val="F5F5F5"/>
              </a:solidFill>
              <a:latin typeface="Roboto Medium" panose="02000000000000000000" pitchFamily="2" charset="0"/>
              <a:ea typeface="Roboto Medium" panose="02000000000000000000" pitchFamily="2" charset="0"/>
            </a:endParaRPr>
          </a:p>
        </p:txBody>
      </p:sp>
      <p:sp>
        <p:nvSpPr>
          <p:cNvPr id="25" name="Rectangle 24"/>
          <p:cNvSpPr/>
          <p:nvPr/>
        </p:nvSpPr>
        <p:spPr>
          <a:xfrm>
            <a:off x="6094476" y="5248096"/>
            <a:ext cx="2654046" cy="658368"/>
          </a:xfrm>
          <a:prstGeom prst="rect">
            <a:avLst/>
          </a:prstGeom>
          <a:solidFill>
            <a:schemeClr val="bg1">
              <a:alpha val="10000"/>
            </a:schemeClr>
          </a:solidFill>
          <a:ln w="12700">
            <a:solidFill>
              <a:srgbClr val="3232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26" name="TextBox 25"/>
          <p:cNvSpPr txBox="1"/>
          <p:nvPr/>
        </p:nvSpPr>
        <p:spPr>
          <a:xfrm>
            <a:off x="6167628" y="5302960"/>
            <a:ext cx="2507741" cy="138499"/>
          </a:xfrm>
          <a:prstGeom prst="rect">
            <a:avLst/>
          </a:prstGeom>
          <a:noFill/>
        </p:spPr>
        <p:txBody>
          <a:bodyPr wrap="square" lIns="0" tIns="0" rIns="0" bIns="0">
            <a:spAutoFit/>
          </a:bodyPr>
          <a:lstStyle/>
          <a:p>
            <a:pPr algn="l"/>
            <a:r>
              <a:rPr sz="900" dirty="0">
                <a:solidFill>
                  <a:srgbClr val="0055FF"/>
                </a:solidFill>
                <a:latin typeface="Roboto Medium" panose="02000000000000000000" pitchFamily="2" charset="0"/>
                <a:ea typeface="Roboto Medium" panose="02000000000000000000" pitchFamily="2" charset="0"/>
              </a:rPr>
              <a:t>CALENDLY</a:t>
            </a:r>
          </a:p>
        </p:txBody>
      </p:sp>
      <p:sp>
        <p:nvSpPr>
          <p:cNvPr id="27" name="TextBox 26"/>
          <p:cNvSpPr txBox="1"/>
          <p:nvPr/>
        </p:nvSpPr>
        <p:spPr>
          <a:xfrm>
            <a:off x="6167628" y="5558992"/>
            <a:ext cx="2507741" cy="184666"/>
          </a:xfrm>
          <a:prstGeom prst="rect">
            <a:avLst/>
          </a:prstGeom>
          <a:noFill/>
        </p:spPr>
        <p:txBody>
          <a:bodyPr wrap="square" lIns="0" tIns="0" rIns="0" bIns="0">
            <a:spAutoFit/>
          </a:bodyPr>
          <a:lstStyle/>
          <a:p>
            <a:pPr algn="l"/>
            <a:r>
              <a:rPr sz="1200" dirty="0" err="1">
                <a:solidFill>
                  <a:srgbClr val="F5F5F5"/>
                </a:solidFill>
                <a:latin typeface="Roboto Medium" panose="02000000000000000000" pitchFamily="2" charset="0"/>
                <a:ea typeface="Roboto Medium" panose="02000000000000000000" pitchFamily="2" charset="0"/>
              </a:rPr>
              <a:t>calendly.com</a:t>
            </a:r>
            <a:r>
              <a:rPr sz="1200" dirty="0">
                <a:solidFill>
                  <a:srgbClr val="F5F5F5"/>
                </a:solidFill>
                <a:latin typeface="Roboto Medium" panose="02000000000000000000" pitchFamily="2" charset="0"/>
                <a:ea typeface="Roboto Medium" panose="02000000000000000000" pitchFamily="2" charset="0"/>
              </a:rPr>
              <a:t>/john-</a:t>
            </a:r>
            <a:r>
              <a:rPr sz="1200" dirty="0" err="1">
                <a:solidFill>
                  <a:srgbClr val="F5F5F5"/>
                </a:solidFill>
                <a:latin typeface="Roboto Medium" panose="02000000000000000000" pitchFamily="2" charset="0"/>
                <a:ea typeface="Roboto Medium" panose="02000000000000000000" pitchFamily="2" charset="0"/>
              </a:rPr>
              <a:t>newsom</a:t>
            </a:r>
            <a:r>
              <a:rPr sz="1200" dirty="0">
                <a:solidFill>
                  <a:srgbClr val="F5F5F5"/>
                </a:solidFill>
                <a:latin typeface="Roboto Medium" panose="02000000000000000000" pitchFamily="2" charset="0"/>
                <a:ea typeface="Roboto Medium" panose="02000000000000000000" pitchFamily="2" charset="0"/>
              </a:rPr>
              <a:t>-</a:t>
            </a:r>
            <a:r>
              <a:rPr sz="1200" dirty="0" err="1">
                <a:solidFill>
                  <a:srgbClr val="F5F5F5"/>
                </a:solidFill>
                <a:latin typeface="Roboto Medium" panose="02000000000000000000" pitchFamily="2" charset="0"/>
                <a:ea typeface="Roboto Medium" panose="02000000000000000000" pitchFamily="2" charset="0"/>
              </a:rPr>
              <a:t>utsa</a:t>
            </a:r>
            <a:endParaRPr sz="1200" dirty="0">
              <a:solidFill>
                <a:srgbClr val="F5F5F5"/>
              </a:solidFill>
              <a:latin typeface="Roboto Medium" panose="02000000000000000000" pitchFamily="2" charset="0"/>
              <a:ea typeface="Roboto Medium" panose="02000000000000000000" pitchFamily="2" charset="0"/>
            </a:endParaRPr>
          </a:p>
        </p:txBody>
      </p:sp>
      <p:sp>
        <p:nvSpPr>
          <p:cNvPr id="28" name="Rectangle 27"/>
          <p:cNvSpPr/>
          <p:nvPr/>
        </p:nvSpPr>
        <p:spPr>
          <a:xfrm>
            <a:off x="8821674" y="5248096"/>
            <a:ext cx="2654046" cy="658368"/>
          </a:xfrm>
          <a:prstGeom prst="rect">
            <a:avLst/>
          </a:prstGeom>
          <a:solidFill>
            <a:schemeClr val="bg1">
              <a:alpha val="10000"/>
            </a:schemeClr>
          </a:solidFill>
          <a:ln w="12700">
            <a:solidFill>
              <a:srgbClr val="3232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29" name="TextBox 28"/>
          <p:cNvSpPr txBox="1"/>
          <p:nvPr/>
        </p:nvSpPr>
        <p:spPr>
          <a:xfrm>
            <a:off x="8894826" y="5302960"/>
            <a:ext cx="2507741" cy="138499"/>
          </a:xfrm>
          <a:prstGeom prst="rect">
            <a:avLst/>
          </a:prstGeom>
          <a:noFill/>
        </p:spPr>
        <p:txBody>
          <a:bodyPr wrap="square" lIns="0" tIns="0" rIns="0" bIns="0">
            <a:spAutoFit/>
          </a:bodyPr>
          <a:lstStyle/>
          <a:p>
            <a:pPr algn="l"/>
            <a:r>
              <a:rPr sz="900" dirty="0">
                <a:solidFill>
                  <a:srgbClr val="0055FF"/>
                </a:solidFill>
                <a:latin typeface="Roboto Medium" panose="02000000000000000000" pitchFamily="2" charset="0"/>
                <a:ea typeface="Roboto Medium" panose="02000000000000000000" pitchFamily="2" charset="0"/>
              </a:rPr>
              <a:t>DISCORD</a:t>
            </a:r>
          </a:p>
        </p:txBody>
      </p:sp>
      <p:sp>
        <p:nvSpPr>
          <p:cNvPr id="30" name="TextBox 29"/>
          <p:cNvSpPr txBox="1"/>
          <p:nvPr/>
        </p:nvSpPr>
        <p:spPr>
          <a:xfrm>
            <a:off x="8894826" y="5558992"/>
            <a:ext cx="2507741" cy="184666"/>
          </a:xfrm>
          <a:prstGeom prst="rect">
            <a:avLst/>
          </a:prstGeom>
          <a:noFill/>
        </p:spPr>
        <p:txBody>
          <a:bodyPr wrap="square" lIns="0" tIns="0" rIns="0" bIns="0">
            <a:spAutoFit/>
          </a:bodyPr>
          <a:lstStyle/>
          <a:p>
            <a:pPr algn="l"/>
            <a:r>
              <a:rPr sz="1200" dirty="0">
                <a:solidFill>
                  <a:srgbClr val="F5F5F5"/>
                </a:solidFill>
                <a:latin typeface="Roboto Medium" panose="02000000000000000000" pitchFamily="2" charset="0"/>
                <a:ea typeface="Roboto Medium" panose="02000000000000000000" pitchFamily="2" charset="0"/>
              </a:rPr>
              <a:t>#help channel</a:t>
            </a:r>
          </a:p>
        </p:txBody>
      </p:sp>
      <p:pic>
        <p:nvPicPr>
          <p:cNvPr id="32" name="Picture 31">
            <a:extLst>
              <a:ext uri="{FF2B5EF4-FFF2-40B4-BE49-F238E27FC236}">
                <a16:creationId xmlns:a16="http://schemas.microsoft.com/office/drawing/2014/main" id="{8B5DE38E-3691-47ED-6D86-9E584EDF552B}"/>
              </a:ext>
            </a:extLst>
          </p:cNvPr>
          <p:cNvPicPr>
            <a:picLocks noChangeAspect="1"/>
          </p:cNvPicPr>
          <p:nvPr/>
        </p:nvPicPr>
        <p:blipFill>
          <a:blip r:embed="rId3"/>
          <a:srcRect/>
          <a:stretch/>
        </p:blipFill>
        <p:spPr>
          <a:xfrm>
            <a:off x="4725900" y="6473952"/>
            <a:ext cx="2526839" cy="365760"/>
          </a:xfrm>
          <a:prstGeom prst="rect">
            <a:avLst/>
          </a:prstGeom>
        </p:spPr>
      </p:pic>
      <p:pic>
        <p:nvPicPr>
          <p:cNvPr id="33" name="Picture 32">
            <a:extLst>
              <a:ext uri="{FF2B5EF4-FFF2-40B4-BE49-F238E27FC236}">
                <a16:creationId xmlns:a16="http://schemas.microsoft.com/office/drawing/2014/main" id="{48CDE10E-B2F3-0BD9-41C2-B496D3C6B9D4}"/>
              </a:ext>
            </a:extLst>
          </p:cNvPr>
          <p:cNvPicPr>
            <a:picLocks noChangeAspect="1"/>
          </p:cNvPicPr>
          <p:nvPr/>
        </p:nvPicPr>
        <p:blipFill>
          <a:blip r:embed="rId4"/>
          <a:stretch>
            <a:fillRect/>
          </a:stretch>
        </p:blipFill>
        <p:spPr>
          <a:xfrm>
            <a:off x="9811911" y="274320"/>
            <a:ext cx="1992993" cy="1300447"/>
          </a:xfrm>
          <a:prstGeom prst="rect">
            <a:avLst/>
          </a:prstGeom>
        </p:spPr>
      </p:pic>
      <p:pic>
        <p:nvPicPr>
          <p:cNvPr id="35" name="Picture 34">
            <a:extLst>
              <a:ext uri="{FF2B5EF4-FFF2-40B4-BE49-F238E27FC236}">
                <a16:creationId xmlns:a16="http://schemas.microsoft.com/office/drawing/2014/main" id="{22B6F82F-F9EA-5AA7-0BD5-9E66F87E7F00}"/>
              </a:ext>
            </a:extLst>
          </p:cNvPr>
          <p:cNvPicPr>
            <a:picLocks noChangeAspect="1"/>
          </p:cNvPicPr>
          <p:nvPr/>
        </p:nvPicPr>
        <p:blipFill>
          <a:blip r:embed="rId5"/>
          <a:stretch>
            <a:fillRect/>
          </a:stretch>
        </p:blipFill>
        <p:spPr>
          <a:xfrm>
            <a:off x="685674" y="2339145"/>
            <a:ext cx="1160291" cy="1547055"/>
          </a:xfrm>
          <a:prstGeom prst="rect">
            <a:avLst/>
          </a:prstGeom>
          <a:ln w="19050">
            <a:solidFill>
              <a:srgbClr val="FEC619"/>
            </a:solid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47472" y="274320"/>
            <a:ext cx="11676888" cy="6126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pic>
        <p:nvPicPr>
          <p:cNvPr id="3" name="Picture 2" descr="image.png"/>
          <p:cNvPicPr>
            <a:picLocks noChangeAspect="1"/>
          </p:cNvPicPr>
          <p:nvPr/>
        </p:nvPicPr>
        <p:blipFill>
          <a:blip r:embed="rId2"/>
          <a:stretch>
            <a:fillRect/>
          </a:stretch>
        </p:blipFill>
        <p:spPr>
          <a:xfrm>
            <a:off x="256032" y="182880"/>
            <a:ext cx="11676888" cy="6126480"/>
          </a:xfrm>
          <a:prstGeom prst="rect">
            <a:avLst/>
          </a:prstGeom>
          <a:ln w="50800">
            <a:solidFill>
              <a:srgbClr val="000000"/>
            </a:solidFill>
          </a:ln>
        </p:spPr>
      </p:pic>
      <p:sp>
        <p:nvSpPr>
          <p:cNvPr id="5" name="TextBox 4"/>
          <p:cNvSpPr txBox="1"/>
          <p:nvPr/>
        </p:nvSpPr>
        <p:spPr>
          <a:xfrm>
            <a:off x="512064" y="411480"/>
            <a:ext cx="8869680" cy="677108"/>
          </a:xfrm>
          <a:prstGeom prst="rect">
            <a:avLst/>
          </a:prstGeom>
          <a:noFill/>
        </p:spPr>
        <p:txBody>
          <a:bodyPr wrap="square" lIns="0" tIns="0" rIns="0" bIns="0">
            <a:spAutoFit/>
          </a:bodyPr>
          <a:lstStyle/>
          <a:p>
            <a:pPr algn="l"/>
            <a:r>
              <a:rPr sz="4400" b="1" dirty="0">
                <a:solidFill>
                  <a:srgbClr val="F5F5F5"/>
                </a:solidFill>
                <a:latin typeface="Roboto Slab" pitchFamily="2" charset="0"/>
              </a:rPr>
              <a:t>Quick Links</a:t>
            </a:r>
          </a:p>
        </p:txBody>
      </p:sp>
      <p:sp>
        <p:nvSpPr>
          <p:cNvPr id="6" name="Rectangle 5"/>
          <p:cNvSpPr/>
          <p:nvPr/>
        </p:nvSpPr>
        <p:spPr>
          <a:xfrm>
            <a:off x="384048" y="1719072"/>
            <a:ext cx="11420856" cy="4462272"/>
          </a:xfrm>
          <a:prstGeom prst="rect">
            <a:avLst/>
          </a:prstGeom>
          <a:solidFill>
            <a:srgbClr val="0A0A0A">
              <a:alpha val="75000"/>
            </a:srgbClr>
          </a:solidFill>
          <a:ln w="381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8" name="TextBox 7"/>
          <p:cNvSpPr txBox="1"/>
          <p:nvPr/>
        </p:nvSpPr>
        <p:spPr>
          <a:xfrm>
            <a:off x="640080" y="1883664"/>
            <a:ext cx="10908792" cy="184666"/>
          </a:xfrm>
          <a:prstGeom prst="rect">
            <a:avLst/>
          </a:prstGeom>
          <a:noFill/>
        </p:spPr>
        <p:txBody>
          <a:bodyPr wrap="square" lIns="0" tIns="0" rIns="0" bIns="0">
            <a:spAutoFit/>
          </a:bodyPr>
          <a:lstStyle/>
          <a:p>
            <a:pPr algn="l"/>
            <a:r>
              <a:rPr sz="1200" b="1" dirty="0">
                <a:solidFill>
                  <a:srgbClr val="FFCC00"/>
                </a:solidFill>
                <a:latin typeface="Roboto Slab" pitchFamily="2" charset="0"/>
              </a:rPr>
              <a:t>COURSE RESOURCES</a:t>
            </a:r>
          </a:p>
        </p:txBody>
      </p:sp>
      <p:sp>
        <p:nvSpPr>
          <p:cNvPr id="9" name="Rectangle 8"/>
          <p:cNvSpPr/>
          <p:nvPr/>
        </p:nvSpPr>
        <p:spPr>
          <a:xfrm>
            <a:off x="640080" y="2157984"/>
            <a:ext cx="10908792" cy="16459"/>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latin typeface="Roboto Slab" pitchFamily="2" charset="0"/>
            </a:endParaRPr>
          </a:p>
        </p:txBody>
      </p:sp>
      <p:sp>
        <p:nvSpPr>
          <p:cNvPr id="10" name="TextBox 9"/>
          <p:cNvSpPr txBox="1"/>
          <p:nvPr/>
        </p:nvSpPr>
        <p:spPr>
          <a:xfrm>
            <a:off x="640080" y="2249424"/>
            <a:ext cx="10908792" cy="153888"/>
          </a:xfrm>
          <a:prstGeom prst="rect">
            <a:avLst/>
          </a:prstGeom>
          <a:noFill/>
        </p:spPr>
        <p:txBody>
          <a:bodyPr wrap="square" lIns="0" tIns="0" rIns="0" bIns="0">
            <a:spAutoFit/>
          </a:bodyPr>
          <a:lstStyle/>
          <a:p>
            <a:pPr algn="l"/>
            <a:r>
              <a:rPr sz="1000" dirty="0">
                <a:solidFill>
                  <a:srgbClr val="B0B8C4"/>
                </a:solidFill>
                <a:latin typeface="Roboto Medium" panose="02000000000000000000" pitchFamily="2" charset="0"/>
                <a:ea typeface="Roboto Medium" panose="02000000000000000000" pitchFamily="2" charset="0"/>
              </a:rPr>
              <a:t>COURSE</a:t>
            </a:r>
          </a:p>
        </p:txBody>
      </p:sp>
      <p:sp>
        <p:nvSpPr>
          <p:cNvPr id="11" name="Rectangle 10"/>
          <p:cNvSpPr/>
          <p:nvPr/>
        </p:nvSpPr>
        <p:spPr>
          <a:xfrm>
            <a:off x="676656" y="2523744"/>
            <a:ext cx="1051560" cy="32918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12" name="Rectangle 11"/>
          <p:cNvSpPr/>
          <p:nvPr/>
        </p:nvSpPr>
        <p:spPr>
          <a:xfrm>
            <a:off x="640080" y="2487168"/>
            <a:ext cx="1051560" cy="329184"/>
          </a:xfrm>
          <a:prstGeom prst="rect">
            <a:avLst/>
          </a:prstGeom>
          <a:solidFill>
            <a:srgbClr val="1E0F2D"/>
          </a:solidFill>
          <a:ln w="25400">
            <a:solidFill>
              <a:srgbClr val="BF4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13" name="TextBox 12"/>
          <p:cNvSpPr txBox="1"/>
          <p:nvPr/>
        </p:nvSpPr>
        <p:spPr>
          <a:xfrm>
            <a:off x="694944" y="2542032"/>
            <a:ext cx="941831" cy="200055"/>
          </a:xfrm>
          <a:prstGeom prst="rect">
            <a:avLst/>
          </a:prstGeom>
          <a:noFill/>
        </p:spPr>
        <p:txBody>
          <a:bodyPr wrap="square" lIns="0" tIns="0" rIns="0" bIns="0">
            <a:spAutoFit/>
          </a:bodyPr>
          <a:lstStyle/>
          <a:p>
            <a:pPr algn="ctr"/>
            <a:r>
              <a:rPr sz="1300" dirty="0">
                <a:solidFill>
                  <a:srgbClr val="F5F5F5"/>
                </a:solidFill>
                <a:latin typeface="Roboto Medium" panose="02000000000000000000" pitchFamily="2" charset="0"/>
                <a:ea typeface="Roboto Medium" panose="02000000000000000000" pitchFamily="2" charset="0"/>
              </a:rPr>
              <a:t>Start Here</a:t>
            </a:r>
          </a:p>
        </p:txBody>
      </p:sp>
      <p:sp>
        <p:nvSpPr>
          <p:cNvPr id="14" name="Rectangle 13"/>
          <p:cNvSpPr/>
          <p:nvPr/>
        </p:nvSpPr>
        <p:spPr>
          <a:xfrm>
            <a:off x="1819656" y="2523744"/>
            <a:ext cx="877824" cy="32918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15" name="Rectangle 14"/>
          <p:cNvSpPr/>
          <p:nvPr/>
        </p:nvSpPr>
        <p:spPr>
          <a:xfrm>
            <a:off x="1783080" y="2487168"/>
            <a:ext cx="877824" cy="329184"/>
          </a:xfrm>
          <a:prstGeom prst="rect">
            <a:avLst/>
          </a:prstGeom>
          <a:solidFill>
            <a:srgbClr val="1E0F2D"/>
          </a:solidFill>
          <a:ln w="25400">
            <a:solidFill>
              <a:srgbClr val="BF4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16" name="TextBox 15"/>
          <p:cNvSpPr txBox="1"/>
          <p:nvPr/>
        </p:nvSpPr>
        <p:spPr>
          <a:xfrm>
            <a:off x="1837944" y="2542032"/>
            <a:ext cx="768096" cy="200055"/>
          </a:xfrm>
          <a:prstGeom prst="rect">
            <a:avLst/>
          </a:prstGeom>
          <a:noFill/>
        </p:spPr>
        <p:txBody>
          <a:bodyPr wrap="square" lIns="0" tIns="0" rIns="0" bIns="0">
            <a:spAutoFit/>
          </a:bodyPr>
          <a:lstStyle/>
          <a:p>
            <a:pPr algn="ctr"/>
            <a:r>
              <a:rPr sz="1300" dirty="0">
                <a:solidFill>
                  <a:srgbClr val="F5F5F5"/>
                </a:solidFill>
                <a:latin typeface="Roboto Medium" panose="02000000000000000000" pitchFamily="2" charset="0"/>
                <a:ea typeface="Roboto Medium" panose="02000000000000000000" pitchFamily="2" charset="0"/>
              </a:rPr>
              <a:t>Syllabus</a:t>
            </a:r>
          </a:p>
        </p:txBody>
      </p:sp>
      <p:sp>
        <p:nvSpPr>
          <p:cNvPr id="17" name="Rectangle 16"/>
          <p:cNvSpPr/>
          <p:nvPr/>
        </p:nvSpPr>
        <p:spPr>
          <a:xfrm>
            <a:off x="2788920" y="2523744"/>
            <a:ext cx="1225296" cy="32918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18" name="Rectangle 17"/>
          <p:cNvSpPr/>
          <p:nvPr/>
        </p:nvSpPr>
        <p:spPr>
          <a:xfrm>
            <a:off x="2752344" y="2487168"/>
            <a:ext cx="1225296" cy="329184"/>
          </a:xfrm>
          <a:prstGeom prst="rect">
            <a:avLst/>
          </a:prstGeom>
          <a:solidFill>
            <a:srgbClr val="1E0F2D"/>
          </a:solidFill>
          <a:ln w="25400">
            <a:solidFill>
              <a:srgbClr val="BF4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19" name="TextBox 18"/>
          <p:cNvSpPr txBox="1"/>
          <p:nvPr/>
        </p:nvSpPr>
        <p:spPr>
          <a:xfrm>
            <a:off x="2807208" y="2542032"/>
            <a:ext cx="1115568" cy="200055"/>
          </a:xfrm>
          <a:prstGeom prst="rect">
            <a:avLst/>
          </a:prstGeom>
          <a:noFill/>
        </p:spPr>
        <p:txBody>
          <a:bodyPr wrap="square" lIns="0" tIns="0" rIns="0" bIns="0">
            <a:spAutoFit/>
          </a:bodyPr>
          <a:lstStyle/>
          <a:p>
            <a:pPr algn="ctr"/>
            <a:r>
              <a:rPr sz="1300" dirty="0">
                <a:solidFill>
                  <a:srgbClr val="F5F5F5"/>
                </a:solidFill>
                <a:latin typeface="Roboto Medium" panose="02000000000000000000" pitchFamily="2" charset="0"/>
                <a:ea typeface="Roboto Medium" panose="02000000000000000000" pitchFamily="2" charset="0"/>
              </a:rPr>
              <a:t>Grading Info</a:t>
            </a:r>
          </a:p>
        </p:txBody>
      </p:sp>
      <p:sp>
        <p:nvSpPr>
          <p:cNvPr id="20" name="Rectangle 19"/>
          <p:cNvSpPr/>
          <p:nvPr/>
        </p:nvSpPr>
        <p:spPr>
          <a:xfrm>
            <a:off x="4105656" y="2523744"/>
            <a:ext cx="1485900" cy="32918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21" name="Rectangle 20"/>
          <p:cNvSpPr/>
          <p:nvPr/>
        </p:nvSpPr>
        <p:spPr>
          <a:xfrm>
            <a:off x="4069080" y="2487168"/>
            <a:ext cx="1485900" cy="329184"/>
          </a:xfrm>
          <a:prstGeom prst="rect">
            <a:avLst/>
          </a:prstGeom>
          <a:solidFill>
            <a:srgbClr val="1E0F2D"/>
          </a:solidFill>
          <a:ln w="25400">
            <a:solidFill>
              <a:srgbClr val="BF4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22" name="TextBox 21"/>
          <p:cNvSpPr txBox="1"/>
          <p:nvPr/>
        </p:nvSpPr>
        <p:spPr>
          <a:xfrm>
            <a:off x="4123944" y="2542032"/>
            <a:ext cx="1376172" cy="200055"/>
          </a:xfrm>
          <a:prstGeom prst="rect">
            <a:avLst/>
          </a:prstGeom>
          <a:noFill/>
        </p:spPr>
        <p:txBody>
          <a:bodyPr wrap="square" lIns="0" tIns="0" rIns="0" bIns="0">
            <a:spAutoFit/>
          </a:bodyPr>
          <a:lstStyle/>
          <a:p>
            <a:pPr algn="ctr"/>
            <a:r>
              <a:rPr sz="1300" dirty="0">
                <a:solidFill>
                  <a:srgbClr val="F5F5F5"/>
                </a:solidFill>
                <a:latin typeface="Roboto Medium" panose="02000000000000000000" pitchFamily="2" charset="0"/>
                <a:ea typeface="Roboto Medium" panose="02000000000000000000" pitchFamily="2" charset="0"/>
              </a:rPr>
              <a:t>Course Schedule</a:t>
            </a:r>
          </a:p>
        </p:txBody>
      </p:sp>
      <p:sp>
        <p:nvSpPr>
          <p:cNvPr id="23" name="Rectangle 22"/>
          <p:cNvSpPr/>
          <p:nvPr/>
        </p:nvSpPr>
        <p:spPr>
          <a:xfrm>
            <a:off x="5682996" y="2523744"/>
            <a:ext cx="1312164" cy="32918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24" name="Rectangle 23"/>
          <p:cNvSpPr/>
          <p:nvPr/>
        </p:nvSpPr>
        <p:spPr>
          <a:xfrm>
            <a:off x="5646420" y="2487168"/>
            <a:ext cx="1312164" cy="329184"/>
          </a:xfrm>
          <a:prstGeom prst="rect">
            <a:avLst/>
          </a:prstGeom>
          <a:solidFill>
            <a:srgbClr val="1E0F2D"/>
          </a:solidFill>
          <a:ln w="25400">
            <a:solidFill>
              <a:srgbClr val="BF4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25" name="TextBox 24"/>
          <p:cNvSpPr txBox="1"/>
          <p:nvPr/>
        </p:nvSpPr>
        <p:spPr>
          <a:xfrm>
            <a:off x="5701284" y="2542032"/>
            <a:ext cx="1202436" cy="200055"/>
          </a:xfrm>
          <a:prstGeom prst="rect">
            <a:avLst/>
          </a:prstGeom>
          <a:noFill/>
        </p:spPr>
        <p:txBody>
          <a:bodyPr wrap="square" lIns="0" tIns="0" rIns="0" bIns="0">
            <a:spAutoFit/>
          </a:bodyPr>
          <a:lstStyle/>
          <a:p>
            <a:pPr algn="ctr"/>
            <a:r>
              <a:rPr sz="1300" dirty="0">
                <a:solidFill>
                  <a:srgbClr val="F5F5F5"/>
                </a:solidFill>
                <a:latin typeface="Roboto Medium" panose="02000000000000000000" pitchFamily="2" charset="0"/>
                <a:ea typeface="Roboto Medium" panose="02000000000000000000" pitchFamily="2" charset="0"/>
              </a:rPr>
              <a:t>Zoom Sessions</a:t>
            </a:r>
          </a:p>
        </p:txBody>
      </p:sp>
      <p:sp>
        <p:nvSpPr>
          <p:cNvPr id="26" name="TextBox 25"/>
          <p:cNvSpPr txBox="1"/>
          <p:nvPr/>
        </p:nvSpPr>
        <p:spPr>
          <a:xfrm>
            <a:off x="640080" y="2980944"/>
            <a:ext cx="10908792" cy="153888"/>
          </a:xfrm>
          <a:prstGeom prst="rect">
            <a:avLst/>
          </a:prstGeom>
          <a:noFill/>
        </p:spPr>
        <p:txBody>
          <a:bodyPr wrap="square" lIns="0" tIns="0" rIns="0" bIns="0">
            <a:spAutoFit/>
          </a:bodyPr>
          <a:lstStyle/>
          <a:p>
            <a:pPr algn="l"/>
            <a:r>
              <a:rPr sz="1000" dirty="0">
                <a:solidFill>
                  <a:srgbClr val="B0B8C4"/>
                </a:solidFill>
                <a:latin typeface="Roboto Medium" panose="02000000000000000000" pitchFamily="2" charset="0"/>
                <a:ea typeface="Roboto Medium" panose="02000000000000000000" pitchFamily="2" charset="0"/>
              </a:rPr>
              <a:t>RESOURCES</a:t>
            </a:r>
          </a:p>
        </p:txBody>
      </p:sp>
      <p:sp>
        <p:nvSpPr>
          <p:cNvPr id="27" name="Rectangle 26"/>
          <p:cNvSpPr/>
          <p:nvPr/>
        </p:nvSpPr>
        <p:spPr>
          <a:xfrm>
            <a:off x="676656" y="3255263"/>
            <a:ext cx="1312164" cy="32918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28" name="Rectangle 27"/>
          <p:cNvSpPr/>
          <p:nvPr/>
        </p:nvSpPr>
        <p:spPr>
          <a:xfrm>
            <a:off x="640080" y="3218687"/>
            <a:ext cx="1312164" cy="329184"/>
          </a:xfrm>
          <a:prstGeom prst="rect">
            <a:avLst/>
          </a:prstGeom>
          <a:solidFill>
            <a:srgbClr val="1E0F2D"/>
          </a:solidFill>
          <a:ln w="25400">
            <a:solidFill>
              <a:srgbClr val="BF4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29" name="TextBox 28"/>
          <p:cNvSpPr txBox="1"/>
          <p:nvPr/>
        </p:nvSpPr>
        <p:spPr>
          <a:xfrm>
            <a:off x="694944" y="3273551"/>
            <a:ext cx="1202436" cy="200055"/>
          </a:xfrm>
          <a:prstGeom prst="rect">
            <a:avLst/>
          </a:prstGeom>
          <a:noFill/>
        </p:spPr>
        <p:txBody>
          <a:bodyPr wrap="square" lIns="0" tIns="0" rIns="0" bIns="0">
            <a:spAutoFit/>
          </a:bodyPr>
          <a:lstStyle/>
          <a:p>
            <a:pPr algn="ctr"/>
            <a:r>
              <a:rPr sz="1300" dirty="0">
                <a:solidFill>
                  <a:srgbClr val="F5F5F5"/>
                </a:solidFill>
                <a:latin typeface="Roboto Medium" panose="02000000000000000000" pitchFamily="2" charset="0"/>
                <a:ea typeface="Roboto Medium" panose="02000000000000000000" pitchFamily="2" charset="0"/>
              </a:rPr>
              <a:t>VS Code Setup</a:t>
            </a:r>
          </a:p>
        </p:txBody>
      </p:sp>
      <p:sp>
        <p:nvSpPr>
          <p:cNvPr id="30" name="Rectangle 29"/>
          <p:cNvSpPr/>
          <p:nvPr/>
        </p:nvSpPr>
        <p:spPr>
          <a:xfrm>
            <a:off x="2080260" y="3255263"/>
            <a:ext cx="1399032" cy="32918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31" name="Rectangle 30"/>
          <p:cNvSpPr/>
          <p:nvPr/>
        </p:nvSpPr>
        <p:spPr>
          <a:xfrm>
            <a:off x="2043684" y="3218687"/>
            <a:ext cx="1399032" cy="329184"/>
          </a:xfrm>
          <a:prstGeom prst="rect">
            <a:avLst/>
          </a:prstGeom>
          <a:solidFill>
            <a:srgbClr val="1E0F2D"/>
          </a:solidFill>
          <a:ln w="25400">
            <a:solidFill>
              <a:srgbClr val="BF4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32" name="TextBox 31"/>
          <p:cNvSpPr txBox="1"/>
          <p:nvPr/>
        </p:nvSpPr>
        <p:spPr>
          <a:xfrm>
            <a:off x="2098548" y="3273551"/>
            <a:ext cx="1289304" cy="200055"/>
          </a:xfrm>
          <a:prstGeom prst="rect">
            <a:avLst/>
          </a:prstGeom>
          <a:noFill/>
        </p:spPr>
        <p:txBody>
          <a:bodyPr wrap="square" lIns="0" tIns="0" rIns="0" bIns="0">
            <a:spAutoFit/>
          </a:bodyPr>
          <a:lstStyle/>
          <a:p>
            <a:pPr algn="ctr"/>
            <a:r>
              <a:rPr sz="1300" dirty="0">
                <a:solidFill>
                  <a:srgbClr val="F5F5F5"/>
                </a:solidFill>
                <a:latin typeface="Roboto Medium" panose="02000000000000000000" pitchFamily="2" charset="0"/>
                <a:ea typeface="Roboto Medium" panose="02000000000000000000" pitchFamily="2" charset="0"/>
              </a:rPr>
              <a:t>Loaner Laptops</a:t>
            </a:r>
          </a:p>
        </p:txBody>
      </p:sp>
      <p:sp>
        <p:nvSpPr>
          <p:cNvPr id="33" name="Rectangle 32"/>
          <p:cNvSpPr/>
          <p:nvPr/>
        </p:nvSpPr>
        <p:spPr>
          <a:xfrm>
            <a:off x="3570732" y="3255263"/>
            <a:ext cx="1225296" cy="32918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34" name="Rectangle 33"/>
          <p:cNvSpPr/>
          <p:nvPr/>
        </p:nvSpPr>
        <p:spPr>
          <a:xfrm>
            <a:off x="3534156" y="3218687"/>
            <a:ext cx="1225296" cy="329184"/>
          </a:xfrm>
          <a:prstGeom prst="rect">
            <a:avLst/>
          </a:prstGeom>
          <a:solidFill>
            <a:srgbClr val="1E0F2D"/>
          </a:solidFill>
          <a:ln w="25400">
            <a:solidFill>
              <a:srgbClr val="BF4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35" name="TextBox 34"/>
          <p:cNvSpPr txBox="1"/>
          <p:nvPr/>
        </p:nvSpPr>
        <p:spPr>
          <a:xfrm>
            <a:off x="3589020" y="3273551"/>
            <a:ext cx="1115568" cy="200055"/>
          </a:xfrm>
          <a:prstGeom prst="rect">
            <a:avLst/>
          </a:prstGeom>
          <a:noFill/>
        </p:spPr>
        <p:txBody>
          <a:bodyPr wrap="square" lIns="0" tIns="0" rIns="0" bIns="0">
            <a:spAutoFit/>
          </a:bodyPr>
          <a:lstStyle/>
          <a:p>
            <a:pPr algn="ctr"/>
            <a:r>
              <a:rPr sz="1300" dirty="0">
                <a:solidFill>
                  <a:srgbClr val="F5F5F5"/>
                </a:solidFill>
                <a:latin typeface="Roboto Medium" panose="02000000000000000000" pitchFamily="2" charset="0"/>
                <a:ea typeface="Roboto Medium" panose="02000000000000000000" pitchFamily="2" charset="0"/>
              </a:rPr>
              <a:t>Flake8 Guide</a:t>
            </a:r>
          </a:p>
        </p:txBody>
      </p:sp>
      <p:sp>
        <p:nvSpPr>
          <p:cNvPr id="36" name="Rectangle 35"/>
          <p:cNvSpPr/>
          <p:nvPr/>
        </p:nvSpPr>
        <p:spPr>
          <a:xfrm>
            <a:off x="4887468" y="3255263"/>
            <a:ext cx="1138428" cy="32918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37" name="Rectangle 36"/>
          <p:cNvSpPr/>
          <p:nvPr/>
        </p:nvSpPr>
        <p:spPr>
          <a:xfrm>
            <a:off x="4850892" y="3218687"/>
            <a:ext cx="1138428" cy="329184"/>
          </a:xfrm>
          <a:prstGeom prst="rect">
            <a:avLst/>
          </a:prstGeom>
          <a:solidFill>
            <a:srgbClr val="1E0F2D"/>
          </a:solidFill>
          <a:ln w="25400">
            <a:solidFill>
              <a:srgbClr val="BF4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38" name="TextBox 37"/>
          <p:cNvSpPr txBox="1"/>
          <p:nvPr/>
        </p:nvSpPr>
        <p:spPr>
          <a:xfrm>
            <a:off x="4905756" y="3273551"/>
            <a:ext cx="1028700" cy="200055"/>
          </a:xfrm>
          <a:prstGeom prst="rect">
            <a:avLst/>
          </a:prstGeom>
          <a:noFill/>
        </p:spPr>
        <p:txBody>
          <a:bodyPr wrap="square" lIns="0" tIns="0" rIns="0" bIns="0">
            <a:spAutoFit/>
          </a:bodyPr>
          <a:lstStyle/>
          <a:p>
            <a:pPr algn="ctr"/>
            <a:r>
              <a:rPr sz="1300" dirty="0">
                <a:solidFill>
                  <a:srgbClr val="F5F5F5"/>
                </a:solidFill>
                <a:latin typeface="Roboto Medium" panose="02000000000000000000" pitchFamily="2" charset="0"/>
                <a:ea typeface="Roboto Medium" panose="02000000000000000000" pitchFamily="2" charset="0"/>
              </a:rPr>
              <a:t>Python Docs</a:t>
            </a:r>
          </a:p>
        </p:txBody>
      </p:sp>
      <p:sp>
        <p:nvSpPr>
          <p:cNvPr id="39" name="TextBox 38"/>
          <p:cNvSpPr txBox="1"/>
          <p:nvPr/>
        </p:nvSpPr>
        <p:spPr>
          <a:xfrm>
            <a:off x="640080" y="3712463"/>
            <a:ext cx="10908792" cy="153888"/>
          </a:xfrm>
          <a:prstGeom prst="rect">
            <a:avLst/>
          </a:prstGeom>
          <a:noFill/>
        </p:spPr>
        <p:txBody>
          <a:bodyPr wrap="square" lIns="0" tIns="0" rIns="0" bIns="0">
            <a:spAutoFit/>
          </a:bodyPr>
          <a:lstStyle/>
          <a:p>
            <a:pPr algn="l"/>
            <a:r>
              <a:rPr sz="1000" dirty="0">
                <a:solidFill>
                  <a:srgbClr val="B0B8C4"/>
                </a:solidFill>
                <a:latin typeface="Roboto Medium" panose="02000000000000000000" pitchFamily="2" charset="0"/>
                <a:ea typeface="Roboto Medium" panose="02000000000000000000" pitchFamily="2" charset="0"/>
              </a:rPr>
              <a:t>LABS</a:t>
            </a:r>
          </a:p>
        </p:txBody>
      </p:sp>
      <p:sp>
        <p:nvSpPr>
          <p:cNvPr id="40" name="Rectangle 39"/>
          <p:cNvSpPr/>
          <p:nvPr/>
        </p:nvSpPr>
        <p:spPr>
          <a:xfrm>
            <a:off x="676656" y="3986783"/>
            <a:ext cx="790956" cy="32918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41" name="Rectangle 40"/>
          <p:cNvSpPr/>
          <p:nvPr/>
        </p:nvSpPr>
        <p:spPr>
          <a:xfrm>
            <a:off x="640080" y="3950207"/>
            <a:ext cx="790956" cy="329184"/>
          </a:xfrm>
          <a:prstGeom prst="rect">
            <a:avLst/>
          </a:prstGeom>
          <a:solidFill>
            <a:srgbClr val="1E0F2D"/>
          </a:solidFill>
          <a:ln w="25400">
            <a:solidFill>
              <a:srgbClr val="BF4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42" name="TextBox 41"/>
          <p:cNvSpPr txBox="1"/>
          <p:nvPr/>
        </p:nvSpPr>
        <p:spPr>
          <a:xfrm>
            <a:off x="694944" y="4005071"/>
            <a:ext cx="681228" cy="200055"/>
          </a:xfrm>
          <a:prstGeom prst="rect">
            <a:avLst/>
          </a:prstGeom>
          <a:noFill/>
        </p:spPr>
        <p:txBody>
          <a:bodyPr wrap="square" lIns="0" tIns="0" rIns="0" bIns="0">
            <a:spAutoFit/>
          </a:bodyPr>
          <a:lstStyle/>
          <a:p>
            <a:pPr algn="ctr"/>
            <a:r>
              <a:rPr sz="1300" dirty="0">
                <a:solidFill>
                  <a:srgbClr val="F5F5F5"/>
                </a:solidFill>
                <a:latin typeface="Roboto Medium" panose="02000000000000000000" pitchFamily="2" charset="0"/>
                <a:ea typeface="Roboto Medium" panose="02000000000000000000" pitchFamily="2" charset="0"/>
              </a:rPr>
              <a:t>Lab 1.1</a:t>
            </a:r>
          </a:p>
        </p:txBody>
      </p:sp>
      <p:sp>
        <p:nvSpPr>
          <p:cNvPr id="43" name="Rectangle 42"/>
          <p:cNvSpPr/>
          <p:nvPr/>
        </p:nvSpPr>
        <p:spPr>
          <a:xfrm>
            <a:off x="1559052" y="3986783"/>
            <a:ext cx="790956" cy="32918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44" name="Rectangle 43"/>
          <p:cNvSpPr/>
          <p:nvPr/>
        </p:nvSpPr>
        <p:spPr>
          <a:xfrm>
            <a:off x="1522476" y="3950207"/>
            <a:ext cx="790956" cy="329184"/>
          </a:xfrm>
          <a:prstGeom prst="rect">
            <a:avLst/>
          </a:prstGeom>
          <a:solidFill>
            <a:srgbClr val="1E0F2D"/>
          </a:solidFill>
          <a:ln w="25400">
            <a:solidFill>
              <a:srgbClr val="BF4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45" name="TextBox 44"/>
          <p:cNvSpPr txBox="1"/>
          <p:nvPr/>
        </p:nvSpPr>
        <p:spPr>
          <a:xfrm>
            <a:off x="1577340" y="4005071"/>
            <a:ext cx="681228" cy="200055"/>
          </a:xfrm>
          <a:prstGeom prst="rect">
            <a:avLst/>
          </a:prstGeom>
          <a:noFill/>
        </p:spPr>
        <p:txBody>
          <a:bodyPr wrap="square" lIns="0" tIns="0" rIns="0" bIns="0">
            <a:spAutoFit/>
          </a:bodyPr>
          <a:lstStyle/>
          <a:p>
            <a:pPr algn="ctr"/>
            <a:r>
              <a:rPr sz="1300" dirty="0">
                <a:solidFill>
                  <a:srgbClr val="F5F5F5"/>
                </a:solidFill>
                <a:latin typeface="Roboto Medium" panose="02000000000000000000" pitchFamily="2" charset="0"/>
                <a:ea typeface="Roboto Medium" panose="02000000000000000000" pitchFamily="2" charset="0"/>
              </a:rPr>
              <a:t>Lab 1.2</a:t>
            </a:r>
          </a:p>
        </p:txBody>
      </p:sp>
      <p:sp>
        <p:nvSpPr>
          <p:cNvPr id="46" name="Rectangle 45"/>
          <p:cNvSpPr/>
          <p:nvPr/>
        </p:nvSpPr>
        <p:spPr>
          <a:xfrm>
            <a:off x="2441448" y="3986783"/>
            <a:ext cx="790956" cy="32918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47" name="Rectangle 46"/>
          <p:cNvSpPr/>
          <p:nvPr/>
        </p:nvSpPr>
        <p:spPr>
          <a:xfrm>
            <a:off x="2404872" y="3950207"/>
            <a:ext cx="790956" cy="329184"/>
          </a:xfrm>
          <a:prstGeom prst="rect">
            <a:avLst/>
          </a:prstGeom>
          <a:solidFill>
            <a:srgbClr val="1E0F2D"/>
          </a:solidFill>
          <a:ln w="25400">
            <a:solidFill>
              <a:srgbClr val="BF4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48" name="TextBox 47"/>
          <p:cNvSpPr txBox="1"/>
          <p:nvPr/>
        </p:nvSpPr>
        <p:spPr>
          <a:xfrm>
            <a:off x="2459736" y="4005071"/>
            <a:ext cx="681228" cy="200055"/>
          </a:xfrm>
          <a:prstGeom prst="rect">
            <a:avLst/>
          </a:prstGeom>
          <a:noFill/>
        </p:spPr>
        <p:txBody>
          <a:bodyPr wrap="square" lIns="0" tIns="0" rIns="0" bIns="0">
            <a:spAutoFit/>
          </a:bodyPr>
          <a:lstStyle/>
          <a:p>
            <a:pPr algn="ctr"/>
            <a:r>
              <a:rPr sz="1300" dirty="0">
                <a:solidFill>
                  <a:srgbClr val="F5F5F5"/>
                </a:solidFill>
                <a:latin typeface="Roboto Medium" panose="02000000000000000000" pitchFamily="2" charset="0"/>
                <a:ea typeface="Roboto Medium" panose="02000000000000000000" pitchFamily="2" charset="0"/>
              </a:rPr>
              <a:t>Lab 1.3</a:t>
            </a:r>
          </a:p>
        </p:txBody>
      </p:sp>
      <p:sp>
        <p:nvSpPr>
          <p:cNvPr id="49" name="Rectangle 48"/>
          <p:cNvSpPr/>
          <p:nvPr/>
        </p:nvSpPr>
        <p:spPr>
          <a:xfrm>
            <a:off x="3323844" y="3986783"/>
            <a:ext cx="790956" cy="32918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50" name="Rectangle 49"/>
          <p:cNvSpPr/>
          <p:nvPr/>
        </p:nvSpPr>
        <p:spPr>
          <a:xfrm>
            <a:off x="3287268" y="3950207"/>
            <a:ext cx="790956" cy="329184"/>
          </a:xfrm>
          <a:prstGeom prst="rect">
            <a:avLst/>
          </a:prstGeom>
          <a:solidFill>
            <a:srgbClr val="1E0F2D"/>
          </a:solidFill>
          <a:ln w="25400">
            <a:solidFill>
              <a:srgbClr val="BF4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51" name="TextBox 50"/>
          <p:cNvSpPr txBox="1"/>
          <p:nvPr/>
        </p:nvSpPr>
        <p:spPr>
          <a:xfrm>
            <a:off x="3342132" y="4005071"/>
            <a:ext cx="681228" cy="200055"/>
          </a:xfrm>
          <a:prstGeom prst="rect">
            <a:avLst/>
          </a:prstGeom>
          <a:noFill/>
        </p:spPr>
        <p:txBody>
          <a:bodyPr wrap="square" lIns="0" tIns="0" rIns="0" bIns="0">
            <a:spAutoFit/>
          </a:bodyPr>
          <a:lstStyle/>
          <a:p>
            <a:pPr algn="ctr"/>
            <a:r>
              <a:rPr sz="1300" dirty="0">
                <a:solidFill>
                  <a:srgbClr val="F5F5F5"/>
                </a:solidFill>
                <a:latin typeface="Roboto Medium" panose="02000000000000000000" pitchFamily="2" charset="0"/>
                <a:ea typeface="Roboto Medium" panose="02000000000000000000" pitchFamily="2" charset="0"/>
              </a:rPr>
              <a:t>Lab 2.1</a:t>
            </a:r>
          </a:p>
        </p:txBody>
      </p:sp>
      <p:sp>
        <p:nvSpPr>
          <p:cNvPr id="52" name="Rectangle 51"/>
          <p:cNvSpPr/>
          <p:nvPr/>
        </p:nvSpPr>
        <p:spPr>
          <a:xfrm>
            <a:off x="4206240" y="3986783"/>
            <a:ext cx="790956" cy="32918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53" name="Rectangle 52"/>
          <p:cNvSpPr/>
          <p:nvPr/>
        </p:nvSpPr>
        <p:spPr>
          <a:xfrm>
            <a:off x="4169663" y="3950207"/>
            <a:ext cx="790956" cy="329184"/>
          </a:xfrm>
          <a:prstGeom prst="rect">
            <a:avLst/>
          </a:prstGeom>
          <a:solidFill>
            <a:srgbClr val="1E0F2D"/>
          </a:solidFill>
          <a:ln w="25400">
            <a:solidFill>
              <a:srgbClr val="BF4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54" name="TextBox 53"/>
          <p:cNvSpPr txBox="1"/>
          <p:nvPr/>
        </p:nvSpPr>
        <p:spPr>
          <a:xfrm>
            <a:off x="4224527" y="4005071"/>
            <a:ext cx="681228" cy="200055"/>
          </a:xfrm>
          <a:prstGeom prst="rect">
            <a:avLst/>
          </a:prstGeom>
          <a:noFill/>
        </p:spPr>
        <p:txBody>
          <a:bodyPr wrap="square" lIns="0" tIns="0" rIns="0" bIns="0">
            <a:spAutoFit/>
          </a:bodyPr>
          <a:lstStyle/>
          <a:p>
            <a:pPr algn="ctr"/>
            <a:r>
              <a:rPr sz="1300" dirty="0">
                <a:solidFill>
                  <a:srgbClr val="F5F5F5"/>
                </a:solidFill>
                <a:latin typeface="Roboto Medium" panose="02000000000000000000" pitchFamily="2" charset="0"/>
                <a:ea typeface="Roboto Medium" panose="02000000000000000000" pitchFamily="2" charset="0"/>
              </a:rPr>
              <a:t>Lab 2.2</a:t>
            </a:r>
          </a:p>
        </p:txBody>
      </p:sp>
      <p:sp>
        <p:nvSpPr>
          <p:cNvPr id="55" name="Rectangle 54"/>
          <p:cNvSpPr/>
          <p:nvPr/>
        </p:nvSpPr>
        <p:spPr>
          <a:xfrm>
            <a:off x="5088636" y="3986783"/>
            <a:ext cx="790956" cy="32918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56" name="Rectangle 55"/>
          <p:cNvSpPr/>
          <p:nvPr/>
        </p:nvSpPr>
        <p:spPr>
          <a:xfrm>
            <a:off x="5052059" y="3950207"/>
            <a:ext cx="790956" cy="329184"/>
          </a:xfrm>
          <a:prstGeom prst="rect">
            <a:avLst/>
          </a:prstGeom>
          <a:solidFill>
            <a:srgbClr val="1E0F2D"/>
          </a:solidFill>
          <a:ln w="25400">
            <a:solidFill>
              <a:srgbClr val="BF4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57" name="TextBox 56"/>
          <p:cNvSpPr txBox="1"/>
          <p:nvPr/>
        </p:nvSpPr>
        <p:spPr>
          <a:xfrm>
            <a:off x="5106923" y="4005071"/>
            <a:ext cx="681228" cy="200055"/>
          </a:xfrm>
          <a:prstGeom prst="rect">
            <a:avLst/>
          </a:prstGeom>
          <a:noFill/>
        </p:spPr>
        <p:txBody>
          <a:bodyPr wrap="square" lIns="0" tIns="0" rIns="0" bIns="0">
            <a:spAutoFit/>
          </a:bodyPr>
          <a:lstStyle/>
          <a:p>
            <a:pPr algn="ctr"/>
            <a:r>
              <a:rPr sz="1300" dirty="0">
                <a:solidFill>
                  <a:srgbClr val="F5F5F5"/>
                </a:solidFill>
                <a:latin typeface="Roboto Medium" panose="02000000000000000000" pitchFamily="2" charset="0"/>
                <a:ea typeface="Roboto Medium" panose="02000000000000000000" pitchFamily="2" charset="0"/>
              </a:rPr>
              <a:t>Lab 2.3</a:t>
            </a:r>
          </a:p>
        </p:txBody>
      </p:sp>
      <p:sp>
        <p:nvSpPr>
          <p:cNvPr id="58" name="TextBox 57"/>
          <p:cNvSpPr txBox="1"/>
          <p:nvPr/>
        </p:nvSpPr>
        <p:spPr>
          <a:xfrm>
            <a:off x="640080" y="4443983"/>
            <a:ext cx="10908792" cy="153888"/>
          </a:xfrm>
          <a:prstGeom prst="rect">
            <a:avLst/>
          </a:prstGeom>
          <a:noFill/>
        </p:spPr>
        <p:txBody>
          <a:bodyPr wrap="square" lIns="0" tIns="0" rIns="0" bIns="0">
            <a:spAutoFit/>
          </a:bodyPr>
          <a:lstStyle/>
          <a:p>
            <a:pPr algn="l"/>
            <a:r>
              <a:rPr sz="1000" dirty="0">
                <a:solidFill>
                  <a:srgbClr val="B0B8C4"/>
                </a:solidFill>
                <a:latin typeface="Roboto Medium" panose="02000000000000000000" pitchFamily="2" charset="0"/>
                <a:ea typeface="Roboto Medium" panose="02000000000000000000" pitchFamily="2" charset="0"/>
              </a:rPr>
              <a:t>BOOKEX</a:t>
            </a:r>
          </a:p>
        </p:txBody>
      </p:sp>
      <p:sp>
        <p:nvSpPr>
          <p:cNvPr id="59" name="Rectangle 58"/>
          <p:cNvSpPr/>
          <p:nvPr/>
        </p:nvSpPr>
        <p:spPr>
          <a:xfrm>
            <a:off x="676656" y="4718303"/>
            <a:ext cx="731520" cy="32918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60" name="Rectangle 59"/>
          <p:cNvSpPr/>
          <p:nvPr/>
        </p:nvSpPr>
        <p:spPr>
          <a:xfrm>
            <a:off x="640080" y="4681727"/>
            <a:ext cx="731520" cy="329184"/>
          </a:xfrm>
          <a:prstGeom prst="rect">
            <a:avLst/>
          </a:prstGeom>
          <a:solidFill>
            <a:srgbClr val="1E0F2D"/>
          </a:solidFill>
          <a:ln w="25400">
            <a:solidFill>
              <a:srgbClr val="BF4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61" name="TextBox 60"/>
          <p:cNvSpPr txBox="1"/>
          <p:nvPr/>
        </p:nvSpPr>
        <p:spPr>
          <a:xfrm>
            <a:off x="694944" y="4736591"/>
            <a:ext cx="621792" cy="200055"/>
          </a:xfrm>
          <a:prstGeom prst="rect">
            <a:avLst/>
          </a:prstGeom>
          <a:noFill/>
        </p:spPr>
        <p:txBody>
          <a:bodyPr wrap="square" lIns="0" tIns="0" rIns="0" bIns="0">
            <a:spAutoFit/>
          </a:bodyPr>
          <a:lstStyle/>
          <a:p>
            <a:pPr algn="ctr"/>
            <a:r>
              <a:rPr sz="1300" dirty="0">
                <a:solidFill>
                  <a:srgbClr val="F5F5F5"/>
                </a:solidFill>
                <a:latin typeface="Roboto Medium" panose="02000000000000000000" pitchFamily="2" charset="0"/>
                <a:ea typeface="Roboto Medium" panose="02000000000000000000" pitchFamily="2" charset="0"/>
              </a:rPr>
              <a:t>Ch 2</a:t>
            </a:r>
          </a:p>
        </p:txBody>
      </p:sp>
      <p:sp>
        <p:nvSpPr>
          <p:cNvPr id="62" name="Rectangle 61"/>
          <p:cNvSpPr/>
          <p:nvPr/>
        </p:nvSpPr>
        <p:spPr>
          <a:xfrm>
            <a:off x="1499616" y="4718303"/>
            <a:ext cx="731520" cy="32918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63" name="Rectangle 62"/>
          <p:cNvSpPr/>
          <p:nvPr/>
        </p:nvSpPr>
        <p:spPr>
          <a:xfrm>
            <a:off x="1463040" y="4681727"/>
            <a:ext cx="731520" cy="329184"/>
          </a:xfrm>
          <a:prstGeom prst="rect">
            <a:avLst/>
          </a:prstGeom>
          <a:solidFill>
            <a:srgbClr val="1E0F2D"/>
          </a:solidFill>
          <a:ln w="25400">
            <a:solidFill>
              <a:srgbClr val="BF4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64" name="TextBox 63"/>
          <p:cNvSpPr txBox="1"/>
          <p:nvPr/>
        </p:nvSpPr>
        <p:spPr>
          <a:xfrm>
            <a:off x="1517904" y="4736591"/>
            <a:ext cx="621792" cy="200055"/>
          </a:xfrm>
          <a:prstGeom prst="rect">
            <a:avLst/>
          </a:prstGeom>
          <a:noFill/>
        </p:spPr>
        <p:txBody>
          <a:bodyPr wrap="square" lIns="0" tIns="0" rIns="0" bIns="0">
            <a:spAutoFit/>
          </a:bodyPr>
          <a:lstStyle/>
          <a:p>
            <a:pPr algn="ctr"/>
            <a:r>
              <a:rPr sz="1300" dirty="0">
                <a:solidFill>
                  <a:srgbClr val="F5F5F5"/>
                </a:solidFill>
                <a:latin typeface="Roboto Medium" panose="02000000000000000000" pitchFamily="2" charset="0"/>
                <a:ea typeface="Roboto Medium" panose="02000000000000000000" pitchFamily="2" charset="0"/>
              </a:rPr>
              <a:t>Ch 3</a:t>
            </a:r>
          </a:p>
        </p:txBody>
      </p:sp>
      <p:sp>
        <p:nvSpPr>
          <p:cNvPr id="65" name="Rectangle 64"/>
          <p:cNvSpPr/>
          <p:nvPr/>
        </p:nvSpPr>
        <p:spPr>
          <a:xfrm>
            <a:off x="2322576" y="4718303"/>
            <a:ext cx="731520" cy="32918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66" name="Rectangle 65"/>
          <p:cNvSpPr/>
          <p:nvPr/>
        </p:nvSpPr>
        <p:spPr>
          <a:xfrm>
            <a:off x="2286000" y="4681727"/>
            <a:ext cx="731520" cy="329184"/>
          </a:xfrm>
          <a:prstGeom prst="rect">
            <a:avLst/>
          </a:prstGeom>
          <a:solidFill>
            <a:srgbClr val="1E0F2D"/>
          </a:solidFill>
          <a:ln w="25400">
            <a:solidFill>
              <a:srgbClr val="BF4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67" name="TextBox 66"/>
          <p:cNvSpPr txBox="1"/>
          <p:nvPr/>
        </p:nvSpPr>
        <p:spPr>
          <a:xfrm>
            <a:off x="2340864" y="4736591"/>
            <a:ext cx="621792" cy="200055"/>
          </a:xfrm>
          <a:prstGeom prst="rect">
            <a:avLst/>
          </a:prstGeom>
          <a:noFill/>
        </p:spPr>
        <p:txBody>
          <a:bodyPr wrap="square" lIns="0" tIns="0" rIns="0" bIns="0">
            <a:spAutoFit/>
          </a:bodyPr>
          <a:lstStyle/>
          <a:p>
            <a:pPr algn="ctr"/>
            <a:r>
              <a:rPr sz="1300" dirty="0">
                <a:solidFill>
                  <a:srgbClr val="F5F5F5"/>
                </a:solidFill>
                <a:latin typeface="Roboto Medium" panose="02000000000000000000" pitchFamily="2" charset="0"/>
                <a:ea typeface="Roboto Medium" panose="02000000000000000000" pitchFamily="2" charset="0"/>
              </a:rPr>
              <a:t>Ch 4</a:t>
            </a:r>
          </a:p>
        </p:txBody>
      </p:sp>
      <p:sp>
        <p:nvSpPr>
          <p:cNvPr id="68" name="Rectangle 67"/>
          <p:cNvSpPr/>
          <p:nvPr/>
        </p:nvSpPr>
        <p:spPr>
          <a:xfrm>
            <a:off x="3145536" y="4718303"/>
            <a:ext cx="731520" cy="32918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69" name="Rectangle 68"/>
          <p:cNvSpPr/>
          <p:nvPr/>
        </p:nvSpPr>
        <p:spPr>
          <a:xfrm>
            <a:off x="3108960" y="4681727"/>
            <a:ext cx="731520" cy="329184"/>
          </a:xfrm>
          <a:prstGeom prst="rect">
            <a:avLst/>
          </a:prstGeom>
          <a:solidFill>
            <a:srgbClr val="1E0F2D"/>
          </a:solidFill>
          <a:ln w="25400">
            <a:solidFill>
              <a:srgbClr val="BF4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70" name="TextBox 69"/>
          <p:cNvSpPr txBox="1"/>
          <p:nvPr/>
        </p:nvSpPr>
        <p:spPr>
          <a:xfrm>
            <a:off x="3163824" y="4736591"/>
            <a:ext cx="621792" cy="200055"/>
          </a:xfrm>
          <a:prstGeom prst="rect">
            <a:avLst/>
          </a:prstGeom>
          <a:noFill/>
        </p:spPr>
        <p:txBody>
          <a:bodyPr wrap="square" lIns="0" tIns="0" rIns="0" bIns="0">
            <a:spAutoFit/>
          </a:bodyPr>
          <a:lstStyle/>
          <a:p>
            <a:pPr algn="ctr"/>
            <a:r>
              <a:rPr sz="1300" dirty="0">
                <a:solidFill>
                  <a:srgbClr val="F5F5F5"/>
                </a:solidFill>
                <a:latin typeface="Roboto Medium" panose="02000000000000000000" pitchFamily="2" charset="0"/>
                <a:ea typeface="Roboto Medium" panose="02000000000000000000" pitchFamily="2" charset="0"/>
              </a:rPr>
              <a:t>Ch 5</a:t>
            </a:r>
          </a:p>
        </p:txBody>
      </p:sp>
      <p:sp>
        <p:nvSpPr>
          <p:cNvPr id="71" name="Rectangle 70"/>
          <p:cNvSpPr/>
          <p:nvPr/>
        </p:nvSpPr>
        <p:spPr>
          <a:xfrm>
            <a:off x="3968496" y="4718303"/>
            <a:ext cx="731520" cy="32918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72" name="Rectangle 71"/>
          <p:cNvSpPr/>
          <p:nvPr/>
        </p:nvSpPr>
        <p:spPr>
          <a:xfrm>
            <a:off x="3931920" y="4681727"/>
            <a:ext cx="731520" cy="329184"/>
          </a:xfrm>
          <a:prstGeom prst="rect">
            <a:avLst/>
          </a:prstGeom>
          <a:solidFill>
            <a:srgbClr val="1E0F2D"/>
          </a:solidFill>
          <a:ln w="25400">
            <a:solidFill>
              <a:srgbClr val="BF4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73" name="TextBox 72"/>
          <p:cNvSpPr txBox="1"/>
          <p:nvPr/>
        </p:nvSpPr>
        <p:spPr>
          <a:xfrm>
            <a:off x="3986783" y="4736591"/>
            <a:ext cx="621792" cy="200055"/>
          </a:xfrm>
          <a:prstGeom prst="rect">
            <a:avLst/>
          </a:prstGeom>
          <a:noFill/>
        </p:spPr>
        <p:txBody>
          <a:bodyPr wrap="square" lIns="0" tIns="0" rIns="0" bIns="0">
            <a:spAutoFit/>
          </a:bodyPr>
          <a:lstStyle/>
          <a:p>
            <a:pPr algn="ctr"/>
            <a:r>
              <a:rPr sz="1300" dirty="0">
                <a:solidFill>
                  <a:srgbClr val="F5F5F5"/>
                </a:solidFill>
                <a:latin typeface="Roboto Medium" panose="02000000000000000000" pitchFamily="2" charset="0"/>
                <a:ea typeface="Roboto Medium" panose="02000000000000000000" pitchFamily="2" charset="0"/>
              </a:rPr>
              <a:t>Ch 6</a:t>
            </a:r>
          </a:p>
        </p:txBody>
      </p:sp>
      <p:sp>
        <p:nvSpPr>
          <p:cNvPr id="74" name="Rectangle 73"/>
          <p:cNvSpPr/>
          <p:nvPr/>
        </p:nvSpPr>
        <p:spPr>
          <a:xfrm>
            <a:off x="4791456" y="4718303"/>
            <a:ext cx="731520" cy="32918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75" name="Rectangle 74"/>
          <p:cNvSpPr/>
          <p:nvPr/>
        </p:nvSpPr>
        <p:spPr>
          <a:xfrm>
            <a:off x="4754880" y="4681727"/>
            <a:ext cx="731520" cy="329184"/>
          </a:xfrm>
          <a:prstGeom prst="rect">
            <a:avLst/>
          </a:prstGeom>
          <a:solidFill>
            <a:srgbClr val="1E0F2D"/>
          </a:solidFill>
          <a:ln w="25400">
            <a:solidFill>
              <a:srgbClr val="BF4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76" name="TextBox 75"/>
          <p:cNvSpPr txBox="1"/>
          <p:nvPr/>
        </p:nvSpPr>
        <p:spPr>
          <a:xfrm>
            <a:off x="4809744" y="4736591"/>
            <a:ext cx="621792" cy="200055"/>
          </a:xfrm>
          <a:prstGeom prst="rect">
            <a:avLst/>
          </a:prstGeom>
          <a:noFill/>
        </p:spPr>
        <p:txBody>
          <a:bodyPr wrap="square" lIns="0" tIns="0" rIns="0" bIns="0">
            <a:spAutoFit/>
          </a:bodyPr>
          <a:lstStyle/>
          <a:p>
            <a:pPr algn="ctr"/>
            <a:r>
              <a:rPr sz="1300" dirty="0">
                <a:solidFill>
                  <a:srgbClr val="F5F5F5"/>
                </a:solidFill>
                <a:latin typeface="Roboto Medium" panose="02000000000000000000" pitchFamily="2" charset="0"/>
                <a:ea typeface="Roboto Medium" panose="02000000000000000000" pitchFamily="2" charset="0"/>
              </a:rPr>
              <a:t>Ch 7</a:t>
            </a:r>
          </a:p>
        </p:txBody>
      </p:sp>
      <p:sp>
        <p:nvSpPr>
          <p:cNvPr id="77" name="Rectangle 76"/>
          <p:cNvSpPr/>
          <p:nvPr/>
        </p:nvSpPr>
        <p:spPr>
          <a:xfrm>
            <a:off x="5614416" y="4718303"/>
            <a:ext cx="731520" cy="32918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78" name="Rectangle 77"/>
          <p:cNvSpPr/>
          <p:nvPr/>
        </p:nvSpPr>
        <p:spPr>
          <a:xfrm>
            <a:off x="5577840" y="4681727"/>
            <a:ext cx="731520" cy="329184"/>
          </a:xfrm>
          <a:prstGeom prst="rect">
            <a:avLst/>
          </a:prstGeom>
          <a:solidFill>
            <a:srgbClr val="1E0F2D"/>
          </a:solidFill>
          <a:ln w="25400">
            <a:solidFill>
              <a:srgbClr val="BF4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79" name="TextBox 78"/>
          <p:cNvSpPr txBox="1"/>
          <p:nvPr/>
        </p:nvSpPr>
        <p:spPr>
          <a:xfrm>
            <a:off x="5632704" y="4736591"/>
            <a:ext cx="621792" cy="200055"/>
          </a:xfrm>
          <a:prstGeom prst="rect">
            <a:avLst/>
          </a:prstGeom>
          <a:noFill/>
        </p:spPr>
        <p:txBody>
          <a:bodyPr wrap="square" lIns="0" tIns="0" rIns="0" bIns="0">
            <a:spAutoFit/>
          </a:bodyPr>
          <a:lstStyle/>
          <a:p>
            <a:pPr algn="ctr"/>
            <a:r>
              <a:rPr sz="1300" dirty="0">
                <a:solidFill>
                  <a:srgbClr val="F5F5F5"/>
                </a:solidFill>
                <a:latin typeface="Roboto Medium" panose="02000000000000000000" pitchFamily="2" charset="0"/>
                <a:ea typeface="Roboto Medium" panose="02000000000000000000" pitchFamily="2" charset="0"/>
              </a:rPr>
              <a:t>Ch 8</a:t>
            </a:r>
          </a:p>
        </p:txBody>
      </p:sp>
      <p:sp>
        <p:nvSpPr>
          <p:cNvPr id="80" name="Rectangle 79"/>
          <p:cNvSpPr/>
          <p:nvPr/>
        </p:nvSpPr>
        <p:spPr>
          <a:xfrm>
            <a:off x="6437376" y="4718303"/>
            <a:ext cx="731520" cy="32918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81" name="Rectangle 80"/>
          <p:cNvSpPr/>
          <p:nvPr/>
        </p:nvSpPr>
        <p:spPr>
          <a:xfrm>
            <a:off x="6400800" y="4681727"/>
            <a:ext cx="731520" cy="329184"/>
          </a:xfrm>
          <a:prstGeom prst="rect">
            <a:avLst/>
          </a:prstGeom>
          <a:solidFill>
            <a:srgbClr val="1E0F2D"/>
          </a:solidFill>
          <a:ln w="25400">
            <a:solidFill>
              <a:srgbClr val="BF4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82" name="TextBox 81"/>
          <p:cNvSpPr txBox="1"/>
          <p:nvPr/>
        </p:nvSpPr>
        <p:spPr>
          <a:xfrm>
            <a:off x="6455664" y="4736591"/>
            <a:ext cx="621792" cy="200055"/>
          </a:xfrm>
          <a:prstGeom prst="rect">
            <a:avLst/>
          </a:prstGeom>
          <a:noFill/>
        </p:spPr>
        <p:txBody>
          <a:bodyPr wrap="square" lIns="0" tIns="0" rIns="0" bIns="0">
            <a:spAutoFit/>
          </a:bodyPr>
          <a:lstStyle/>
          <a:p>
            <a:pPr algn="ctr"/>
            <a:r>
              <a:rPr sz="1300" dirty="0">
                <a:solidFill>
                  <a:srgbClr val="F5F5F5"/>
                </a:solidFill>
                <a:latin typeface="Roboto Medium" panose="02000000000000000000" pitchFamily="2" charset="0"/>
                <a:ea typeface="Roboto Medium" panose="02000000000000000000" pitchFamily="2" charset="0"/>
              </a:rPr>
              <a:t>Ch 9</a:t>
            </a:r>
          </a:p>
        </p:txBody>
      </p:sp>
      <p:sp>
        <p:nvSpPr>
          <p:cNvPr id="83" name="Rectangle 82"/>
          <p:cNvSpPr/>
          <p:nvPr/>
        </p:nvSpPr>
        <p:spPr>
          <a:xfrm>
            <a:off x="7260336" y="4718303"/>
            <a:ext cx="731520" cy="32918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84" name="Rectangle 83"/>
          <p:cNvSpPr/>
          <p:nvPr/>
        </p:nvSpPr>
        <p:spPr>
          <a:xfrm>
            <a:off x="7223760" y="4681727"/>
            <a:ext cx="731520" cy="329184"/>
          </a:xfrm>
          <a:prstGeom prst="rect">
            <a:avLst/>
          </a:prstGeom>
          <a:solidFill>
            <a:srgbClr val="1E0F2D"/>
          </a:solidFill>
          <a:ln w="25400">
            <a:solidFill>
              <a:srgbClr val="BF4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Roboto Medium" panose="02000000000000000000" pitchFamily="2" charset="0"/>
              <a:ea typeface="Roboto Medium" panose="02000000000000000000" pitchFamily="2" charset="0"/>
            </a:endParaRPr>
          </a:p>
        </p:txBody>
      </p:sp>
      <p:sp>
        <p:nvSpPr>
          <p:cNvPr id="85" name="TextBox 84"/>
          <p:cNvSpPr txBox="1"/>
          <p:nvPr/>
        </p:nvSpPr>
        <p:spPr>
          <a:xfrm>
            <a:off x="7278624" y="4736591"/>
            <a:ext cx="621792" cy="200055"/>
          </a:xfrm>
          <a:prstGeom prst="rect">
            <a:avLst/>
          </a:prstGeom>
          <a:noFill/>
        </p:spPr>
        <p:txBody>
          <a:bodyPr wrap="square" lIns="0" tIns="0" rIns="0" bIns="0">
            <a:spAutoFit/>
          </a:bodyPr>
          <a:lstStyle/>
          <a:p>
            <a:pPr algn="ctr"/>
            <a:r>
              <a:rPr sz="1300" dirty="0">
                <a:solidFill>
                  <a:srgbClr val="F5F5F5"/>
                </a:solidFill>
                <a:latin typeface="Roboto Medium" panose="02000000000000000000" pitchFamily="2" charset="0"/>
                <a:ea typeface="Roboto Medium" panose="02000000000000000000" pitchFamily="2" charset="0"/>
              </a:rPr>
              <a:t>Ch 10</a:t>
            </a:r>
          </a:p>
        </p:txBody>
      </p:sp>
      <p:pic>
        <p:nvPicPr>
          <p:cNvPr id="86" name="Picture 85">
            <a:extLst>
              <a:ext uri="{FF2B5EF4-FFF2-40B4-BE49-F238E27FC236}">
                <a16:creationId xmlns:a16="http://schemas.microsoft.com/office/drawing/2014/main" id="{03311FCC-8D22-D5B3-9573-37A7E4D2D3F1}"/>
              </a:ext>
            </a:extLst>
          </p:cNvPr>
          <p:cNvPicPr>
            <a:picLocks noChangeAspect="1"/>
          </p:cNvPicPr>
          <p:nvPr/>
        </p:nvPicPr>
        <p:blipFill>
          <a:blip r:embed="rId3"/>
          <a:srcRect/>
          <a:stretch/>
        </p:blipFill>
        <p:spPr>
          <a:xfrm>
            <a:off x="4725900" y="6473952"/>
            <a:ext cx="2526839" cy="365760"/>
          </a:xfrm>
          <a:prstGeom prst="rect">
            <a:avLst/>
          </a:prstGeom>
        </p:spPr>
      </p:pic>
      <p:pic>
        <p:nvPicPr>
          <p:cNvPr id="87" name="Picture 86">
            <a:extLst>
              <a:ext uri="{FF2B5EF4-FFF2-40B4-BE49-F238E27FC236}">
                <a16:creationId xmlns:a16="http://schemas.microsoft.com/office/drawing/2014/main" id="{AC0A224C-26F4-6E55-5C31-C2AA2C3E65B8}"/>
              </a:ext>
            </a:extLst>
          </p:cNvPr>
          <p:cNvPicPr>
            <a:picLocks noChangeAspect="1"/>
          </p:cNvPicPr>
          <p:nvPr/>
        </p:nvPicPr>
        <p:blipFill>
          <a:blip r:embed="rId4"/>
          <a:stretch>
            <a:fillRect/>
          </a:stretch>
        </p:blipFill>
        <p:spPr>
          <a:xfrm>
            <a:off x="9811911" y="274320"/>
            <a:ext cx="1992993" cy="130044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39</TotalTime>
  <Words>1013</Words>
  <Application>Microsoft Macintosh PowerPoint</Application>
  <PresentationFormat>Custom</PresentationFormat>
  <Paragraphs>156</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Roboto</vt:lpstr>
      <vt:lpstr>Roboto Medium</vt:lpstr>
      <vt:lpstr>Roboto Mono Medium</vt:lpstr>
      <vt:lpstr>Roboto SemiBold</vt:lpstr>
      <vt:lpstr>Roboto Slab</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John Newsom</cp:lastModifiedBy>
  <cp:revision>2</cp:revision>
  <dcterms:created xsi:type="dcterms:W3CDTF">2013-01-27T09:14:16Z</dcterms:created>
  <dcterms:modified xsi:type="dcterms:W3CDTF">2026-04-09T21:20:29Z</dcterms:modified>
  <cp:category/>
</cp:coreProperties>
</file>